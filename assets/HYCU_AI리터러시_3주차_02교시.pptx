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E1116"/>
                </a:solidFill>
              </a:defRPr>
            </a:pPr>
            <a:r>
              <a:t>생성형 AI의 이해와 업무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A6473"/>
                </a:solidFill>
              </a:defRPr>
            </a:pPr>
            <a:r>
              <a:t>AI를 빠르게 쓰는 법보다, 함께 일하는 기준을 배웁니다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91B8"/>
                </a:solidFill>
              </a:defRPr>
            </a:pPr>
            <a:r>
              <a:t>AI 리터러시 · AIG101 · Ch.03 생성형 AI와 협업 · 05-02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01 /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AI를 쓰기 전에 네 가지를 묻습니다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경험에서 출발해 활용과 검증의 기준을 세웁니다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400" i="1">
                <a:solidFill>
                  <a:srgbClr val="5A6473"/>
                </a:solidFill>
              </a:defRPr>
            </a:pPr>
            <a:r>
              <a:t>(슬라이드 상세 콘텐츠 — 아웃라인 생성 단계에서 포맷별로 채워짐)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02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이번 수업의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이해하고, 설계하고, 검증하고, 책임 있게 사용합니다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400" i="1">
                <a:solidFill>
                  <a:srgbClr val="5A6473"/>
                </a:solidFill>
              </a:defRPr>
            </a:pPr>
            <a:r>
              <a:t>(슬라이드 상세 콘텐츠 — 아웃라인 생성 단계에서 포맷별로 채워짐)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03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50분 동안 AI 협업의 전 과정을 익힙니다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원리 이해에서 실습과 판단까지 이어지는 학습 경로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400" i="1">
                <a:solidFill>
                  <a:srgbClr val="5A6473"/>
                </a:solidFill>
              </a:defRPr>
            </a:pPr>
            <a:r>
              <a:t>(슬라이드 상세 콘텐츠 — 아웃라인 생성 단계에서 포맷별로 채워짐)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04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생성형 AI는 다음 결과를 예측해 만듭니다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학습 데이터의 패턴과 사용자의 입력을 결합하는 시스템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400" i="1">
                <a:solidFill>
                  <a:srgbClr val="5A6473"/>
                </a:solidFill>
              </a:defRPr>
            </a:pPr>
            <a:r>
              <a:t>(슬라이드 상세 콘텐츠 — 아웃라인 생성 단계에서 포맷별로 채워짐)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05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AI는 규칙에서 생성으로 발전해 왔습니다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규칙 기반 시스템부터 생성형 AI까지의 역할 변화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400" i="1">
                <a:solidFill>
                  <a:srgbClr val="5A6473"/>
                </a:solidFill>
              </a:defRPr>
            </a:pPr>
            <a:r>
              <a:t>(슬라이드 상세 콘텐츠 — 아웃라인 생성 단계에서 포맷별로 채워짐)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06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좋은 프롬프트에는 다섯 가지가 들어갑니다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목표·맥락·자료·제약·출력 형식을 한 번에 설계합니다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400" i="1">
                <a:solidFill>
                  <a:srgbClr val="5A6473"/>
                </a:solidFill>
              </a:defRPr>
            </a:pPr>
            <a:r>
              <a:t>(슬라이드 상세 콘텐츠 — 아웃라인 생성 단계에서 포맷별로 채워짐)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07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AI의 속도에는 사람의 검증이 필요합니다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생성은 맡기고 판단과 책임은 사람이 유지합니다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400" i="1">
                <a:solidFill>
                  <a:srgbClr val="5A6473"/>
                </a:solidFill>
              </a:defRPr>
            </a:pPr>
            <a:r>
              <a:t>(슬라이드 상세 콘텐츠 — 아웃라인 생성 단계에서 포맷별로 채워짐)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08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프롬프트는 네 가지 원칙으로 선명해집니다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구체성·맥락·제약·반복 개선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700">
                <a:solidFill>
                  <a:srgbClr val="0E1116"/>
                </a:solidFill>
              </a:defRPr>
            </a:pPr>
            <a:r>
              <a:t>프롬프트 설계 · 한 번의 완벽한 질문보다 확인 가능한 반복을 설계합니다.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09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업무 특성에 따라 AI의 역할이 달라집니다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정형성·창의성·위험도를 기준으로 활용 범위를 정합니다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700">
                <a:solidFill>
                  <a:srgbClr val="0E1116"/>
                </a:solidFill>
              </a:defRPr>
            </a:pPr>
            <a:r>
              <a:t>업무 진단 · 오른쪽으로 갈수록 사람의 개입과 승인 수준을 높입니다.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AI에 맡길 일과 사람이 맡을 일을 구분합니다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속도보다 검토 가능성과 책임 소재를 먼저 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700">
                <a:solidFill>
                  <a:srgbClr val="0E1116"/>
                </a:solidFill>
              </a:defRPr>
            </a:pPr>
            <a:r>
              <a:t>역할 구분 · 영향이 큰 결정일수록 사람이 근거와 결과를 직접 승인합니다.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좋은 결과는 입력과 검증의 합입니다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목표·맥락·제약·검토가 결과 품질을 결정합니다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700">
                <a:solidFill>
                  <a:srgbClr val="0E1116"/>
                </a:solidFill>
              </a:defRPr>
            </a:pPr>
            <a:r>
              <a:t>결과 품질 · 프롬프트와 검증은 서로 대체할 수 없는 두 축입니다.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짧은 반복 루프가 결과를 선명하게 만듭니다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초안 생성·피드백·수정의 짧은 루프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700">
                <a:solidFill>
                  <a:srgbClr val="0E1116"/>
                </a:solidFill>
              </a:defRPr>
            </a:pPr>
            <a:r>
              <a:t>개념 곡선 · 실제 개선 폭은 과제와 모델, 입력 자료에 따라 달라집니다.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AI 활용은 탐색·생성·자동화로 확장됩니다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각 단계에서 사람의 검토 지점을 명확히 둡니다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700">
                <a:solidFill>
                  <a:srgbClr val="0E1116"/>
                </a:solidFill>
              </a:defRPr>
            </a:pPr>
            <a:r>
              <a:t>활용 확장 · 자동화 수준이 높아질수록 권한·기록·중단 조건을 명확히 둡니다.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AI와 사람은 서로 다른 강점을 가집니다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반복과 초안은 AI, 판단과 책임은 사람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700">
                <a:solidFill>
                  <a:srgbClr val="0E1116"/>
                </a:solidFill>
              </a:defRPr>
            </a:pPr>
            <a:r>
              <a:t>역할 분담 · AI의 출력은 판단 재료이며 최종 결정 그 자체가 아닙니다.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활동: 하나의 업무를 AI 협업으로 바꿉니다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목표 정의부터 최종 검토까지 직접 설계합니다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400" i="1">
                <a:solidFill>
                  <a:srgbClr val="5A6473"/>
                </a:solidFill>
              </a:defRPr>
            </a:pPr>
            <a:r>
              <a:t>(슬라이드 상세 콘텐츠 — 아웃라인 생성 단계에서 포맷별로 채워짐)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활동: 모호한 프롬프트를 다시 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요청을 목표·맥락·제약·형식으로 구조화합니다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700">
                <a:solidFill>
                  <a:srgbClr val="0E1116"/>
                </a:solidFill>
              </a:defRPr>
            </a:pPr>
            <a:r>
              <a:t>프롬프트 리팩터링 · 좋은 요청은 결과를 평가할 기준까지 포함합니다.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토론: AI 활용 위험을 단계별로 줄입니다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입력 전·생성 중·출력 후의 안전장치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700">
                <a:solidFill>
                  <a:srgbClr val="0E1116"/>
                </a:solidFill>
              </a:defRPr>
            </a:pPr>
            <a:r>
              <a:t>위험 관리 · 안전은 마지막 검수가 아니라 전체 흐름에 배치합니다.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형성평가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AI에 입력하면 안 되는 정보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400" i="1">
                <a:solidFill>
                  <a:srgbClr val="5A6473"/>
                </a:solidFill>
              </a:defRPr>
            </a:pPr>
            <a:r>
              <a:t>(슬라이드 상세 콘텐츠 — 아웃라인 생성 단계에서 포맷별로 채워짐)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형성평가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좋은 프롬프트의 조건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700">
                <a:solidFill>
                  <a:srgbClr val="0E1116"/>
                </a:solidFill>
              </a:defRPr>
            </a:pPr>
            <a:r>
              <a:t>형성평가 2 · 목표·대상·개수·길이·근거 기준이 포함된 요청을 찾습니다.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형성평가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그럴듯한 오류를 발견했을 때의 대응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700">
                <a:solidFill>
                  <a:srgbClr val="0E1116"/>
                </a:solidFill>
              </a:defRPr>
            </a:pPr>
            <a:r>
              <a:t>형성평가 3 · 모델 간 일치가 아니라 신뢰 가능한 원문과 근거로 검증합니다.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생성형 AI 활용의 핵심은 세 가지입니다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구조화된 요청·근거 검증·사람의 책임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400" i="1">
                <a:solidFill>
                  <a:srgbClr val="5A6473"/>
                </a:solidFill>
              </a:defRPr>
            </a:pPr>
            <a:r>
              <a:t>(슬라이드 상세 콘텐츠 — 아웃라인 생성 단계에서 포맷별로 채워짐)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AI에 대한 세 가지 오해를 바로잡습니다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정답·중립성·자동화에 대한 현실적인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700">
                <a:solidFill>
                  <a:srgbClr val="0E1116"/>
                </a:solidFill>
              </a:defRPr>
            </a:pPr>
            <a:r>
              <a:t>오개념 점검 · AI의 능력과 책임 범위를 함께 이해합니다.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더 깊이 학습할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원리·위험관리·교육 활용을 잇는 읽을거리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700">
                <a:solidFill>
                  <a:srgbClr val="0E1116"/>
                </a:solidFill>
              </a:defRPr>
            </a:pPr>
            <a:r>
              <a:t>심화 학습 · 원리와 활용, 위험 관리를 균형 있게 확장합니다.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참고 문헌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생성형 AI의 원리와 책임 있는 활용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700">
                <a:solidFill>
                  <a:srgbClr val="0E1116"/>
                </a:solidFill>
              </a:defRPr>
            </a:pPr>
            <a:r>
              <a:t>References · 원리와 책임 있는 활용을 위한 핵심 자료입니다.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다음 시간에는 AI 에이전트를 다룹니다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도구를 연결해 여러 단계를 수행하는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700">
                <a:solidFill>
                  <a:srgbClr val="0E1116"/>
                </a:solidFill>
              </a:defRPr>
            </a:pPr>
            <a:r>
              <a:t>다음 교시 · 생성형 AI의 결과에서 에이전트의 행동으로 범위를 넓힙니다.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과제: 나만의 AI 협업 가이드를 만듭니다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하나의 실제 업무를 기준으로 작성합니다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700">
                <a:solidFill>
                  <a:srgbClr val="0E1116"/>
                </a:solidFill>
              </a:defRPr>
            </a:pPr>
            <a:r>
              <a:t>과제 안내 · 결과물보다 협업 과정과 검증 근거를 평가합니다.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116"/>
                </a:solidFill>
              </a:defRPr>
            </a:pPr>
            <a:r>
              <a:t>AI는 사고를 확장하는 파트너입니다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생성은 AI와 함께, 판단과 책임은 사람이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98755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9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>
              <a:defRPr sz="1400" i="1">
                <a:solidFill>
                  <a:srgbClr val="5A6473"/>
                </a:solidFill>
              </a:defRPr>
            </a:pPr>
            <a:r>
              <a:t>(슬라이드 상세 콘텐츠 — 아웃라인 생성 단계에서 포맷별로 채워짐)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473"/>
                </a:solidFill>
              </a:defRPr>
            </a:pPr>
            <a: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