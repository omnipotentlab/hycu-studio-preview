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229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91B8"/>
                </a:solidFill>
                <a:latin typeface="Inter"/>
              </a:rPr>
              <a:t>AI 리터러시 · AIG101 · 3주차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0700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A6473"/>
                </a:solidFill>
                <a:latin typeface="Pretendard"/>
              </a:rPr>
              <a:t>Ch.03 생성형 AI와 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600" b="1" i="0">
                <a:solidFill>
                  <a:srgbClr val="0E1116"/>
                </a:solidFill>
                <a:latin typeface="Pretendard"/>
              </a:rPr>
              <a:t>생성형 AI의 이해와</a:t>
            </a:r>
          </a:p>
          <a:p>
            <a:pPr>
              <a:lnSpc>
                <a:spcPct val="108000"/>
              </a:lnSpc>
            </a:pPr>
            <a:r>
              <a:rPr sz="4600" b="1" i="0">
                <a:solidFill>
                  <a:srgbClr val="0E1116"/>
                </a:solidFill>
                <a:latin typeface="Pretendard"/>
              </a:rPr>
              <a:t>업무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A6473"/>
                </a:solidFill>
                <a:latin typeface="Pretendard"/>
              </a:rPr>
              <a:t>AI를 빠르게 쓰는 법보다, 함께 일하는 기준을 배웁니다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709160"/>
            <a:ext cx="1463040" cy="381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홍길동 교수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23036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7A8390"/>
                </a:solidFill>
                <a:latin typeface="Pretendard"/>
              </a:rPr>
              <a:t>한양사이버대학교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217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6ADB6"/>
                </a:solidFill>
                <a:latin typeface="Inter"/>
              </a:rPr>
              <a:t>50분 · 총 28매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950976" cy="274320"/>
          </a:xfrm>
          <a:prstGeom prst="rect">
            <a:avLst/>
          </a:prstGeom>
          <a:noFill/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315CFF"/>
                </a:solidFill>
                <a:latin typeface="Inter"/>
              </a:rPr>
              <a:t>A  · 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AI를 쓰기 전에 네 가지를 묻습니다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경험에서 출발해 활용과 검증의 기준을 세웁니다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02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749808" cy="274320"/>
          </a:xfrm>
          <a:prstGeom prst="rect">
            <a:avLst/>
          </a:prstGeom>
          <a:noFill/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315CFF"/>
                </a:solidFill>
                <a:latin typeface="Inter"/>
              </a:rPr>
              <a:t>D  · 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이번 수업의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이해하고, 설계하고, 검증하고, 책임 있게 사용합니다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03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52344"/>
            <a:ext cx="457200" cy="457200"/>
          </a:xfrm>
          <a:prstGeom prst="rect">
            <a:avLst/>
          </a:prstGeom>
          <a:solidFill>
            <a:srgbClr val="E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7523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D3FBF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2734056"/>
            <a:ext cx="463600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E2530"/>
                </a:solidFill>
                <a:latin typeface="Pretendard"/>
              </a:rPr>
              <a:t>생성형 AI가 입력을 바탕으로 결과를 만드는 원리를 설명할 수 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752344"/>
            <a:ext cx="457200" cy="457200"/>
          </a:xfrm>
          <a:prstGeom prst="rect">
            <a:avLst/>
          </a:prstGeom>
          <a:solidFill>
            <a:srgbClr val="E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7523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D3FBF"/>
                </a:solidFill>
                <a:latin typeface="Inte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2734056"/>
            <a:ext cx="463600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E2530"/>
                </a:solidFill>
                <a:latin typeface="Pretendard"/>
              </a:rPr>
              <a:t>목표·맥락·자료·제약·형식을 포함한 프롬프트를 설계할 수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803904"/>
            <a:ext cx="457200" cy="457200"/>
          </a:xfrm>
          <a:prstGeom prst="rect">
            <a:avLst/>
          </a:prstGeom>
          <a:solidFill>
            <a:srgbClr val="E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8039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D3FBF"/>
                </a:solidFill>
                <a:latin typeface="Inter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3785616"/>
            <a:ext cx="463600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E2530"/>
                </a:solidFill>
                <a:latin typeface="Pretendard"/>
              </a:rPr>
              <a:t>AI 결과의 오류와 한계를 근거 중심으로 검증할 수 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803904"/>
            <a:ext cx="457200" cy="457200"/>
          </a:xfrm>
          <a:prstGeom prst="rect">
            <a:avLst/>
          </a:prstGeom>
          <a:solidFill>
            <a:srgbClr val="E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8039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D3FBF"/>
                </a:solidFill>
                <a:latin typeface="Inter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3785616"/>
            <a:ext cx="463600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E2530"/>
                </a:solidFill>
                <a:latin typeface="Pretendard"/>
              </a:rPr>
              <a:t>개인정보와 저작권을 고려해 사람과 AI의 역할을 나눌 수 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9926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7A8390"/>
                </a:solidFill>
                <a:latin typeface="Inter"/>
              </a:rPr>
              <a:t>핵심 키워드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312664"/>
            <a:ext cx="832104" cy="310896"/>
          </a:xfrm>
          <a:prstGeom prst="rect">
            <a:avLst/>
          </a:prstGeom>
          <a:solidFill>
            <a:srgbClr val="F5F7FA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12664"/>
            <a:ext cx="8321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생성형 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72184" y="5312664"/>
            <a:ext cx="630936" cy="310896"/>
          </a:xfrm>
          <a:prstGeom prst="rect">
            <a:avLst/>
          </a:prstGeom>
          <a:solidFill>
            <a:srgbClr val="F5F7FA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72184" y="5312664"/>
            <a:ext cx="6309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프롬프트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40280" y="5312664"/>
            <a:ext cx="429768" cy="310896"/>
          </a:xfrm>
          <a:prstGeom prst="rect">
            <a:avLst/>
          </a:prstGeom>
          <a:solidFill>
            <a:srgbClr val="F5F7FA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40280" y="5312664"/>
            <a:ext cx="42976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검증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07208" y="5312664"/>
            <a:ext cx="429768" cy="310896"/>
          </a:xfrm>
          <a:prstGeom prst="rect">
            <a:avLst/>
          </a:prstGeom>
          <a:solidFill>
            <a:srgbClr val="F5F7FA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07208" y="5312664"/>
            <a:ext cx="42976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환각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74136" y="5312664"/>
            <a:ext cx="1033271" cy="310896"/>
          </a:xfrm>
          <a:prstGeom prst="rect">
            <a:avLst/>
          </a:prstGeom>
          <a:solidFill>
            <a:srgbClr val="F5F7FA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74136" y="5312664"/>
            <a:ext cx="103327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책임 있는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749808" cy="274320"/>
          </a:xfrm>
          <a:prstGeom prst="rect">
            <a:avLst/>
          </a:prstGeom>
          <a:noFill/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315CFF"/>
                </a:solidFill>
                <a:latin typeface="Inter"/>
              </a:rPr>
              <a:t>D  · 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50분 동안 AI 협업의 전 과정을 익힙니다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원리 이해에서 실습과 판단까지 이어지는 학습 경로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04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46704"/>
            <a:ext cx="11155680" cy="2540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90472" y="3255264"/>
            <a:ext cx="256032" cy="256032"/>
          </a:xfrm>
          <a:prstGeom prst="ellipse">
            <a:avLst/>
          </a:prstGeom>
          <a:solidFill>
            <a:srgbClr val="315CF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666744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Inter"/>
              </a:rPr>
              <a:t>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968496"/>
            <a:ext cx="2231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473"/>
                </a:solidFill>
                <a:latin typeface="Pretendard"/>
              </a:rPr>
              <a:t>경험 진단</a:t>
            </a:r>
          </a:p>
        </p:txBody>
      </p:sp>
      <p:sp>
        <p:nvSpPr>
          <p:cNvPr id="14" name="Oval 13"/>
          <p:cNvSpPr/>
          <p:nvPr/>
        </p:nvSpPr>
        <p:spPr>
          <a:xfrm>
            <a:off x="3721608" y="3255264"/>
            <a:ext cx="256032" cy="256032"/>
          </a:xfrm>
          <a:prstGeom prst="ellipse">
            <a:avLst/>
          </a:prstGeom>
          <a:solidFill>
            <a:srgbClr val="315CF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4056" y="3666744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Inter"/>
              </a:rPr>
              <a:t>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3968496"/>
            <a:ext cx="2231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473"/>
                </a:solidFill>
                <a:latin typeface="Pretendard"/>
              </a:rPr>
              <a:t>목표 설계</a:t>
            </a:r>
          </a:p>
        </p:txBody>
      </p:sp>
      <p:sp>
        <p:nvSpPr>
          <p:cNvPr id="17" name="Oval 16"/>
          <p:cNvSpPr/>
          <p:nvPr/>
        </p:nvSpPr>
        <p:spPr>
          <a:xfrm>
            <a:off x="5952744" y="3255264"/>
            <a:ext cx="256032" cy="256032"/>
          </a:xfrm>
          <a:prstGeom prst="ellipse">
            <a:avLst/>
          </a:prstGeom>
          <a:solidFill>
            <a:srgbClr val="0091B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5192" y="3666744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Inter"/>
              </a:rPr>
              <a:t>Develop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5192" y="3968496"/>
            <a:ext cx="2231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473"/>
                </a:solidFill>
                <a:latin typeface="Pretendard"/>
              </a:rPr>
              <a:t>원리·기법 학습</a:t>
            </a:r>
          </a:p>
        </p:txBody>
      </p:sp>
      <p:sp>
        <p:nvSpPr>
          <p:cNvPr id="20" name="Oval 19"/>
          <p:cNvSpPr/>
          <p:nvPr/>
        </p:nvSpPr>
        <p:spPr>
          <a:xfrm>
            <a:off x="8183880" y="3255264"/>
            <a:ext cx="256032" cy="256032"/>
          </a:xfrm>
          <a:prstGeom prst="ellipse">
            <a:avLst/>
          </a:prstGeom>
          <a:solidFill>
            <a:srgbClr val="0091B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3666744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Inter"/>
              </a:rPr>
              <a:t>Implement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3968496"/>
            <a:ext cx="2231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473"/>
                </a:solidFill>
                <a:latin typeface="Pretendard"/>
              </a:rPr>
              <a:t>직접 실습</a:t>
            </a:r>
          </a:p>
        </p:txBody>
      </p:sp>
      <p:sp>
        <p:nvSpPr>
          <p:cNvPr id="23" name="Oval 22"/>
          <p:cNvSpPr/>
          <p:nvPr/>
        </p:nvSpPr>
        <p:spPr>
          <a:xfrm>
            <a:off x="10415016" y="3255264"/>
            <a:ext cx="256032" cy="256032"/>
          </a:xfrm>
          <a:prstGeom prst="ellipse">
            <a:avLst/>
          </a:prstGeom>
          <a:solidFill>
            <a:srgbClr val="22A06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27464" y="3666744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Inter"/>
              </a:rPr>
              <a:t>Evaluate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7464" y="3968496"/>
            <a:ext cx="22311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473"/>
                </a:solidFill>
                <a:latin typeface="Pretendard"/>
              </a:rPr>
              <a:t>형성평가·정리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생성형 AI는 다음 결과를 예측해 만듭니다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학습 데이터의 패턴과 사용자의 입력을 결합하는 시스템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05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706624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 i="0">
                <a:solidFill>
                  <a:srgbClr val="3F4753"/>
                </a:solidFill>
                <a:latin typeface="Pretendard"/>
              </a:rPr>
              <a:t>생성형 AI는 방대한 데이터에서 "다음에 올 확률이 가장 높은 결과"를 예측하도록 학습된 모델이다. 사용자의 입력(프롬프트)은 이 예측이 시작되는 맥락을 제공한다 — 정답을 찾는 것이 아니라, 학습한 패턴을 바탕으로 그럴듯한 결과를 새로 생성하는 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306824"/>
            <a:ext cx="11155680" cy="822960"/>
          </a:xfrm>
          <a:prstGeom prst="rect">
            <a:avLst/>
          </a:prstGeom>
          <a:solidFill>
            <a:srgbClr val="F5F7FA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443984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생성형 AI = 학습된 패턴 + 사용자 입력 → 새로운 결과 생성. "검색"이 아니라 "생성"이라는 점이 핵심.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  <a:ln w="12700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897880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15CFF"/>
                </a:solidFill>
                <a:latin typeface="Inter"/>
              </a:rPr>
              <a:t>체크포인트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5897880"/>
            <a:ext cx="9326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E2530"/>
                </a:solidFill>
                <a:latin typeface="Pretendard"/>
              </a:rPr>
              <a:t>AI가 만든 답이 항상 정답이 아닐 수 있는 이유를, 지금 이해한 원리로 설명해보세요.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AI는 규칙에서 생성으로 발전해 왔습니다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규칙 기반 시스템부터 생성형 AI까지의 역할 변화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06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255264"/>
            <a:ext cx="2548890" cy="1920240"/>
          </a:xfrm>
          <a:prstGeom prst="rect">
            <a:avLst/>
          </a:prstGeom>
          <a:solidFill>
            <a:srgbClr val="A6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19856"/>
            <a:ext cx="21831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12664"/>
            <a:ext cx="254889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규칙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660136"/>
            <a:ext cx="25488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A6473"/>
                </a:solidFill>
                <a:latin typeface="Pretendard"/>
              </a:rPr>
              <a:t>정해진 규칙으로 판단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71850" y="2935224"/>
            <a:ext cx="2548890" cy="224028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4730" y="3099816"/>
            <a:ext cx="21831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850" y="5312664"/>
            <a:ext cx="254889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통계·머신러닝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1850" y="5660136"/>
            <a:ext cx="25488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A6473"/>
                </a:solidFill>
                <a:latin typeface="Pretendard"/>
              </a:rPr>
              <a:t>데이터에서 패턴 학습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0780" y="2615184"/>
            <a:ext cx="2548890" cy="256032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779776"/>
            <a:ext cx="21831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0780" y="5312664"/>
            <a:ext cx="254889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딥러닝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5660136"/>
            <a:ext cx="25488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A6473"/>
                </a:solidFill>
                <a:latin typeface="Pretendard"/>
              </a:rPr>
              <a:t>복잡한 특징을 스스로 추출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09710" y="2295144"/>
            <a:ext cx="2548890" cy="288036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2590" y="2459736"/>
            <a:ext cx="21831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9710" y="5312664"/>
            <a:ext cx="254889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생성형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9710" y="5660136"/>
            <a:ext cx="25488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5A6473"/>
                </a:solidFill>
                <a:latin typeface="Pretendard"/>
              </a:rPr>
              <a:t>학습한 패턴으로 새 결과 생성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09710" y="2295144"/>
            <a:ext cx="2548890" cy="2880360"/>
          </a:xfrm>
          <a:prstGeom prst="rect">
            <a:avLst/>
          </a:prstGeom>
          <a:noFill/>
          <a:ln w="25400">
            <a:solidFill>
              <a:srgbClr val="00B5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좋은 프롬프트에는 다섯 가지가 들어갑니다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목표·맥락·자료·제약·출력 형식을 한 번에 설계합니다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07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889504"/>
            <a:ext cx="20482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889504"/>
            <a:ext cx="2048256" cy="82296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89504"/>
            <a:ext cx="20482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9624"/>
            <a:ext cx="177393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무엇을 원하는가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9776" y="2889504"/>
            <a:ext cx="20482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9776" y="2889504"/>
            <a:ext cx="2048256" cy="82296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79776" y="2889504"/>
            <a:ext cx="20482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맥락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6936" y="3849624"/>
            <a:ext cx="177393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어떤 상황·배경인가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56632" y="2889504"/>
            <a:ext cx="20482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56632" y="2889504"/>
            <a:ext cx="2048256" cy="82296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6632" y="2889504"/>
            <a:ext cx="20482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849624"/>
            <a:ext cx="177393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참고할 근거는 무엇인가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33488" y="2889504"/>
            <a:ext cx="20482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33488" y="2889504"/>
            <a:ext cx="2048256" cy="82296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3488" y="2889504"/>
            <a:ext cx="20482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제약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3849624"/>
            <a:ext cx="177393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지켜야 할 조건은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10344" y="2889504"/>
            <a:ext cx="20482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10344" y="2889504"/>
            <a:ext cx="2048256" cy="822960"/>
          </a:xfrm>
          <a:prstGeom prst="rect">
            <a:avLst/>
          </a:prstGeom>
          <a:solidFill>
            <a:srgbClr val="1D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0344" y="2889504"/>
            <a:ext cx="204825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출력 형식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4" y="3849624"/>
            <a:ext cx="177393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어떤 형태로 받을 것인가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404104"/>
            <a:ext cx="11155680" cy="594360"/>
          </a:xfrm>
          <a:prstGeom prst="rect">
            <a:avLst/>
          </a:prstGeom>
          <a:solidFill>
            <a:srgbClr val="F5F7FA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404104"/>
            <a:ext cx="106070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E2530"/>
                </a:solidFill>
                <a:latin typeface="Pretendard"/>
              </a:rPr>
              <a:t>다섯 요소를 갖춘 프롬프트는 AI가 추측해야 할 부분을 줄여 원하는 결과에 더 가깝게 만든다.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AI의 속도에는 사람의 검증이 필요합니다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생성은 맡기고 판단과 책임은 사람이 유지합니다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08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52344"/>
            <a:ext cx="53949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752344"/>
            <a:ext cx="5394960" cy="50292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52344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AI가 잘하는 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575304"/>
            <a:ext cx="82296" cy="82296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83864"/>
            <a:ext cx="4617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2530"/>
                </a:solidFill>
                <a:latin typeface="Pretendard"/>
              </a:rPr>
              <a:t>빠른 초안과 대안 생성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88536"/>
            <a:ext cx="82296" cy="82296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197096"/>
            <a:ext cx="4617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2530"/>
                </a:solidFill>
                <a:latin typeface="Pretendard"/>
              </a:rPr>
              <a:t>반복 작업 자동화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001768"/>
            <a:ext cx="82296" cy="82296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910328"/>
            <a:ext cx="4617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2530"/>
                </a:solidFill>
                <a:latin typeface="Pretendard"/>
              </a:rPr>
              <a:t>많은 자료의 요약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752344"/>
            <a:ext cx="53949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752344"/>
            <a:ext cx="5394960" cy="50292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752344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Pretendard"/>
              </a:rPr>
              <a:t>사람이 지켜야 할 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575304"/>
            <a:ext cx="82296" cy="82296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483864"/>
            <a:ext cx="4617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2530"/>
                </a:solidFill>
                <a:latin typeface="Pretendard"/>
              </a:rPr>
              <a:t>사실 확인과 근거 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4288536"/>
            <a:ext cx="82296" cy="82296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197096"/>
            <a:ext cx="4617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2530"/>
                </a:solidFill>
                <a:latin typeface="Pretendard"/>
              </a:rPr>
              <a:t>최종 판단과 승인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5001768"/>
            <a:ext cx="82296" cy="82296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4910328"/>
            <a:ext cx="4617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2530"/>
                </a:solidFill>
                <a:latin typeface="Pretendard"/>
              </a:rPr>
              <a:t>개인정보·저작권 책임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프롬프트는 네 가지 원칙으로 선명해집니다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구체성·맥락·제약·반복 개선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09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52344"/>
            <a:ext cx="457200" cy="457200"/>
          </a:xfrm>
          <a:prstGeom prst="rect">
            <a:avLst/>
          </a:prstGeom>
          <a:noFill/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7523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15CFF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34056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E2530"/>
                </a:solidFill>
                <a:latin typeface="Pretendard"/>
              </a:rPr>
              <a:t>요청을 구체적으로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734056"/>
            <a:ext cx="6537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473"/>
                </a:solidFill>
                <a:latin typeface="Pretendard"/>
              </a:rPr>
              <a:t>대상과 원하는 결과를 분명히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55848"/>
            <a:ext cx="11155680" cy="9525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410712"/>
            <a:ext cx="457200" cy="457200"/>
          </a:xfrm>
          <a:prstGeom prst="rect">
            <a:avLst/>
          </a:prstGeom>
          <a:noFill/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4107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15CFF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92424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E2530"/>
                </a:solidFill>
                <a:latin typeface="Pretendard"/>
              </a:rPr>
              <a:t>맥락과 자료를 충분히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392424"/>
            <a:ext cx="6537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473"/>
                </a:solidFill>
                <a:latin typeface="Pretendard"/>
              </a:rPr>
              <a:t>모델이 추측할 빈칸을 줄입니다.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14216"/>
            <a:ext cx="11155680" cy="9525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069080"/>
            <a:ext cx="457200" cy="457200"/>
          </a:xfrm>
          <a:prstGeom prst="rect">
            <a:avLst/>
          </a:prstGeom>
          <a:noFill/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0690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15CFF"/>
                </a:solidFill>
                <a:latin typeface="Inte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050792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E2530"/>
                </a:solidFill>
                <a:latin typeface="Pretendard"/>
              </a:rPr>
              <a:t>제약과 형식을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50792"/>
            <a:ext cx="6537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473"/>
                </a:solidFill>
                <a:latin typeface="Pretendard"/>
              </a:rPr>
              <a:t>길이·범위·표현 방식을 지정합니다.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72584"/>
            <a:ext cx="11155680" cy="9525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727448"/>
            <a:ext cx="457200" cy="457200"/>
          </a:xfrm>
          <a:prstGeom prst="rect">
            <a:avLst/>
          </a:prstGeom>
          <a:noFill/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727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15CFF"/>
                </a:solidFill>
                <a:latin typeface="Inter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70916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E2530"/>
                </a:solidFill>
                <a:latin typeface="Pretendard"/>
              </a:rPr>
              <a:t>한 번에 끝내지 않기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709160"/>
            <a:ext cx="6537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473"/>
                </a:solidFill>
                <a:latin typeface="Pretendard"/>
              </a:rPr>
              <a:t>피드백과 검증으로 결과를 개선합니다.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업무 특성에 따라 AI의 역할이 달라집니다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정형성·창의성·위험도를 기준으로 활용 범위를 정합니다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10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706624"/>
            <a:ext cx="17373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반복적인</a:t>
            </a:r>
          </a:p>
        </p:txBody>
      </p:sp>
      <p:sp>
        <p:nvSpPr>
          <p:cNvPr id="11" name="Oval 10"/>
          <p:cNvSpPr/>
          <p:nvPr/>
        </p:nvSpPr>
        <p:spPr>
          <a:xfrm>
            <a:off x="2423160" y="2798064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9272" y="2798064"/>
            <a:ext cx="219456" cy="219456"/>
          </a:xfrm>
          <a:prstGeom prst="ellipse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15384" y="2798064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11496" y="2798064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007608" y="2798064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03720" y="2798064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2" y="2798064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2706624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새로운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182112"/>
            <a:ext cx="17373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정형적인</a:t>
            </a:r>
          </a:p>
        </p:txBody>
      </p:sp>
      <p:sp>
        <p:nvSpPr>
          <p:cNvPr id="20" name="Oval 19"/>
          <p:cNvSpPr/>
          <p:nvPr/>
        </p:nvSpPr>
        <p:spPr>
          <a:xfrm>
            <a:off x="2423160" y="3273552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19272" y="3273552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215384" y="3273552"/>
            <a:ext cx="219456" cy="219456"/>
          </a:xfrm>
          <a:prstGeom prst="ellipse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111496" y="3273552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07608" y="3273552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03720" y="3273552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99832" y="3273552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3182112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비정형적인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657600"/>
            <a:ext cx="17373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저위험</a:t>
            </a:r>
          </a:p>
        </p:txBody>
      </p:sp>
      <p:sp>
        <p:nvSpPr>
          <p:cNvPr id="29" name="Oval 28"/>
          <p:cNvSpPr/>
          <p:nvPr/>
        </p:nvSpPr>
        <p:spPr>
          <a:xfrm>
            <a:off x="2423160" y="3749040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19272" y="3749040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215384" y="3749040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111496" y="3749040"/>
            <a:ext cx="219456" cy="219456"/>
          </a:xfrm>
          <a:prstGeom prst="ellipse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007608" y="3749040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903720" y="3749040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99832" y="3749040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365760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고위험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133088"/>
            <a:ext cx="17373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근거 명확</a:t>
            </a:r>
          </a:p>
        </p:txBody>
      </p:sp>
      <p:sp>
        <p:nvSpPr>
          <p:cNvPr id="38" name="Oval 37"/>
          <p:cNvSpPr/>
          <p:nvPr/>
        </p:nvSpPr>
        <p:spPr>
          <a:xfrm>
            <a:off x="2423160" y="4224528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319272" y="4224528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215384" y="4224528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111496" y="4224528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07608" y="4224528"/>
            <a:ext cx="219456" cy="219456"/>
          </a:xfrm>
          <a:prstGeom prst="ellipse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03720" y="4224528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99832" y="4224528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5400" y="4133088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판단 의존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608576"/>
            <a:ext cx="17373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개인 초안</a:t>
            </a:r>
          </a:p>
        </p:txBody>
      </p:sp>
      <p:sp>
        <p:nvSpPr>
          <p:cNvPr id="47" name="Oval 46"/>
          <p:cNvSpPr/>
          <p:nvPr/>
        </p:nvSpPr>
        <p:spPr>
          <a:xfrm>
            <a:off x="2423160" y="4700016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319272" y="4700016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215384" y="4700016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111496" y="4700016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007608" y="4700016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903720" y="4700016"/>
            <a:ext cx="219456" cy="219456"/>
          </a:xfrm>
          <a:prstGeom prst="ellipse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799832" y="4700016"/>
            <a:ext cx="219456" cy="219456"/>
          </a:xfrm>
          <a:prstGeom prst="ellipse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5400" y="4608576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공식 결정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23160" y="5221224"/>
            <a:ext cx="2090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7A8390"/>
                </a:solidFill>
                <a:latin typeface="Pretendard"/>
              </a:rPr>
              <a:t>AI 주도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14088" y="5221224"/>
            <a:ext cx="2090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7A8390"/>
                </a:solidFill>
                <a:latin typeface="Pretendard"/>
              </a:rPr>
              <a:t>사람과 협업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05016" y="5221224"/>
            <a:ext cx="2090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7A8390"/>
                </a:solidFill>
                <a:latin typeface="Pretendard"/>
              </a:rPr>
              <a:t>사람 주도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AI에 맡길 일과 사람이 맡을 일을 구분합니다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속도보다 검토 가능성과 책임 소재를 먼저 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11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694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A8390"/>
                </a:solidFill>
                <a:latin typeface="Pretendard"/>
              </a:rPr>
              <a:t>역할 적합도 · 4단계 예시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6" y="25694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7A8390"/>
                </a:solidFill>
                <a:latin typeface="Pretendard"/>
              </a:rPr>
              <a:t>높음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89504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반복 작업 정리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2971800"/>
            <a:ext cx="7315200" cy="2468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2971800"/>
            <a:ext cx="7315200" cy="246888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69880" y="2889504"/>
            <a:ext cx="548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Inter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456432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초안과 대안 생성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3538728"/>
            <a:ext cx="7315200" cy="2468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17520" y="3538728"/>
            <a:ext cx="7315200" cy="246888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69880" y="3456432"/>
            <a:ext cx="548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Inter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023360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분석 보조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4105656"/>
            <a:ext cx="7315200" cy="2468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17520" y="4105656"/>
            <a:ext cx="5486400" cy="246888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69880" y="4023360"/>
            <a:ext cx="548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590288"/>
            <a:ext cx="2377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Pretendard"/>
              </a:rPr>
              <a:t>최종 승인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0" y="4672584"/>
            <a:ext cx="7315200" cy="2468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017520" y="4672584"/>
            <a:ext cx="1828800" cy="246888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4590288"/>
            <a:ext cx="548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E2530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좋은 결과는 입력과 검증의 합입니다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목표·맥락·제약·검토가 결과 품질을 결정합니다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12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6607" y="2843784"/>
            <a:ext cx="2331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6607" y="2843784"/>
            <a:ext cx="2331720" cy="73152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487" y="3026664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E1116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487" y="3374136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E2530"/>
                </a:solidFill>
                <a:latin typeface="Pretendard"/>
              </a:rPr>
              <a:t>좋은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487" y="3849624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A6473"/>
                </a:solidFill>
                <a:latin typeface="Pretendard"/>
              </a:rPr>
              <a:t>업무에 쓰이는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8327" y="3346704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7A8390"/>
                </a:solidFill>
                <a:latin typeface="Inter"/>
              </a:rPr>
              <a:t>=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35527" y="2843784"/>
            <a:ext cx="2331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35527" y="2843784"/>
            <a:ext cx="2331720" cy="73152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18407" y="3026664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91B8"/>
                </a:solidFill>
                <a:latin typeface="Inter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8407" y="3374136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E2530"/>
                </a:solidFill>
                <a:latin typeface="Pretendard"/>
              </a:rPr>
              <a:t>명확한 목표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8407" y="3849624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A6473"/>
                </a:solidFill>
                <a:latin typeface="Pretendard"/>
              </a:rPr>
              <a:t>원하는 결과와 대상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67247" y="3346704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7A8390"/>
                </a:solidFill>
                <a:latin typeface="Inter"/>
              </a:rPr>
              <a:t>+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4447" y="2843784"/>
            <a:ext cx="2331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4447" y="2843784"/>
            <a:ext cx="2331720" cy="73152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3026664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15CFF"/>
                </a:solidFill>
                <a:latin typeface="Inter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7327" y="3374136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E2530"/>
                </a:solidFill>
                <a:latin typeface="Pretendard"/>
              </a:rPr>
              <a:t>충분한 맥락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7327" y="3849624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A6473"/>
                </a:solidFill>
                <a:latin typeface="Pretendard"/>
              </a:rPr>
              <a:t>자료·조건·제약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6167" y="3346704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7A8390"/>
                </a:solidFill>
                <a:latin typeface="Inter"/>
              </a:rPr>
              <a:t>+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13367" y="2843784"/>
            <a:ext cx="2331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13367" y="2843784"/>
            <a:ext cx="2331720" cy="73152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96247" y="3026664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91B8"/>
                </a:solidFill>
                <a:latin typeface="Inter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6247" y="3374136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E2530"/>
                </a:solidFill>
                <a:latin typeface="Pretendard"/>
              </a:rPr>
              <a:t>검증 루프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6247" y="3849624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A6473"/>
                </a:solidFill>
                <a:latin typeface="Pretendard"/>
              </a:rPr>
              <a:t>사실·품질·영향 확인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72584"/>
            <a:ext cx="82296" cy="82296"/>
          </a:xfrm>
          <a:prstGeom prst="rect">
            <a:avLst/>
          </a:prstGeom>
          <a:solidFill>
            <a:srgbClr val="7A8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590288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입력이 선명할수록 수정 비용 감소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672584"/>
            <a:ext cx="82296" cy="82296"/>
          </a:xfrm>
          <a:prstGeom prst="rect">
            <a:avLst/>
          </a:prstGeom>
          <a:solidFill>
            <a:srgbClr val="7A8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4590288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검증이 없으면 그럴듯한 오류가 남음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짧은 반복 루프가 결과를 선명하게 만듭니다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초안 생성·피드백·수정의 짧은 루프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13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59736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7A8390"/>
                </a:solidFill>
                <a:latin typeface="Pretendard"/>
              </a:rPr>
              <a:t>결과 선명도 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358384"/>
            <a:ext cx="6126480" cy="1270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52344"/>
            <a:ext cx="12700" cy="26060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777240" y="3026664"/>
            <a:ext cx="6126480" cy="2331720"/>
          </a:xfrm>
          <a:prstGeom prst="bentConnector3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77240" y="4157195"/>
            <a:ext cx="1531620" cy="1201189"/>
          </a:xfrm>
          <a:prstGeom prst="bentConnector3">
            <a:avLst/>
          </a:prstGeom>
          <a:ln w="28575">
            <a:solidFill>
              <a:srgbClr val="31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08860" y="3450614"/>
            <a:ext cx="1531620" cy="706581"/>
          </a:xfrm>
          <a:prstGeom prst="bentConnector3">
            <a:avLst/>
          </a:prstGeom>
          <a:ln w="28575">
            <a:solidFill>
              <a:srgbClr val="31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3840480" y="3167981"/>
            <a:ext cx="1531620" cy="282633"/>
          </a:xfrm>
          <a:prstGeom prst="bentConnector3">
            <a:avLst/>
          </a:prstGeom>
          <a:ln w="28575">
            <a:solidFill>
              <a:srgbClr val="31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372100" y="3026664"/>
            <a:ext cx="1531620" cy="141317"/>
          </a:xfrm>
          <a:prstGeom prst="bentConnector3">
            <a:avLst/>
          </a:prstGeom>
          <a:ln w="28575">
            <a:solidFill>
              <a:srgbClr val="315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94944" y="5276088"/>
            <a:ext cx="164592" cy="164592"/>
          </a:xfrm>
          <a:prstGeom prst="ellipse">
            <a:avLst/>
          </a:prstGeom>
          <a:solidFill>
            <a:srgbClr val="0091B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543153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473"/>
                </a:solidFill>
                <a:latin typeface="Pretendard"/>
              </a:rPr>
              <a:t>초안</a:t>
            </a:r>
          </a:p>
        </p:txBody>
      </p:sp>
      <p:sp>
        <p:nvSpPr>
          <p:cNvPr id="20" name="Oval 19"/>
          <p:cNvSpPr/>
          <p:nvPr/>
        </p:nvSpPr>
        <p:spPr>
          <a:xfrm>
            <a:off x="2226564" y="4074899"/>
            <a:ext cx="164592" cy="164592"/>
          </a:xfrm>
          <a:prstGeom prst="ellipse">
            <a:avLst/>
          </a:prstGeom>
          <a:solidFill>
            <a:srgbClr val="0091B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5940" y="543153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473"/>
                </a:solidFill>
                <a:latin typeface="Pretendard"/>
              </a:rPr>
              <a:t>1차 피드백</a:t>
            </a:r>
          </a:p>
        </p:txBody>
      </p:sp>
      <p:sp>
        <p:nvSpPr>
          <p:cNvPr id="22" name="Oval 21"/>
          <p:cNvSpPr/>
          <p:nvPr/>
        </p:nvSpPr>
        <p:spPr>
          <a:xfrm>
            <a:off x="3758184" y="3368318"/>
            <a:ext cx="164592" cy="164592"/>
          </a:xfrm>
          <a:prstGeom prst="ellipse">
            <a:avLst/>
          </a:prstGeom>
          <a:solidFill>
            <a:srgbClr val="315C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543153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473"/>
                </a:solidFill>
                <a:latin typeface="Pretendard"/>
              </a:rPr>
              <a:t>2차 수정</a:t>
            </a:r>
          </a:p>
        </p:txBody>
      </p:sp>
      <p:sp>
        <p:nvSpPr>
          <p:cNvPr id="24" name="Oval 23"/>
          <p:cNvSpPr/>
          <p:nvPr/>
        </p:nvSpPr>
        <p:spPr>
          <a:xfrm>
            <a:off x="5289804" y="3085685"/>
            <a:ext cx="164592" cy="164592"/>
          </a:xfrm>
          <a:prstGeom prst="ellipse">
            <a:avLst/>
          </a:prstGeom>
          <a:solidFill>
            <a:srgbClr val="315C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9180" y="543153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473"/>
                </a:solidFill>
                <a:latin typeface="Pretendard"/>
              </a:rPr>
              <a:t>3차 검증</a:t>
            </a:r>
          </a:p>
        </p:txBody>
      </p:sp>
      <p:sp>
        <p:nvSpPr>
          <p:cNvPr id="26" name="Oval 25"/>
          <p:cNvSpPr/>
          <p:nvPr/>
        </p:nvSpPr>
        <p:spPr>
          <a:xfrm>
            <a:off x="6821424" y="2944368"/>
            <a:ext cx="164592" cy="164592"/>
          </a:xfrm>
          <a:prstGeom prst="ellipse">
            <a:avLst/>
          </a:prstGeom>
          <a:solidFill>
            <a:srgbClr val="315C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3153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A6473"/>
                </a:solidFill>
                <a:latin typeface="Pretendard"/>
              </a:rPr>
              <a:t>최종 정리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2752344"/>
            <a:ext cx="4144975" cy="2880360"/>
          </a:xfrm>
          <a:prstGeom prst="rect">
            <a:avLst/>
          </a:prstGeom>
          <a:solidFill>
            <a:srgbClr val="E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20" y="3008376"/>
            <a:ext cx="3596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D3FBF"/>
                </a:solidFill>
                <a:latin typeface="Inter"/>
              </a:rPr>
              <a:t>ITERATION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3374136"/>
            <a:ext cx="35963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E1116"/>
                </a:solidFill>
                <a:latin typeface="Pretendard"/>
              </a:rPr>
              <a:t>초기 반복이 결과의 방향을 잡습니다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215384"/>
            <a:ext cx="35963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D3FBF"/>
                </a:solidFill>
                <a:latin typeface="Pretendard"/>
              </a:rPr>
              <a:t>초기 반복은 방향을 잡고, 마지막 반복은 사실과 표현을 정교하게 다듬습니다.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AI 활용은 탐색·생성·자동화로 확장됩니다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각 단계에서 사람의 검토 지점을 명확히 둡니다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14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07127" y="2660904"/>
            <a:ext cx="2377440" cy="50292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7127" y="2660904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Pretendard"/>
              </a:rPr>
              <a:t>AI 활용 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3163824"/>
            <a:ext cx="19050" cy="3200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38247" y="3483864"/>
            <a:ext cx="7315200" cy="190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38247" y="3483864"/>
            <a:ext cx="19050" cy="22860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327" y="3712464"/>
            <a:ext cx="32918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5207" y="3712464"/>
            <a:ext cx="29260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탐색과 요약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5847" y="3483864"/>
            <a:ext cx="19050" cy="22860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49927" y="3712464"/>
            <a:ext cx="32918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2807" y="3712464"/>
            <a:ext cx="29260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초안과 아이디어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53447" y="3483864"/>
            <a:ext cx="19050" cy="22860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3712464"/>
            <a:ext cx="32918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407" y="3712464"/>
            <a:ext cx="29260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반복 업무 자동화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7" y="4626864"/>
            <a:ext cx="19050" cy="914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718304"/>
            <a:ext cx="11155680" cy="8229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46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7A8390"/>
                </a:solidFill>
                <a:latin typeface="Inter"/>
              </a:rPr>
              <a:t>HUMAN CHECKPOINT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120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모든 경로의 끝에는 사람의 검토와 승인이 있습니다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50392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Dv  ·  DEVELOP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AI와 사람은 서로 다른 강점을 가집니다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반복과 초안은 AI, 판단과 책임은 사람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15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06624"/>
            <a:ext cx="11155680" cy="4572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066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retendard"/>
              </a:rPr>
              <a:t>업무 요소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40" y="27066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retendard"/>
              </a:rPr>
              <a:t>AI가 강한 부분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7200" y="27066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retendard"/>
              </a:rPr>
              <a:t>사람이 맡을 부분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63824"/>
            <a:ext cx="11155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638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정보 처리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8640" y="31638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많은 자료의 요약·분류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7200" y="31638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출처의 신뢰성과 누락 판단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621024"/>
            <a:ext cx="1115568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6210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콘텐츠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8640" y="36210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초안·대안·표현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7200" y="36210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목적·맥락·최종 메시지 결정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78224"/>
            <a:ext cx="11155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0782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분석 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8640" y="40782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패턴 후보와 질문 제안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7200" y="40782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원인 해석과 의사결정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535424"/>
            <a:ext cx="1115568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354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실행 책임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8640" y="45354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반복 단계 보조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7200" y="4535424"/>
            <a:ext cx="3444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승인·윤리·결과 책임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051560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I  ·  IMPLEMENT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활동: 하나의 업무를 AI 협업으로 바꿉니다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목표 정의부터 최종 검토까지 직접 설계합니다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16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98064"/>
            <a:ext cx="2834640" cy="283464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181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B5E2"/>
                </a:solidFill>
                <a:latin typeface="Inter"/>
              </a:rPr>
              <a:t>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21024"/>
            <a:ext cx="2286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Pretendard"/>
              </a:rPr>
              <a:t>하나의 업무를</a:t>
            </a:r>
          </a:p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Pretendard"/>
              </a:rPr>
              <a:t>검증 가능한 AI 협업으로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2798064"/>
            <a:ext cx="1828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03320" y="2798064"/>
            <a:ext cx="1828800" cy="73152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307238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91B8"/>
                </a:solidFill>
                <a:latin typeface="Inter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3575304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E2530"/>
                </a:solidFill>
                <a:latin typeface="Pretendard"/>
              </a:rPr>
              <a:t>업무 선택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4215384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반복되는 실제 과제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0" y="2798064"/>
            <a:ext cx="1828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2798064"/>
            <a:ext cx="1828800" cy="73152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307238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15CFF"/>
                </a:solidFill>
                <a:latin typeface="Inter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575304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E2530"/>
                </a:solidFill>
                <a:latin typeface="Pretendard"/>
              </a:rPr>
              <a:t>역할 분담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4215384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AI와 사람이 맡을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2798064"/>
            <a:ext cx="1828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35240" y="2798064"/>
            <a:ext cx="1828800" cy="73152"/>
          </a:xfrm>
          <a:prstGeom prst="rect">
            <a:avLst/>
          </a:prstGeom>
          <a:solidFill>
            <a:srgbClr val="1E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307238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2530"/>
                </a:solidFill>
                <a:latin typeface="Inter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575304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E2530"/>
                </a:solidFill>
                <a:latin typeface="Pretendard"/>
              </a:rPr>
              <a:t>요청 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215384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목표·맥락·제약·형식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798064"/>
            <a:ext cx="1828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01200" y="2798064"/>
            <a:ext cx="1828800" cy="73152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307238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91B8"/>
                </a:solidFill>
                <a:latin typeface="Inter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3575304"/>
            <a:ext cx="1463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E2530"/>
                </a:solidFill>
                <a:latin typeface="Pretendard"/>
              </a:rPr>
              <a:t>검증 계획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4215384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A6473"/>
                </a:solidFill>
                <a:latin typeface="Pretendard"/>
              </a:rPr>
              <a:t>근거·품질·최종 승인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051560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I  ·  IMPLEMENT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활동: 모호한 프롬프트를 다시 씁니다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요청을 목표·맥락·제약·형식으로 구조화합니다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17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06624"/>
            <a:ext cx="11155680" cy="4572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066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066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retendard"/>
              </a:rPr>
              <a:t>모호한 요청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7066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retendard"/>
              </a:rPr>
              <a:t>구조화한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7066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retendard"/>
              </a:rPr>
              <a:t>개선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163824"/>
            <a:ext cx="11155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638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1638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회의록 정리해 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1638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결정·담당·기한을 표로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1638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출력 목적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621024"/>
            <a:ext cx="1115568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210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36210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메일 써 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6210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신입 대상, 300자, 친절한 안내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36210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대상과 제약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78224"/>
            <a:ext cx="11155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0782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40782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자료 조사해 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0782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공식 출처 3개와 확인일 표시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40782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근거 기준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535424"/>
            <a:ext cx="1115568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5354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5354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아이디어 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5354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비용별 대안 3개와 위험 비교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453542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비교 형식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051560" cy="274320"/>
          </a:xfrm>
          <a:prstGeom prst="rect">
            <a:avLst/>
          </a:prstGeom>
          <a:noFill/>
          <a:ln w="15875">
            <a:solidFill>
              <a:srgbClr val="00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0091B8"/>
                </a:solidFill>
                <a:latin typeface="Inter"/>
              </a:rPr>
              <a:t>I  ·  IMPLEMENT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토론: AI 활용 위험을 단계별로 줄입니다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입력 전·생성 중·출력 후의 안전장치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06624"/>
            <a:ext cx="35052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706624"/>
            <a:ext cx="3505200" cy="59436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06624"/>
            <a:ext cx="6400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706624"/>
            <a:ext cx="25908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retendard"/>
              </a:rPr>
              <a:t>입력 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529584"/>
            <a:ext cx="3048000" cy="594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529584"/>
            <a:ext cx="2682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530"/>
                </a:solidFill>
                <a:latin typeface="Pretendard"/>
              </a:rPr>
              <a:t>개인정보 제거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242816"/>
            <a:ext cx="3048000" cy="594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42816"/>
            <a:ext cx="2682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530"/>
                </a:solidFill>
                <a:latin typeface="Pretendard"/>
              </a:rPr>
              <a:t>권한 자료 확인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56048"/>
            <a:ext cx="3048000" cy="594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956048"/>
            <a:ext cx="2682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530"/>
                </a:solidFill>
                <a:latin typeface="Pretendard"/>
              </a:rPr>
              <a:t>목표와 금지 범위 명시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8160" y="2706624"/>
            <a:ext cx="35052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8160" y="2706624"/>
            <a:ext cx="3505200" cy="59436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6760" y="2706624"/>
            <a:ext cx="6400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9680" y="2706624"/>
            <a:ext cx="25908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retendard"/>
              </a:rPr>
              <a:t>생성 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56760" y="3529584"/>
            <a:ext cx="3048000" cy="594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9640" y="3529584"/>
            <a:ext cx="2682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530"/>
                </a:solidFill>
                <a:latin typeface="Pretendard"/>
              </a:rPr>
              <a:t>출처 요청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56760" y="4242816"/>
            <a:ext cx="3048000" cy="594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9640" y="4242816"/>
            <a:ext cx="2682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530"/>
                </a:solidFill>
                <a:latin typeface="Pretendard"/>
              </a:rPr>
              <a:t>가정 표시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56760" y="4956048"/>
            <a:ext cx="3048000" cy="594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39640" y="4956048"/>
            <a:ext cx="2682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530"/>
                </a:solidFill>
                <a:latin typeface="Pretendard"/>
              </a:rPr>
              <a:t>여러 대안 비교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53400" y="2706624"/>
            <a:ext cx="35052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3400" y="2706624"/>
            <a:ext cx="3505200" cy="59436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2000" y="2706624"/>
            <a:ext cx="6400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4920" y="2706624"/>
            <a:ext cx="25908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Pretendard"/>
              </a:rPr>
              <a:t>출력 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82000" y="3529584"/>
            <a:ext cx="3048000" cy="594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64880" y="3529584"/>
            <a:ext cx="2682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530"/>
                </a:solidFill>
                <a:latin typeface="Pretendard"/>
              </a:rPr>
              <a:t>원문 대조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82000" y="4242816"/>
            <a:ext cx="3048000" cy="594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4880" y="4242816"/>
            <a:ext cx="2682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530"/>
                </a:solidFill>
                <a:latin typeface="Pretendard"/>
              </a:rPr>
              <a:t>편향·누락 점검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82000" y="4956048"/>
            <a:ext cx="3048000" cy="594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64880" y="4956048"/>
            <a:ext cx="2682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E2530"/>
                </a:solidFill>
                <a:latin typeface="Pretendard"/>
              </a:rPr>
              <a:t>사람의 최종 승인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950976" cy="274320"/>
          </a:xfrm>
          <a:prstGeom prst="rect">
            <a:avLst/>
          </a:prstGeom>
          <a:noFill/>
          <a:ln w="15875">
            <a:solidFill>
              <a:srgbClr val="22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22A06B"/>
                </a:solidFill>
                <a:latin typeface="Inter"/>
              </a:rPr>
              <a:t>E  · 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형성평가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AI에 입력하면 안 되는 정보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19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609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1116"/>
                </a:solidFill>
                <a:latin typeface="Pretendard"/>
              </a:rPr>
              <a:t>다음 중 AI에 입력하면 안 되는 정보는 무엇일까요?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29584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529584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A8390"/>
                </a:solidFill>
                <a:latin typeface="Inter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9584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F4753"/>
                </a:solidFill>
                <a:latin typeface="Pretendard"/>
              </a:rPr>
              <a:t>회사 재무제표 초안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233672"/>
            <a:ext cx="11155680" cy="566928"/>
          </a:xfrm>
          <a:prstGeom prst="rect">
            <a:avLst/>
          </a:prstGeom>
          <a:solidFill>
            <a:srgbClr val="E0E6FF"/>
          </a:solidFill>
          <a:ln w="952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33672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3FBF"/>
                </a:solidFill>
                <a:latin typeface="Inter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33672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사내 고객 개인정보(주민번호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4233672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5CFF"/>
                </a:solidFill>
                <a:latin typeface="Inter"/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937760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A8390"/>
                </a:solidFill>
                <a:latin typeface="Inter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3776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F4753"/>
                </a:solidFill>
                <a:latin typeface="Pretendard"/>
              </a:rPr>
              <a:t>일반적인 산업 동향 질문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41848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641848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A8390"/>
                </a:solidFill>
                <a:latin typeface="Inter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41848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F4753"/>
                </a:solidFill>
                <a:latin typeface="Pretendard"/>
              </a:rPr>
              <a:t>공개된 통계 자료 요약 요청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950976" cy="274320"/>
          </a:xfrm>
          <a:prstGeom prst="rect">
            <a:avLst/>
          </a:prstGeom>
          <a:noFill/>
          <a:ln w="15875">
            <a:solidFill>
              <a:srgbClr val="22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22A06B"/>
                </a:solidFill>
                <a:latin typeface="Inter"/>
              </a:rPr>
              <a:t>E  · 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형성평가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좋은 프롬프트의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609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1116"/>
                </a:solidFill>
                <a:latin typeface="Pretendard"/>
              </a:rPr>
              <a:t>다음 중 가장 검토하기 쉬운 프롬프트는?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29584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529584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A8390"/>
                </a:solidFill>
                <a:latin typeface="Inter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9584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F4753"/>
                </a:solidFill>
                <a:latin typeface="Pretendard"/>
              </a:rPr>
              <a:t>신제품 아이디어를 멋지게 써 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233672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33672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A8390"/>
                </a:solidFill>
                <a:latin typeface="Inter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33672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F4753"/>
                </a:solidFill>
                <a:latin typeface="Pretendard"/>
              </a:rPr>
              <a:t>마케팅 문구를 많이 만들어 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937760"/>
            <a:ext cx="11155680" cy="566928"/>
          </a:xfrm>
          <a:prstGeom prst="rect">
            <a:avLst/>
          </a:prstGeom>
          <a:solidFill>
            <a:srgbClr val="E0E6FF"/>
          </a:solidFill>
          <a:ln w="952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3FBF"/>
                </a:solidFill>
                <a:latin typeface="Inter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3776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20대 신규 고객 대상 문구 3개를 30자 이내로 만들고 근거를 덧붙여 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493776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5CFF"/>
                </a:solidFill>
                <a:latin typeface="Inter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41848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641848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A8390"/>
                </a:solidFill>
                <a:latin typeface="Inter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41848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F4753"/>
                </a:solidFill>
                <a:latin typeface="Pretendard"/>
              </a:rPr>
              <a:t>우리 제품을 무조건 좋게 소개해 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950976" cy="274320"/>
          </a:xfrm>
          <a:prstGeom prst="rect">
            <a:avLst/>
          </a:prstGeom>
          <a:noFill/>
          <a:ln w="15875">
            <a:solidFill>
              <a:srgbClr val="22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22A06B"/>
                </a:solidFill>
                <a:latin typeface="Inter"/>
              </a:rPr>
              <a:t>E  · 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형성평가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그럴듯한 오류를 발견했을 때의 대응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21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609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1116"/>
                </a:solidFill>
                <a:latin typeface="Pretendard"/>
              </a:rPr>
              <a:t>AI가 출처 없는 수치를 자신 있게 제시했습니다. 적절한 대응은? (복수 정답)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29584"/>
            <a:ext cx="11155680" cy="566928"/>
          </a:xfrm>
          <a:prstGeom prst="rect">
            <a:avLst/>
          </a:prstGeom>
          <a:solidFill>
            <a:srgbClr val="E0E6FF"/>
          </a:solidFill>
          <a:ln w="952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529584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3FBF"/>
                </a:solidFill>
                <a:latin typeface="Inter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9584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공식 원문에서 수치를 확인한다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3529584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5CFF"/>
                </a:solidFill>
                <a:latin typeface="Inter"/>
              </a:rPr>
              <a:t>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233672"/>
            <a:ext cx="11155680" cy="566928"/>
          </a:xfrm>
          <a:prstGeom prst="rect">
            <a:avLst/>
          </a:prstGeom>
          <a:solidFill>
            <a:srgbClr val="E0E6FF"/>
          </a:solidFill>
          <a:ln w="952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33672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3FBF"/>
                </a:solidFill>
                <a:latin typeface="Inter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233672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E2530"/>
                </a:solidFill>
                <a:latin typeface="Pretendard"/>
              </a:rPr>
              <a:t>불확실한 부분을 표시하고 재검증한다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233672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5CFF"/>
                </a:solidFill>
                <a:latin typeface="Inter"/>
              </a:rPr>
              <a:t>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937760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937760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A8390"/>
                </a:solidFill>
                <a:latin typeface="Inter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3776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F4753"/>
                </a:solidFill>
                <a:latin typeface="Pretendard"/>
              </a:rPr>
              <a:t>문장이 자연스러우므로 그대로 사용한다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641848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641848"/>
            <a:ext cx="457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A8390"/>
                </a:solidFill>
                <a:latin typeface="Inter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641848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F4753"/>
                </a:solidFill>
                <a:latin typeface="Pretendard"/>
              </a:rPr>
              <a:t>다른 AI가 동의하면 사실로 간주한다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950976" cy="274320"/>
          </a:xfrm>
          <a:prstGeom prst="rect">
            <a:avLst/>
          </a:prstGeom>
          <a:noFill/>
          <a:ln w="15875">
            <a:solidFill>
              <a:srgbClr val="22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22A06B"/>
                </a:solidFill>
                <a:latin typeface="Inter"/>
              </a:rPr>
              <a:t>E  · 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생성형 AI 활용의 핵심은 세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구조화된 요청·근거 검증·사람의 책임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22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843784"/>
            <a:ext cx="3566160" cy="2743200"/>
          </a:xfrm>
          <a:prstGeom prst="rect">
            <a:avLst/>
          </a:prstGeom>
          <a:solidFill>
            <a:srgbClr val="F5F7FA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843784"/>
            <a:ext cx="73152" cy="274320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1810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091B8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1246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E1116"/>
                </a:solidFill>
                <a:latin typeface="Pretendard"/>
              </a:rPr>
              <a:t>구조화된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43984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473"/>
                </a:solidFill>
                <a:latin typeface="Pretendard"/>
              </a:rPr>
              <a:t>목표·맥락·자료·제약·형식을 갖춘 프롬프트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843784"/>
            <a:ext cx="3566160" cy="2743200"/>
          </a:xfrm>
          <a:prstGeom prst="rect">
            <a:avLst/>
          </a:prstGeom>
          <a:solidFill>
            <a:srgbClr val="F5F7FA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843784"/>
            <a:ext cx="73152" cy="27432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11810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15CFF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71246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E1116"/>
                </a:solidFill>
                <a:latin typeface="Pretendard"/>
              </a:rPr>
              <a:t>근거 기반 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443984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473"/>
                </a:solidFill>
                <a:latin typeface="Pretendard"/>
              </a:rPr>
              <a:t>출처 대조와 사실 확인으로 오류를 줄임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80" y="2843784"/>
            <a:ext cx="3566160" cy="2743200"/>
          </a:xfrm>
          <a:prstGeom prst="rect">
            <a:avLst/>
          </a:prstGeom>
          <a:solidFill>
            <a:srgbClr val="F5F7FA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80" y="2843784"/>
            <a:ext cx="73152" cy="2743200"/>
          </a:xfrm>
          <a:prstGeom prst="rect">
            <a:avLst/>
          </a:prstGeom>
          <a:solidFill>
            <a:srgbClr val="22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311810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A06B"/>
                </a:solidFill>
                <a:latin typeface="Inter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71246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E1116"/>
                </a:solidFill>
                <a:latin typeface="Pretendard"/>
              </a:rPr>
              <a:t>사람의 책임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443984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473"/>
                </a:solidFill>
                <a:latin typeface="Pretendard"/>
              </a:rPr>
              <a:t>최종 판단과 승인은 항상 사람이 유지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950976" cy="274320"/>
          </a:xfrm>
          <a:prstGeom prst="rect">
            <a:avLst/>
          </a:prstGeom>
          <a:noFill/>
          <a:ln w="15875">
            <a:solidFill>
              <a:srgbClr val="22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22A06B"/>
                </a:solidFill>
                <a:latin typeface="Inter"/>
              </a:rPr>
              <a:t>E  · 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AI에 대한 세 가지 오해를 바로잡습니다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정답·중립성·자동화에 대한 현실적인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23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06624"/>
            <a:ext cx="11155680" cy="4572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06624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retendard"/>
              </a:rPr>
              <a:t>오해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706624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retendard"/>
              </a:rPr>
              <a:t>현실적인 기준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63824"/>
            <a:ext cx="11155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63824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AI는 항상 정답을 제공한다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163824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자연스러운 결과와 사실의 정확성은 다르다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21024"/>
            <a:ext cx="1115568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21024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AI는 편향 없이 중립적이다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621024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학습 데이터와 요청 방식의 영향을 받는다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78224"/>
            <a:ext cx="11155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78224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530"/>
                </a:solidFill>
                <a:latin typeface="Pretendard"/>
              </a:rPr>
              <a:t>자동화하면 사람의 검토가 필요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078224"/>
            <a:ext cx="5303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F4753"/>
                </a:solidFill>
                <a:latin typeface="Pretendard"/>
              </a:rPr>
              <a:t>영향이 클수록 승인과 책임이 더 중요하다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950976" cy="274320"/>
          </a:xfrm>
          <a:prstGeom prst="rect">
            <a:avLst/>
          </a:prstGeom>
          <a:noFill/>
          <a:ln w="15875">
            <a:solidFill>
              <a:srgbClr val="22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22A06B"/>
                </a:solidFill>
                <a:latin typeface="Inter"/>
              </a:rPr>
              <a:t>E  · 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더 깊이 학습할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원리·위험관리·교육 활용을 잇는 읽을거리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24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52344"/>
            <a:ext cx="73152" cy="6858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234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530"/>
                </a:solidFill>
                <a:latin typeface="Pretendard"/>
              </a:rPr>
              <a:t>Attention Is All You Need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9981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3"/>
                </a:solidFill>
                <a:latin typeface="Pretendard"/>
              </a:rPr>
              <a:t>Transformer 구조를 이해하는 출발점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21024"/>
            <a:ext cx="73152" cy="68580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62102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530"/>
                </a:solidFill>
                <a:latin typeface="Pretendard"/>
              </a:rPr>
              <a:t>NIST AI RMF 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6849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3"/>
                </a:solidFill>
                <a:latin typeface="Pretendard"/>
              </a:rPr>
              <a:t>AI 위험을 식별·측정·관리하는 실무 프레임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89704"/>
            <a:ext cx="73152" cy="6858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8970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530"/>
                </a:solidFill>
                <a:latin typeface="Pretendard"/>
              </a:rPr>
              <a:t>UNESCO 생성형 AI 지침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3"/>
                </a:solidFill>
                <a:latin typeface="Pretendard"/>
              </a:rPr>
              <a:t>교육에서의 사람 중심 활용 원칙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358384"/>
            <a:ext cx="73152" cy="68580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583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530"/>
                </a:solidFill>
                <a:latin typeface="Pretendard"/>
              </a:rPr>
              <a:t>AI 튜터 실습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70585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3"/>
                </a:solidFill>
                <a:latin typeface="Pretendard"/>
              </a:rPr>
              <a:t>하나의 업무를 프롬프트와 검증 루프로 개선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950976" cy="274320"/>
          </a:xfrm>
          <a:prstGeom prst="rect">
            <a:avLst/>
          </a:prstGeom>
          <a:noFill/>
          <a:ln w="15875">
            <a:solidFill>
              <a:srgbClr val="22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22A06B"/>
                </a:solidFill>
                <a:latin typeface="Inter"/>
              </a:rPr>
              <a:t>E  · 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참고 문헌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생성형 AI의 원리와 책임 있는 활용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25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79806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7A8390"/>
                </a:solidFill>
                <a:latin typeface="Inter"/>
              </a:rPr>
              <a:t>[1]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98064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530"/>
                </a:solidFill>
                <a:latin typeface="Inter"/>
              </a:rPr>
              <a:t>Vaswani, A. et al. (2017). Attention Is All You Need. NeurIPS.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564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7A8390"/>
                </a:solidFill>
                <a:latin typeface="Inter"/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4564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530"/>
                </a:solidFill>
                <a:latin typeface="Inter"/>
              </a:rPr>
              <a:t>Bommasani, R. et al. (2021). On the Opportunities and Risks of Foundation Models.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1148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7A8390"/>
                </a:solidFill>
                <a:latin typeface="Inter"/>
              </a:rPr>
              <a:t>[3]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1148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530"/>
                </a:solidFill>
                <a:latin typeface="Inter"/>
              </a:rPr>
              <a:t>NIST. (2023). Artificial Intelligence Risk Management Framework 1.0.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7316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7A8390"/>
                </a:solidFill>
                <a:latin typeface="Inter"/>
              </a:rPr>
              <a:t>[4]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7316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2530"/>
                </a:solidFill>
                <a:latin typeface="Inter"/>
              </a:rPr>
              <a:t>UNESCO. (2023). Guidance for Generative AI in Education and Research.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950976" cy="274320"/>
          </a:xfrm>
          <a:prstGeom prst="rect">
            <a:avLst/>
          </a:prstGeom>
          <a:noFill/>
          <a:ln w="15875">
            <a:solidFill>
              <a:srgbClr val="22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22A06B"/>
                </a:solidFill>
                <a:latin typeface="Inter"/>
              </a:rPr>
              <a:t>E  · 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다음 시간에는 AI 에이전트를 다룹니다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도구를 연결해 여러 단계를 수행하는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26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98064"/>
            <a:ext cx="73152" cy="68580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9806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530"/>
                </a:solidFill>
                <a:latin typeface="Pretendard"/>
              </a:rPr>
              <a:t>다음 주제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536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3"/>
                </a:solidFill>
                <a:latin typeface="Pretendard"/>
              </a:rPr>
              <a:t>AI 에이전트와 업무 자동화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66744"/>
            <a:ext cx="73152" cy="685800"/>
          </a:xfrm>
          <a:prstGeom prst="rect">
            <a:avLst/>
          </a:prstGeom>
          <a:solidFill>
            <a:srgbClr val="31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66674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530"/>
                </a:solidFill>
                <a:latin typeface="Pretendard"/>
              </a:rPr>
              <a:t>연결 고리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14216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3"/>
                </a:solidFill>
                <a:latin typeface="Pretendard"/>
              </a:rPr>
              <a:t>프롬프트 한 번에서 여러 단계의 실행 흐름으로 확장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535424"/>
            <a:ext cx="73152" cy="685800"/>
          </a:xfrm>
          <a:prstGeom prst="rect">
            <a:avLst/>
          </a:prstGeom>
          <a:solidFill>
            <a:srgbClr val="00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3542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E2530"/>
                </a:solidFill>
                <a:latin typeface="Pretendard"/>
              </a:rPr>
              <a:t>예습 질문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82896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3"/>
                </a:solidFill>
                <a:latin typeface="Pretendard"/>
              </a:rPr>
              <a:t>AI에게 도구 사용 권한을 줄 때 어떤 중단 조건이 필요할까?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950976" cy="274320"/>
          </a:xfrm>
          <a:prstGeom prst="rect">
            <a:avLst/>
          </a:prstGeom>
          <a:noFill/>
          <a:ln w="15875">
            <a:solidFill>
              <a:srgbClr val="22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22A06B"/>
                </a:solidFill>
                <a:latin typeface="Inter"/>
              </a:rPr>
              <a:t>E  · 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77824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0E1116"/>
                </a:solidFill>
                <a:latin typeface="Pretendard"/>
              </a:rPr>
              <a:t>과제: 나만의 AI 협업 가이드를 만듭니다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A6473"/>
                </a:solidFill>
                <a:latin typeface="Pretendard"/>
              </a:rPr>
              <a:t>하나의 실제 업무를 기준으로 작성합니다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28816"/>
            <a:ext cx="12191695" cy="9525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Pretendard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56539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7A8390"/>
                </a:solidFill>
                <a:latin typeface="Inter"/>
              </a:rPr>
              <a:t>27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03704"/>
            <a:ext cx="11155680" cy="12700"/>
          </a:xfrm>
          <a:prstGeom prst="rect">
            <a:avLst/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825496"/>
            <a:ext cx="457200" cy="457200"/>
          </a:xfrm>
          <a:prstGeom prst="rect">
            <a:avLst/>
          </a:prstGeom>
          <a:noFill/>
          <a:ln w="952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254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15CFF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52344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E2530"/>
                </a:solidFill>
                <a:latin typeface="Pretendard"/>
              </a:rPr>
              <a:t>실제 업무 한 가지와 기대 결과 정의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538728"/>
            <a:ext cx="457200" cy="457200"/>
          </a:xfrm>
          <a:prstGeom prst="rect">
            <a:avLst/>
          </a:prstGeom>
          <a:noFill/>
          <a:ln w="952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3872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15CFF"/>
                </a:solidFill>
                <a:latin typeface="Inte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65576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E2530"/>
                </a:solidFill>
                <a:latin typeface="Pretendard"/>
              </a:rPr>
              <a:t>AI에 맡길 단계와 사람이 맡을 단계 구분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51960"/>
            <a:ext cx="457200" cy="457200"/>
          </a:xfrm>
          <a:prstGeom prst="rect">
            <a:avLst/>
          </a:prstGeom>
          <a:noFill/>
          <a:ln w="952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519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15CFF"/>
                </a:solidFill>
                <a:latin typeface="Inter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78808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E2530"/>
                </a:solidFill>
                <a:latin typeface="Pretendard"/>
              </a:rPr>
              <a:t>사용한 프롬프트와 검증 근거 첨부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965192"/>
            <a:ext cx="457200" cy="457200"/>
          </a:xfrm>
          <a:prstGeom prst="rect">
            <a:avLst/>
          </a:prstGeom>
          <a:noFill/>
          <a:ln w="9525">
            <a:solidFill>
              <a:srgbClr val="31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965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15CFF"/>
                </a:solidFill>
                <a:latin typeface="Inter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92040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E2530"/>
                </a:solidFill>
                <a:latin typeface="Pretendard"/>
              </a:rPr>
              <a:t>개인정보·저작권·오류 대응 기준 포함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640080"/>
            <a:ext cx="950976" cy="274320"/>
          </a:xfrm>
          <a:prstGeom prst="rect">
            <a:avLst/>
          </a:prstGeom>
          <a:noFill/>
          <a:ln w="15875">
            <a:solidFill>
              <a:srgbClr val="22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 i="0">
                <a:solidFill>
                  <a:srgbClr val="22A06B"/>
                </a:solidFill>
                <a:latin typeface="Inter"/>
              </a:rPr>
              <a:t>E  ·  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Pretendard"/>
              </a:rPr>
              <a:t>AI는 사고를 확장하는 파트너입니다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B8C2D0"/>
                </a:solidFill>
                <a:latin typeface="Pretendard"/>
              </a:rPr>
              <a:t>생성은 AI와 함께, 판단과 책임은 사람이 맡습니다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093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E7785"/>
                </a:solidFill>
                <a:latin typeface="Inter"/>
              </a:rPr>
              <a:t>HYCU · AI 리터러시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30936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6E7785"/>
                </a:solidFill>
                <a:latin typeface="Inter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