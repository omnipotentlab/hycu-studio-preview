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571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HYCU / AI 리터러시 / 3주차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0" y="3810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01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1308100"/>
            <a:ext cx="5016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6B86"/>
                </a:solidFill>
                <a:latin typeface="Arial"/>
              </a:rPr>
              <a:t>GENERATIVE AI · HUMAN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1460500"/>
            <a:ext cx="50165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000" b="1" i="0">
                <a:solidFill>
                  <a:srgbClr val="151821"/>
                </a:solidFill>
                <a:latin typeface="Pretendard"/>
              </a:rPr>
              <a:t>생성형 AI의 이해와</a:t>
            </a:r>
          </a:p>
          <a:p>
            <a:pPr>
              <a:lnSpc>
                <a:spcPct val="108000"/>
              </a:lnSpc>
            </a:pPr>
            <a:r>
              <a:rPr sz="4000" b="1" i="0">
                <a:solidFill>
                  <a:srgbClr val="151821"/>
                </a:solidFill>
                <a:latin typeface="Pretendard"/>
              </a:rPr>
              <a:t>업무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3429000"/>
            <a:ext cx="4572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D6775"/>
                </a:solidFill>
                <a:latin typeface="Pretendard"/>
              </a:rPr>
              <a:t>AI를 빠르게 쓰는 법보다, 함께 일하는 기준을 배웁니다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876300"/>
            <a:ext cx="4635500" cy="2222500"/>
          </a:xfrm>
          <a:prstGeom prst="rect">
            <a:avLst/>
          </a:prstGeom>
          <a:solidFill>
            <a:srgbClr val="EAE6DC"/>
          </a:solidFill>
          <a:ln w="1270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7650" y="1384300"/>
            <a:ext cx="762000" cy="7620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46260" y="1924050"/>
            <a:ext cx="571500" cy="571500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92540" y="1241425"/>
            <a:ext cx="381000" cy="381000"/>
          </a:xfrm>
          <a:prstGeom prst="ellips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0400" y="2794000"/>
            <a:ext cx="4330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6B86"/>
                </a:solidFill>
                <a:latin typeface="Arial"/>
              </a:rPr>
              <a:t>AI GENERATED VISUAL · SOURCE DECK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51821"/>
                </a:solidFill>
                <a:latin typeface="Pretendard"/>
              </a:rPr>
              <a:t>원리 이해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161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0129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701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717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Pretendard"/>
              </a:rPr>
              <a:t>요청 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77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33845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417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33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33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Pretendard"/>
              </a:rPr>
              <a:t>결과 검증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59300" y="4889500"/>
            <a:ext cx="254000" cy="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4756150" y="48450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13300" y="4572000"/>
            <a:ext cx="1117600" cy="7112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4900" y="4635500"/>
            <a:ext cx="9144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4900" y="4762500"/>
            <a:ext cx="914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51821"/>
                </a:solidFill>
                <a:latin typeface="Pretendard"/>
              </a:rPr>
              <a:t>책임 있는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500" y="5588000"/>
            <a:ext cx="330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홍길동 교수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500" y="5778500"/>
            <a:ext cx="330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한양사이버대학교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02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AI를 쓰기 전에 네 가지를 묻습니다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경험에서 출발해 활용과 검증의 기준을 세웁니다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학습 전 진단 · 익숙한 AI 경험을 오늘의 협업 기준과 연결합니다.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8500" y="2222500"/>
            <a:ext cx="0" cy="3873500"/>
          </a:xfrm>
          <a:prstGeom prst="line">
            <a:avLst/>
          </a:prstGeom>
          <a:ln w="76200">
            <a:solidFill>
              <a:srgbClr val="00AE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5200" y="24765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6B86"/>
                </a:solidFill>
                <a:latin typeface="Arial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429000" cy="190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AI와 제대로 협업하려면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무엇을 맡기고 확인해야 할까?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500" y="22225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0800" y="23368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0800" y="24892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사용 경험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0800" y="28575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어떤 업무에 써 보았나?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12150" y="22225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6450" y="23368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450" y="24892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생성 원리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6450" y="28575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AI는 어떻게 답을 만들까?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6500" y="42164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0800" y="43307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0800" y="44831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결과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0800" y="48514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무엇을 확인해야 믿을까?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12150" y="4216400"/>
            <a:ext cx="31813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6450" y="4330700"/>
            <a:ext cx="29527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6450" y="4483100"/>
            <a:ext cx="2952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사람의 역할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6450" y="4851400"/>
            <a:ext cx="29527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어디까지 직접 판단할까?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03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이번 수업의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이해하고, 설계하고, 검증하고, 책임 있게 사용합니다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학습 목표 · 이해 → 설계 → 검증 → 책임의 순서로 학습합니다.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Pretendard"/>
              </a:rPr>
              <a:t>학습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222500"/>
            <a:ext cx="6350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결과를 빠르게 만드는 데서 끝나지 않고,</a:t>
            </a:r>
          </a:p>
          <a:p>
            <a:pPr algn="r">
              <a:lnSpc>
                <a:spcPct val="130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근거와 책임까지 확인합니다.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0500" y="3670300"/>
            <a:ext cx="9271000" cy="0"/>
          </a:xfrm>
          <a:prstGeom prst="line">
            <a:avLst/>
          </a:prstGeom>
          <a:ln w="381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8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생성 원리 이해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입력에서 출력까지 설명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2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4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4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요청 구조화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4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다섯 요소로 프롬프트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6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결과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근거·오류·편향을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0500" y="3175000"/>
            <a:ext cx="24130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2100" y="3238500"/>
            <a:ext cx="2209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2100" y="3365500"/>
            <a:ext cx="22098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책임 있는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4787900"/>
            <a:ext cx="2209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사람과 AI의 역할을 구분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04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50분 동안 AI 협업의 전 과정을 익힙니다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원리 이해에서 실습과 판단까지 이어지는 학습 경로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교시 로드맵 · 원리를 이해하고 직접 설계한 뒤 활용 기준을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413000"/>
            <a:ext cx="222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50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667000"/>
            <a:ext cx="22225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AI 사용 경험을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협업 역량으로 바꿉니다.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71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71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생성형 AI의 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71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이해 · 10분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070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4038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610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626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26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프롬프트와 역할 분담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626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설계 · 15분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025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4993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565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581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81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업무 협업 흐름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81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실습 · 15분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398000.0" y="4159250.0"/>
            <a:ext cx="254000.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594850" y="411480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52000" y="3206750"/>
            <a:ext cx="18415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53600" y="3270250"/>
            <a:ext cx="1638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397250"/>
            <a:ext cx="1638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위험 점검과 평가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819650"/>
            <a:ext cx="1638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확인 · 10분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05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생성형 AI는 다음 결과를 예측해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학습 데이터의 패턴과 사용자의 입력을 결합하는 시스템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생성의 원리 · 모델은 학습한 패턴과 현재 입력을 바탕으로 다음 결과를 구성합니다.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51821"/>
                </a:solidFill>
                <a:latin typeface="Pretendard"/>
              </a:rPr>
              <a:t>학습된 패턴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텍스트 · 이미지 · 코드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02000" y="3048000.0"/>
            <a:ext cx="31750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3562350" y="30035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2000" y="2895600"/>
            <a:ext cx="317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5D6775"/>
                </a:solidFill>
                <a:latin typeface="Pretendard"/>
              </a:rPr>
              <a:t>입력과 결합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830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46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46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생성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46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9D3FF"/>
                </a:solidFill>
                <a:latin typeface="Pretendard"/>
              </a:rPr>
              <a:t>확률적으로 다음 요소 예측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86500" y="3048000.0"/>
            <a:ext cx="317500" cy="0.0"/>
          </a:xfrm>
          <a:prstGeom prst="line">
            <a:avLst/>
          </a:prstGeom>
          <a:ln w="1587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6546850" y="3003550"/>
            <a:ext cx="88900" cy="88900"/>
          </a:xfrm>
          <a:prstGeom prst="triangl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2895600"/>
            <a:ext cx="317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5D6775"/>
                </a:solidFill>
                <a:latin typeface="Pretendard"/>
              </a:rPr>
              <a:t>구성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0" y="2222500"/>
            <a:ext cx="2540000" cy="1651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9100" y="2286000"/>
            <a:ext cx="2336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9100" y="2413000"/>
            <a:ext cx="2336800" cy="1358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새로운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9100" y="3581400"/>
            <a:ext cx="2336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9AFB8"/>
                </a:solidFill>
                <a:latin typeface="Pretendard"/>
              </a:rPr>
              <a:t>초안 · 요약 · 아이디어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500" y="4127500"/>
            <a:ext cx="5997222" cy="19685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4241800"/>
            <a:ext cx="5768622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KEY IDEA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" y="4394200"/>
            <a:ext cx="5768622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AI의 결과는 검색된 정답이 아니라 생성된 예측입니다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4762500"/>
            <a:ext cx="5768622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자연스러운 문장과 사실의 정확성은 서로 다른 문제입니다.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22722" y="4127500"/>
            <a:ext cx="4670778" cy="19685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7022" y="4241800"/>
            <a:ext cx="4442178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37022" y="4394200"/>
            <a:ext cx="4442178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그럴듯함보다 근거를 확인해야 합니다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7022" y="4762500"/>
            <a:ext cx="4442178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중요한 사실·수치·인용은 신뢰할 수 있는 출처와 대조합니다.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06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AI는 규칙에서 생성으로 발전해 왔습니다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규칙 기반 시스템부터 생성형 AI까지의 역할 변화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AI의 발전 · 규칙 실행에서 데이터 학습을 거쳐 새로운 결과 생성으로 역할이 확장됩니다.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49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정해진 규칙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8500" y="2349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새로운 결과 생성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9500" y="3175000"/>
            <a:ext cx="10033000" cy="0"/>
          </a:xfrm>
          <a:prstGeom prst="line">
            <a:avLst/>
          </a:prstGeom>
          <a:ln w="381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850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규칙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D6775"/>
                </a:solidFill>
                <a:latin typeface="Pretendard"/>
              </a:rPr>
              <a:t>정해진 조건 · 명시된 규칙을 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345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505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05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머신러닝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05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3FF"/>
                </a:solidFill>
                <a:latin typeface="Pretendard"/>
              </a:rPr>
              <a:t>패턴 학습 · 데이터에서 분류·예측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딥러닝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9AFB8"/>
                </a:solidFill>
                <a:latin typeface="Pretendard"/>
              </a:rPr>
              <a:t>표현 학습 · 복잡한 특징을 자동 추출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3350" y="2794000"/>
            <a:ext cx="247015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4950" y="2857500"/>
            <a:ext cx="226695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4950" y="2984500"/>
            <a:ext cx="226695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생성형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4950" y="4406900"/>
            <a:ext cx="226695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A4A55"/>
                </a:solidFill>
                <a:latin typeface="Pretendard"/>
              </a:rPr>
              <a:t>새 결과 생성 · 텍스트·이미지·코드 구성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07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좋은 프롬프트에는 다섯 가지가 들어갑니다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목표·맥락·자료·제약·출력 형식을 한 번에 설계합니다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프롬프트 구조 · 다섯 요소를 한 번에 제시하면 결과의 방향과 검토 기준이 선명해집니다.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8500" y="2349500"/>
            <a:ext cx="5715000" cy="57150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5500" y="2349500"/>
            <a:ext cx="5461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“신입 구성원을 위한 AI 보안 안내문을 5개 항목으로 작성해 줘.”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70000" y="3733800"/>
            <a:ext cx="9652000" cy="0"/>
          </a:xfrm>
          <a:prstGeom prst="line">
            <a:avLst/>
          </a:prstGeom>
          <a:ln w="317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47574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574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254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목표</a:t>
            </a:r>
          </a:p>
        </p:txBody>
      </p:sp>
      <p:sp>
        <p:nvSpPr>
          <p:cNvPr id="19" name="Oval 18"/>
          <p:cNvSpPr/>
          <p:nvPr/>
        </p:nvSpPr>
        <p:spPr>
          <a:xfrm>
            <a:off x="366522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522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02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맥락</a:t>
            </a:r>
          </a:p>
        </p:txBody>
      </p:sp>
      <p:sp>
        <p:nvSpPr>
          <p:cNvPr id="22" name="Oval 21"/>
          <p:cNvSpPr/>
          <p:nvPr/>
        </p:nvSpPr>
        <p:spPr>
          <a:xfrm>
            <a:off x="585470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470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150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자료</a:t>
            </a:r>
          </a:p>
        </p:txBody>
      </p:sp>
      <p:sp>
        <p:nvSpPr>
          <p:cNvPr id="25" name="Oval 24"/>
          <p:cNvSpPr/>
          <p:nvPr/>
        </p:nvSpPr>
        <p:spPr>
          <a:xfrm>
            <a:off x="8044180" y="3492500"/>
            <a:ext cx="482600" cy="482600"/>
          </a:xfrm>
          <a:prstGeom prst="ellipse">
            <a:avLst/>
          </a:prstGeom>
          <a:solidFill>
            <a:srgbClr val="F7F5F0"/>
          </a:solidFill>
          <a:ln w="317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418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098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제약</a:t>
            </a:r>
          </a:p>
        </p:txBody>
      </p:sp>
      <p:sp>
        <p:nvSpPr>
          <p:cNvPr id="28" name="Oval 27"/>
          <p:cNvSpPr/>
          <p:nvPr/>
        </p:nvSpPr>
        <p:spPr>
          <a:xfrm>
            <a:off x="10233660" y="3492500"/>
            <a:ext cx="482600" cy="4826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33660" y="3492500"/>
            <a:ext cx="4826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460" y="4051300"/>
            <a:ext cx="88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출력 형식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7500" y="4445000"/>
            <a:ext cx="1778000" cy="31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명확한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16500" y="4445000"/>
            <a:ext cx="2159000" cy="381000"/>
          </a:xfrm>
          <a:prstGeom prst="roundRect">
            <a:avLst>
              <a:gd name="adj" fmla="val 20000"/>
            </a:avLst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0" y="4445000"/>
            <a:ext cx="2159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구조화된 프롬프트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6500" y="4445000"/>
            <a:ext cx="1778000" cy="31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검토 가능한 결과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08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AI의 속도에는 사람의 검증이 필요합니다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생성은 맡기고 판단과 책임은 사람이 유지합니다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역할 분담 · AI의 생성 속도와 사람의 검증 책임을 결합할 때 결과가 업무에 쓰일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8500" y="3270250"/>
            <a:ext cx="2730500" cy="17780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3384550"/>
            <a:ext cx="2501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AI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536950"/>
            <a:ext cx="2501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빠른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905250"/>
            <a:ext cx="2501900" cy="107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대안을 넓히고 초안을 빠르게 만드는가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3683000" y="3429000"/>
            <a:ext cx="1460500" cy="146050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65562" y="3611562"/>
            <a:ext cx="1095375" cy="1095375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48125" y="3794125"/>
            <a:ext cx="730250" cy="73025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4089400"/>
            <a:ext cx="139700" cy="1397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0" y="3270250"/>
            <a:ext cx="508000" cy="17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5D6775"/>
                </a:solidFill>
                <a:latin typeface="Arial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5500" y="3270250"/>
            <a:ext cx="2730500" cy="17780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9800" y="3384550"/>
            <a:ext cx="2501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HUMAN 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9800" y="3536950"/>
            <a:ext cx="2501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근거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9800" y="3905250"/>
            <a:ext cx="2501900" cy="107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사실·맥락·영향을 책임 있게 판단하는가</a:t>
            </a:r>
          </a:p>
        </p:txBody>
      </p:sp>
      <p:sp>
        <p:nvSpPr>
          <p:cNvPr id="26" name="Oval 25"/>
          <p:cNvSpPr/>
          <p:nvPr/>
        </p:nvSpPr>
        <p:spPr>
          <a:xfrm>
            <a:off x="8890000" y="3429000"/>
            <a:ext cx="1460500" cy="146050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72562" y="3611562"/>
            <a:ext cx="1095375" cy="1095375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55125" y="3794125"/>
            <a:ext cx="730250" cy="730250"/>
          </a:xfrm>
          <a:prstGeom prst="ellipse">
            <a:avLst/>
          </a:prstGeom>
          <a:noFill/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48800" y="3937000"/>
            <a:ext cx="139700" cy="139700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0604500" y="3270250.0"/>
            <a:ext cx="0" cy="177800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795000" y="3651250"/>
            <a:ext cx="698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Pretendard"/>
              </a:rPr>
              <a:t>좋은 AI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5000" y="4095750"/>
            <a:ext cx="6985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빠르면서도 검토 가능한 결과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09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09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프롬프트는 네 가지 원칙으로 선명해집니다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구체성·맥락·제약·반복 개선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프롬프트 설계 · 한 번의 완벽한 질문보다 확인 가능한 반복을 설계합니다.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8200" y="2400300"/>
            <a:ext cx="0" cy="3517900"/>
          </a:xfrm>
          <a:prstGeom prst="line">
            <a:avLst/>
          </a:prstGeom>
          <a:ln w="317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92150" y="2560637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150" y="2560637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222500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요청을 구체적으로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5000" y="2222500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대상과 원하는 결과를 분명히 합니다.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3190875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92150" y="3529012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150" y="3529012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190875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맥락과 자료를 충분히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0" y="3190875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모델이 추측할 빈칸을 줄입니다.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4159250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2150" y="4497387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150" y="4497387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159250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제약과 형식을 명시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0" y="4159250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길이·범위·표현 방식을 지정합니다.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5127625.0"/>
            <a:ext cx="103505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92150" y="5465762"/>
            <a:ext cx="292100" cy="2921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2150" y="5465762"/>
            <a:ext cx="292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127625"/>
            <a:ext cx="31750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한 번에 끝내지 않기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0" y="5127625"/>
            <a:ext cx="7048500" cy="968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피드백과 검증으로 결과를 개선합니다.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10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업무 특성에 따라 AI의 역할이 달라집니다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정형성·창의성·위험도를 기준으로 활용 범위를 정합니다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업무 진단 · 오른쪽으로 갈수록 사람의 개입과 승인 수준을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반복적인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01900" y="24574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622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0233" y="23177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8266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563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54333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366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50400" y="23177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9500" y="22225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새로운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500" y="26924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정형적인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01900" y="29273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3622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60233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58266" y="27876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563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54333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52366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50400" y="27876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9500" y="26924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비정형적인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500" y="31623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저위험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01900" y="33972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2362200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60233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58266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56300" y="32575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54333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52366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0400" y="32575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9500" y="31623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고위험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8500" y="36322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근거 명확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501900" y="38671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23622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560233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58266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9563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54333" y="37274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52366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50400" y="37274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9500" y="36322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판단 의존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8500" y="4102100"/>
            <a:ext cx="1524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개인 초안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501900" y="4337050.0"/>
            <a:ext cx="7188200" cy="0.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23622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60233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758266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563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54333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52366" y="4197350"/>
            <a:ext cx="279400" cy="279400"/>
          </a:xfrm>
          <a:prstGeom prst="ellipse">
            <a:avLst/>
          </a:prstGeom>
          <a:solidFill>
            <a:srgbClr val="315CFF"/>
          </a:solidFill>
          <a:ln w="1905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550400" y="4197350"/>
            <a:ext cx="279400" cy="279400"/>
          </a:xfrm>
          <a:prstGeom prst="ellipse">
            <a:avLst/>
          </a:prstGeom>
          <a:solidFill>
            <a:srgbClr val="F7F5F0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69500" y="4102100"/>
            <a:ext cx="1778000" cy="469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공식 결정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49500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주도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7166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사람과 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44833" y="4635500"/>
            <a:ext cx="2497666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사람 주도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11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AI에 맡길 일과 사람이 맡을 일을 구분합니다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속도보다 검토 가능성과 책임 소재를 먼저 봅니다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역할 구분 · 영향이 큰 결정일수록 사람이 근거와 결과를 직접 승인합니다.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2222500"/>
            <a:ext cx="444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역할 적합도 · 4단계 예시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0" y="2222500"/>
            <a:ext cx="254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높음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2540000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반복 작업 정리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94000" y="2859087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94000" y="2859087"/>
            <a:ext cx="6667500" cy="2667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8500" y="2540000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500" y="3444875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초안과 대안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4000" y="3763962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94000" y="3763962"/>
            <a:ext cx="6667500" cy="2667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8500" y="3444875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500" y="4349750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분석 보조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94000" y="4668837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4000" y="4668837"/>
            <a:ext cx="5000625" cy="2667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88500" y="4349750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500" y="5254625"/>
            <a:ext cx="1968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최종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94000" y="5573712"/>
            <a:ext cx="66675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94000" y="5573712"/>
            <a:ext cx="1666875" cy="2667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8500" y="5254625"/>
            <a:ext cx="444500" cy="9048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12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좋은 결과는 입력과 검증의 합입니다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목표·맥락·제약·검토가 결과 품질을 결정합니다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결과 품질 · 프롬프트와 검증은 서로 대체할 수 없는 두 축입니다.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7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23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FFFFF"/>
                </a:solidFill>
                <a:latin typeface="Pretendard"/>
              </a:rPr>
              <a:t>좋은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9AFB8"/>
                </a:solidFill>
                <a:latin typeface="Pretendard"/>
              </a:rPr>
              <a:t>업무에 쓰이는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97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=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12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28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28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명확한 목표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28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원하는 결과와 대상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02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17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3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3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FFFFF"/>
                </a:solidFill>
                <a:latin typeface="Pretendard"/>
              </a:rPr>
              <a:t>충분한 맥락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3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9D3FF"/>
                </a:solidFill>
                <a:latin typeface="Pretendard"/>
              </a:rPr>
              <a:t>자료·조건·제약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750" y="3111500"/>
            <a:ext cx="5715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006B86"/>
                </a:solidFill>
                <a:latin typeface="Arial"/>
              </a:rPr>
              <a:t>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12250" y="2413000"/>
            <a:ext cx="2159000" cy="1778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3850" y="2476500"/>
            <a:ext cx="19558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3850" y="2603500"/>
            <a:ext cx="1955800" cy="148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51821"/>
                </a:solidFill>
                <a:latin typeface="Pretendard"/>
              </a:rPr>
              <a:t>검증 루프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3850" y="3898900"/>
            <a:ext cx="1955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A4A55"/>
                </a:solidFill>
                <a:latin typeface="Pretendard"/>
              </a:rPr>
              <a:t>사실·품질·영향 확인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94500" y="4508500"/>
            <a:ext cx="2286000" cy="0"/>
          </a:xfrm>
          <a:prstGeom prst="line">
            <a:avLst/>
          </a:prstGeom>
          <a:ln w="38100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94500" y="4572000"/>
            <a:ext cx="228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입력이 선명할수록 수정 비용 감소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07500" y="4508500"/>
            <a:ext cx="2286000" cy="0"/>
          </a:xfrm>
          <a:prstGeom prst="line">
            <a:avLst/>
          </a:prstGeom>
          <a:ln w="38100">
            <a:solidFill>
              <a:srgbClr val="74D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207500" y="4572000"/>
            <a:ext cx="228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검증이 없으면 그럴듯한 오류가 남음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13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짧은 반복 루프가 결과를 선명하게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초안 생성·피드백·수정의 짧은 루프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개념 곡선 · 실제 개선 폭은 과제와 모델, 입력 자료에 따라 달라집니다.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09800"/>
            <a:ext cx="7493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결과 선명도 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5500" y="5143500"/>
            <a:ext cx="7239000" cy="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25500" y="2400300"/>
            <a:ext cx="0" cy="2743200"/>
          </a:xfrm>
          <a:prstGeom prst="line">
            <a:avLst/>
          </a:prstGeom>
          <a:ln w="1905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25500" y="3835016"/>
            <a:ext cx="1809750" cy="1308484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35250" y="3065319"/>
            <a:ext cx="1809750" cy="769697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445000" y="2757440"/>
            <a:ext cx="1809750" cy="307879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254750" y="2603500"/>
            <a:ext cx="1809750" cy="153940"/>
          </a:xfrm>
          <a:prstGeom prst="line">
            <a:avLst/>
          </a:prstGeom>
          <a:ln w="571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55650" y="5073650"/>
            <a:ext cx="139700" cy="139700"/>
          </a:xfrm>
          <a:prstGeom prst="ellipse">
            <a:avLst/>
          </a:prstGeom>
          <a:solidFill>
            <a:srgbClr val="00AEDD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0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초안</a:t>
            </a:r>
          </a:p>
        </p:txBody>
      </p:sp>
      <p:sp>
        <p:nvSpPr>
          <p:cNvPr id="22" name="Oval 21"/>
          <p:cNvSpPr/>
          <p:nvPr/>
        </p:nvSpPr>
        <p:spPr>
          <a:xfrm>
            <a:off x="2565400" y="3765166"/>
            <a:ext cx="139700" cy="139700"/>
          </a:xfrm>
          <a:prstGeom prst="ellipse">
            <a:avLst/>
          </a:prstGeom>
          <a:solidFill>
            <a:srgbClr val="00AEDD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075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1차 피드백</a:t>
            </a:r>
          </a:p>
        </p:txBody>
      </p:sp>
      <p:sp>
        <p:nvSpPr>
          <p:cNvPr id="24" name="Oval 23"/>
          <p:cNvSpPr/>
          <p:nvPr/>
        </p:nvSpPr>
        <p:spPr>
          <a:xfrm>
            <a:off x="4375150" y="2995469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2차 수정</a:t>
            </a:r>
          </a:p>
        </p:txBody>
      </p:sp>
      <p:sp>
        <p:nvSpPr>
          <p:cNvPr id="26" name="Oval 25"/>
          <p:cNvSpPr/>
          <p:nvPr/>
        </p:nvSpPr>
        <p:spPr>
          <a:xfrm>
            <a:off x="6184900" y="2687590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1025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3차 검증</a:t>
            </a:r>
          </a:p>
        </p:txBody>
      </p:sp>
      <p:sp>
        <p:nvSpPr>
          <p:cNvPr id="28" name="Oval 27"/>
          <p:cNvSpPr/>
          <p:nvPr/>
        </p:nvSpPr>
        <p:spPr>
          <a:xfrm>
            <a:off x="7994650" y="2533650"/>
            <a:ext cx="139700" cy="139700"/>
          </a:xfrm>
          <a:prstGeom prst="ellipse">
            <a:avLst/>
          </a:prstGeom>
          <a:solidFill>
            <a:srgbClr val="315CFF"/>
          </a:solidFill>
          <a:ln w="31750">
            <a:solidFill>
              <a:srgbClr val="F7F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0" y="5207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최종 정리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9000" y="2222500"/>
            <a:ext cx="2984500" cy="30480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2336800"/>
            <a:ext cx="27559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ITERATION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3300" y="2489200"/>
            <a:ext cx="27559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초기 반복이 결과의 방향을 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3300" y="2857500"/>
            <a:ext cx="2755900" cy="23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초기 반복은 방향을 잡고, 마지막 반복은 사실과 표현을 정교하게 다듬습니다.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14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 활용은 탐색·생성·자동화로 확장됩니다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각 단계에서 사람의 검토 지점을 명확히 둡니다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활용 확장 · 자동화 수준이 높아질수록 권한·기록·중단 조건을 명확히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22500"/>
            <a:ext cx="3048000" cy="571500"/>
          </a:xfrm>
          <a:prstGeom prst="roundRect">
            <a:avLst>
              <a:gd name="adj" fmla="val 15000"/>
            </a:avLst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22500"/>
            <a:ext cx="3048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AI 활용 과제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.0" y="2794000"/>
            <a:ext cx="0.0" cy="2286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30500.0" y="3022600"/>
            <a:ext cx="6731000.0" cy="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305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430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46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탐색과 요약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085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01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초안과 아이디어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61500.0" y="3022600"/>
            <a:ext cx="0.0" cy="177800"/>
          </a:xfrm>
          <a:prstGeom prst="line">
            <a:avLst/>
          </a:prstGeom>
          <a:ln w="254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874000" y="3200400"/>
            <a:ext cx="3175000" cy="635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75600" y="3200400"/>
            <a:ext cx="29718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51821"/>
                </a:solidFill>
                <a:latin typeface="Pretendard"/>
              </a:rPr>
              <a:t>반복 업무 자동화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5500" y="4089400"/>
            <a:ext cx="8001000" cy="2006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09800" y="4203700"/>
            <a:ext cx="7772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HUMAN CHECKPOINT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09800" y="4356100"/>
            <a:ext cx="7772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모든 경로의 끝에는 사람의 검토와 승인이 있습니다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15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AI와 사람은 서로 다른 강점을 가집니다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반복과 초안은 AI, 판단과 책임은 사람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역할 분담 · AI의 출력은 판단 재료이며 최종 결정 그 자체가 아닙니다.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3598333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업무 요소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6833" y="2222500"/>
            <a:ext cx="3598333" cy="4445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3833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AI가 강한 부분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166" y="2222500"/>
            <a:ext cx="3598333" cy="4445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2166" y="2222500"/>
            <a:ext cx="3344333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사람이 맡을 부분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500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정보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3833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많은 자료의 요약·분류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2166" y="26670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출처의 신뢰성과 누락 판단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500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콘텐츠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3833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초안·대안·표현 확장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2166" y="31623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목적·맥락·최종 메시지 결정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500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분석 지원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3833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패턴 후보와 질문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2166" y="36576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원인 해석과 의사결정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8500" y="41529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00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실행 책임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3833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반복 단계 보조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166" y="4152900"/>
            <a:ext cx="3344333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승인·윤리·결과 책임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16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활동: 하나의 업무를 AI 협업으로 바꿉니다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목표 정의부터 최종 검토까지 직접 설계합니다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활동 · 하나의 업무를 검증 가능한 AI 협업으로 바꿉니다.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49500"/>
            <a:ext cx="203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6B86"/>
                </a:solidFill>
                <a:latin typeface="Arial"/>
              </a:rPr>
              <a:t>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603500"/>
            <a:ext cx="2032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하나의 업무를</a:t>
            </a:r>
          </a:p>
          <a:p>
            <a:pPr algn="l">
              <a:lnSpc>
                <a:spcPct val="128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검증 가능한 AI 협업으로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48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00AEDD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9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9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업무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9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반복되는 실제 과제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7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315C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8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역할 분담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8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C9D3FF"/>
                </a:solidFill>
                <a:latin typeface="Pretendard"/>
              </a:rPr>
              <a:t>AI와 사람이 맡을 단계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6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151821"/>
          </a:solidFill>
          <a:ln w="15875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7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7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Pretendard"/>
              </a:rPr>
              <a:t>요청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7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9AFB8"/>
                </a:solidFill>
                <a:latin typeface="Pretendard"/>
              </a:rPr>
              <a:t>목표·맥락·제약·형식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5000" y="3206750"/>
            <a:ext cx="1968500" cy="1905000"/>
          </a:xfrm>
          <a:prstGeom prst="roundRect">
            <a:avLst>
              <a:gd name="adj" fmla="val 12000"/>
            </a:avLst>
          </a:prstGeom>
          <a:solidFill>
            <a:srgbClr val="74D3EA"/>
          </a:solidFill>
          <a:ln w="15875">
            <a:solidFill>
              <a:srgbClr val="74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26600" y="3270250"/>
            <a:ext cx="17653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51821"/>
                </a:solidFill>
                <a:latin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6600" y="3397250"/>
            <a:ext cx="17653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검증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6600" y="4819650"/>
            <a:ext cx="17653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A4A55"/>
                </a:solidFill>
                <a:latin typeface="Pretendard"/>
              </a:rPr>
              <a:t>근거·품질·최종 승인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17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활동: 모호한 프롬프트를 다시 씁니다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요청을 목표·맥락·제약·형식으로 구조화합니다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프롬프트 리팩터링 · 좋은 요청은 결과를 평가할 기준까지 포함합니다.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269875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7250" y="2222500"/>
            <a:ext cx="269875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425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모호한 요청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222500"/>
            <a:ext cx="2698750" cy="4445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00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구조화한 요청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4750" y="2222500"/>
            <a:ext cx="2698750" cy="4445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1750" y="2222500"/>
            <a:ext cx="244475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개선 포인트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425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회의록 정리해 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결정·담당·기한을 표로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1750" y="26670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출력 목적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50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425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메일 써 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신입 대상, 300자, 친절한 안내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1750" y="31623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대상과 제약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0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425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자료 조사해 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300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공식 출처 3개와 확인일 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21750" y="36576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근거 기준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8500" y="41529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50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425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아이디어 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2300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비용별 대안 3개와 위험 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1750" y="4152900"/>
            <a:ext cx="244475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비교 형식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18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토론: AI 활용 위험을 단계별로 줄입니다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입력 전·생성 중·출력 후의 안전장치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위험 관리 · 안전은 마지막 검수가 아니라 전체 흐름에 배치합니다.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3471333" cy="508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98500.0" y="6096000"/>
            <a:ext cx="3471333.3333333335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8500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입력 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500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개인정보 제거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8500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권한 자료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목표와 금지 범위 명시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0333" y="2222500"/>
            <a:ext cx="3471333" cy="508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360333.333333334" y="6096000"/>
            <a:ext cx="3471333.333333334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360333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0333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생성 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0333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1933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출처 요청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0333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1933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가정 표시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60333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1933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여러 대안 비교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2166" y="2222500"/>
            <a:ext cx="3471333" cy="5080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022166.666666667" y="6096000"/>
            <a:ext cx="3471333.333333333" cy="0"/>
          </a:xfrm>
          <a:prstGeom prst="line">
            <a:avLst/>
          </a:prstGeom>
          <a:ln w="12700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22166" y="2374900"/>
            <a:ext cx="3471333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166" y="2540000"/>
            <a:ext cx="3471333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151821"/>
                </a:solidFill>
                <a:latin typeface="Pretendard"/>
              </a:rPr>
              <a:t>출력 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22166" y="29527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3766" y="29527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원문 대조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22166" y="35496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3766" y="35496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편향·누락 점검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2166" y="4146550"/>
            <a:ext cx="3471333" cy="508000"/>
          </a:xfrm>
          <a:prstGeom prst="rect">
            <a:avLst/>
          </a:prstGeom>
          <a:solidFill>
            <a:srgbClr val="F7F5F0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3766" y="4146550"/>
            <a:ext cx="3268133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51821"/>
                </a:solidFill>
                <a:latin typeface="Pretendard"/>
              </a:rPr>
              <a:t>사람의 최종 승인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19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19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형성평가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AI에 입력하면 안 되는 정보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형성평가 1 · 개인정보 보호 원칙을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다음 중 외부 생성형 AI에</a:t>
            </a:r>
          </a:p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그대로 입력하면 안 되는 정보는?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공개된 보도자료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개인정보가 포함된 고객 명단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직접 작성한 일반 문장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공개 라이선스 자료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정답은 근거와 함께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20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형성평가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좋은 프롬프트의 조건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형성평가 2 · 목표·대상·개수·길이·근거 기준이 포함된 요청을 찾습니다.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다음 중 가장 검토하기 쉬운 프롬프트는?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신제품 아이디어를 멋지게 써 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마케팅 문구를 많이 만들어 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20대 신규 고객 대상 문구 3개를 30자 이내로 만들고 근거를 덧붙여 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우리 제품을 무조건 좋게 소개해 줘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정답은 근거와 함께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21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형성평가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그럴듯한 오류를 발견했을 때의 대응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형성평가 3 · 모델 간 일치가 아니라 신뢰 가능한 원문과 근거로 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4318000" cy="3873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2489200"/>
            <a:ext cx="37846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4D3EA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2794000"/>
            <a:ext cx="3784600" cy="298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AI가 출처 없는 수치를 자신 있게 제시했습니다. 적절한 대응은? (복수 정답)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7500" y="22225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11800" y="23050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1800" y="23050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3750" y="22225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공식 원문에서 수치를 확인한다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7500" y="2755900"/>
            <a:ext cx="6096000" cy="444500"/>
          </a:xfrm>
          <a:prstGeom prst="rect">
            <a:avLst/>
          </a:prstGeom>
          <a:solidFill>
            <a:srgbClr val="D4F1F7"/>
          </a:solidFill>
          <a:ln w="15875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11800" y="2838450"/>
            <a:ext cx="279400" cy="279400"/>
          </a:xfrm>
          <a:prstGeom prst="ellipse">
            <a:avLst/>
          </a:prstGeom>
          <a:solidFill>
            <a:srgbClr val="00AEDD"/>
          </a:solidFill>
          <a:ln w="19050">
            <a:solidFill>
              <a:srgbClr val="00A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1800" y="28384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3750" y="27559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51821"/>
                </a:solidFill>
                <a:latin typeface="Pretendard"/>
              </a:rPr>
              <a:t>불확실한 부분을 표시하고 재검증한다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7500" y="32893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11800" y="33718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800" y="33718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3750" y="32893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문장이 자연스러우므로 그대로 사용한다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7500" y="3822700"/>
            <a:ext cx="6096000" cy="444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11800" y="3905250"/>
            <a:ext cx="279400" cy="279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800" y="3905250"/>
            <a:ext cx="2794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Arial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3750" y="3822700"/>
            <a:ext cx="54610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51821"/>
                </a:solidFill>
                <a:latin typeface="Pretendard"/>
              </a:rPr>
              <a:t>다른 AI가 동의하면 사실로 간주한다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7500" y="5842000"/>
            <a:ext cx="6096000" cy="0"/>
          </a:xfrm>
          <a:prstGeom prst="line">
            <a:avLst/>
          </a:prstGeom>
          <a:ln w="1905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5892800"/>
            <a:ext cx="5334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정답은 근거와 함께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31500" y="5892800"/>
            <a:ext cx="762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006B86"/>
                </a:solidFill>
                <a:latin typeface="Arial"/>
              </a:rPr>
              <a:t>A · 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22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생성형 AI 활용의 핵심은 세 가지입니다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구조화된 요청·근거 검증·사람의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핵심 정리 · 좋은 생성형 AI 활용의 세 가지 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22500"/>
            <a:ext cx="2667000" cy="387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D7D9DE"/>
                </a:solidFill>
                <a:latin typeface="Arial"/>
              </a:rPr>
              <a:t>COLLABORATE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73500" y="2222500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7800" y="2336800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7800" y="2489200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구조화된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7800" y="2857500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목표·맥락·자료·제약·형식을 함께 설계합니다.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3500" y="3551766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7800" y="3666066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7800" y="3818466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근거 중심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7800" y="4186766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사실·수치·인용은 신뢰할 수 있는 원문과 대조합니다.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73500" y="4881033"/>
            <a:ext cx="7620000" cy="12149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7800" y="4995333"/>
            <a:ext cx="7391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7800" y="5147733"/>
            <a:ext cx="7391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사람의 책임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7800" y="5516033"/>
            <a:ext cx="7391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AI는 초안을 돕고 사람은 판단과 최종 승인을 맡습니다.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23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AI에 대한 세 가지 오해를 바로잡습니다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정답·중립성·자동화에 대한 현실적인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오개념 점검 · AI의 능력과 책임 범위를 함께 이해합니다.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8500" y="2222500"/>
            <a:ext cx="5397500" cy="444500"/>
          </a:xfrm>
          <a:prstGeom prst="rect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2222500"/>
            <a:ext cx="51435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오해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222500"/>
            <a:ext cx="5397500" cy="444500"/>
          </a:xfrm>
          <a:prstGeom prst="rect">
            <a:avLst/>
          </a:prstGeom>
          <a:solidFill>
            <a:srgbClr val="5D6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2222500"/>
            <a:ext cx="5143500" cy="44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retendard"/>
              </a:rPr>
              <a:t>현실적인 기준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500" y="26670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" y="26670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AI는 항상 정답을 제공한다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26670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자연스러운 결과와 사실의 정확성은 다르다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" y="31623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500" y="31623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AI는 편향 없이 중립적이다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31623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학습 데이터와 요청 방식의 영향을 받는다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" y="3657600"/>
            <a:ext cx="107950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500" y="36576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51821"/>
                </a:solidFill>
                <a:latin typeface="Pretendard"/>
              </a:rPr>
              <a:t>자동화하면 사람의 검토가 필요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000" y="3657600"/>
            <a:ext cx="51435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D6775"/>
                </a:solidFill>
                <a:latin typeface="Pretendard"/>
              </a:rPr>
              <a:t>영향이 클수록 승인과 책임이 더 중요하다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24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24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더 깊이 학습할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원리·위험관리·교육 활용을 잇는 읽을거리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심화 학습 · 원리와 활용, 위험 관리를 균형 있게 확장합니다.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원리와 책임을</a:t>
            </a:r>
          </a:p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함께 확장합니다.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37465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모델의 구조를 이해하고 실제 업무에 필요한 위험 관리 기준을 익힙니다.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7500" y="22225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1800" y="23368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1800" y="24892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Attention Is All You Need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1800" y="28575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Transformer 구조를 이해하는 출발점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7650" y="22225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81950" y="23368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1950" y="24892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NIST AI RMF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1950" y="28575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AI 위험을 식별·측정·관리하는 실무 프레임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7500" y="42164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1800" y="43307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1800" y="44831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UNESCO 생성형 AI 지침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48514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교육에서의 사람 중심 활용 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650" y="4216400"/>
            <a:ext cx="3625850" cy="1879600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81950" y="4330700"/>
            <a:ext cx="339725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1950" y="4483100"/>
            <a:ext cx="3397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AI 튜터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1950" y="4851400"/>
            <a:ext cx="339725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하나의 업무를 프롬프트와 검증 루프로 개선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25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참고 문헌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생성형 AI의 원리와 책임 있는 활용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References · 원리와 책임 있는 활용을 위한 핵심 자료입니다.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31140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11400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Vaswani, A. et al. (2017). Attention Is All You Need. NeurIPS.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8500" y="3165475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8500" y="3279775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79775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Bommasani, R. et al. (2021). On the Opportunities and Risks of Foundation Models.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8500" y="4133850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8500" y="4248150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48150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NIST. (2023). Artificial Intelligence Risk Management Framework 1.0.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8500" y="5102225.0"/>
            <a:ext cx="10795000" cy="0.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98500" y="5216525"/>
            <a:ext cx="381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216525"/>
            <a:ext cx="10350500" cy="777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51821"/>
                </a:solidFill>
                <a:latin typeface="Arial"/>
              </a:rPr>
              <a:t>UNESCO. (2023). Guidance for Generative AI in Education and Research.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26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다음 시간에는 AI 에이전트를 다룹니다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도구를 연결해 여러 단계를 수행하는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다음 교시 · 생성형 AI의 결과에서 에이전트의 행동으로 범위를 넓힙니다.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한 번의 생성에서</a:t>
            </a:r>
          </a:p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51821"/>
                </a:solidFill>
                <a:latin typeface="Pretendard"/>
              </a:rPr>
              <a:t>여러 단계의 실행으로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37465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5D6775"/>
                </a:solidFill>
                <a:latin typeface="Pretendard"/>
              </a:rPr>
              <a:t>다음 교시에는 도구를 사용하고 작업을 이어가는 AI 에이전트를 다룹니다.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7500" y="2222500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D4F1F7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1800" y="2336800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1800" y="2489200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다음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1800" y="2857500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AI 에이전트와 업무 자동화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7500" y="3551766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E0E6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1800" y="3666066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D3FB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1800" y="3818466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151821"/>
                </a:solidFill>
                <a:latin typeface="Pretendard"/>
              </a:rPr>
              <a:t>연결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1800" y="4186766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51821"/>
                </a:solidFill>
                <a:latin typeface="Pretendard"/>
              </a:rPr>
              <a:t>프롬프트 한 번에서 여러 단계의 실행 흐름으로 확장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7500" y="4881033"/>
            <a:ext cx="7366000" cy="121496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1800" y="4995333"/>
            <a:ext cx="7137400" cy="114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51821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1800" y="5147733"/>
            <a:ext cx="7137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D6775"/>
                </a:solidFill>
                <a:latin typeface="Pretendard"/>
              </a:rPr>
              <a:t>예습 질문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5516033"/>
            <a:ext cx="7137400" cy="516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D6775"/>
                </a:solidFill>
                <a:latin typeface="Pretendard"/>
              </a:rPr>
              <a:t>AI에게 도구 사용 권한을 줄 때 어떤 중단 조건이 필요할까?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381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D6775"/>
                </a:solidFill>
                <a:latin typeface="Pretendard"/>
              </a:rPr>
              <a:t>HYCU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381000"/>
            <a:ext cx="7302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AI 리터러시 / Ch.03 생성형 AI와 협업 / 27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0" y="374650"/>
            <a:ext cx="1524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355600"/>
            <a:ext cx="9525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51821"/>
                </a:solidFill>
                <a:latin typeface="Pretendard"/>
              </a:rPr>
              <a:t>27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838200"/>
            <a:ext cx="10795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51821"/>
                </a:solidFill>
                <a:latin typeface="Pretendard"/>
              </a:rPr>
              <a:t>과제: 나만의 AI 협업 가이드를 만듭니다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1333500"/>
            <a:ext cx="1079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D6775"/>
                </a:solidFill>
                <a:latin typeface="Pretendard"/>
              </a:rPr>
              <a:t>하나의 실제 업무를 기준으로 작성합니다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8500" y="2019300"/>
            <a:ext cx="10795000" cy="0"/>
          </a:xfrm>
          <a:prstGeom prst="line">
            <a:avLst/>
          </a:prstGeom>
          <a:ln w="13970">
            <a:solidFill>
              <a:srgbClr val="1518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8500" y="6375400"/>
            <a:ext cx="10795000" cy="0"/>
          </a:xfrm>
          <a:prstGeom prst="line">
            <a:avLst/>
          </a:prstGeom>
          <a:ln w="9525">
            <a:solidFill>
              <a:srgbClr val="D7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8500" y="6464300"/>
            <a:ext cx="825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D6775"/>
                </a:solidFill>
                <a:latin typeface="Pretendard"/>
              </a:rPr>
              <a:t>AI 리터러시  ·  과제 안내 · 결과물보다 협업 과정과 검증 근거를 평가합니다.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464300"/>
            <a:ext cx="1968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5D6775"/>
                </a:solidFill>
                <a:latin typeface="Pretendard"/>
              </a:rPr>
              <a:t>HYCU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500" y="2286000"/>
            <a:ext cx="298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Arial"/>
              </a:rPr>
              <a:t>SUBMIT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2540000"/>
            <a:ext cx="29845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제출 전</a:t>
            </a:r>
          </a:p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51821"/>
                </a:solidFill>
                <a:latin typeface="Pretendard"/>
              </a:rPr>
              <a:t>네 가지만 확인합니다.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27500" y="2222500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2600" y="2222500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222500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실제 업무 한 가지와 기대 결과 정의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27500" y="3216275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2600" y="3216275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216275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AI에 맡길 단계와 사람이 맡을 단계 구분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27500" y="4210050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2600" y="4210050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210050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사용한 프롬프트와 검증 근거 첨부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27500" y="5203825"/>
            <a:ext cx="7366000" cy="8921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2600" y="5203825"/>
            <a:ext cx="444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86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500" y="5203825"/>
            <a:ext cx="6540500" cy="892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51821"/>
                </a:solidFill>
                <a:latin typeface="Pretendard"/>
              </a:rPr>
              <a:t>개인정보·저작권·오류 대응 기준 포함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381000"/>
            <a:ext cx="571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D6775"/>
                </a:solidFill>
                <a:latin typeface="Pretendard"/>
              </a:rPr>
              <a:t>HYCU / AI 리터러시 /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0" y="330200"/>
            <a:ext cx="196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006B86"/>
                </a:solidFill>
                <a:latin typeface="Arial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87400"/>
            <a:ext cx="5207000" cy="3556000"/>
          </a:xfrm>
          <a:prstGeom prst="rect">
            <a:avLst/>
          </a:prstGeom>
          <a:solidFill>
            <a:srgbClr val="EAE6DC"/>
          </a:solidFill>
          <a:ln w="12700">
            <a:solidFill>
              <a:srgbClr val="1518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43660" y="1460500"/>
            <a:ext cx="1143000" cy="1143000"/>
          </a:xfrm>
          <a:prstGeom prst="ellipse">
            <a:avLst/>
          </a:prstGeom>
          <a:solidFill>
            <a:srgbClr val="15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0" y="2476500"/>
            <a:ext cx="889000" cy="889000"/>
          </a:xfrm>
          <a:prstGeom prst="ellipse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038600"/>
            <a:ext cx="4902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6B86"/>
                </a:solidFill>
                <a:latin typeface="Arial"/>
              </a:rPr>
              <a:t>AI GENERATED VISUAL · SOURCE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714500"/>
            <a:ext cx="4572000" cy="139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51821"/>
                </a:solidFill>
                <a:latin typeface="Pretendard"/>
              </a:rPr>
              <a:t>AI는 사고를 확장하는 파트너입니다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48000"/>
            <a:ext cx="457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0">
                <a:solidFill>
                  <a:srgbClr val="5D6775"/>
                </a:solidFill>
                <a:latin typeface="Pretendard"/>
              </a:rPr>
              <a:t>생성은 AI와 함께, 판단과 책임은 사람이 맡습니다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0" y="3556000"/>
            <a:ext cx="571500" cy="57150"/>
          </a:xfrm>
          <a:prstGeom prst="rect">
            <a:avLst/>
          </a:prstGeom>
          <a:solidFill>
            <a:srgbClr val="00A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21500" y="3556000"/>
            <a:ext cx="571500" cy="5715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0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원리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875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요청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1750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D6775"/>
                </a:solidFill>
                <a:latin typeface="Pretendard"/>
              </a:rPr>
              <a:t>결과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07625" y="6223000"/>
            <a:ext cx="11588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06B86"/>
                </a:solidFill>
                <a:latin typeface="Pretendard"/>
              </a:rPr>
              <a:t>책임 있는 활용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