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229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91B8"/>
                </a:solidFill>
                <a:latin typeface="Inter"/>
              </a:rPr>
              <a:t>AI Literacy · AIG101 · 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07008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5A6473"/>
                </a:solidFill>
                <a:latin typeface="Inter"/>
              </a:rPr>
              <a:t>Ch.03 Working with 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4600" b="1" i="0">
                <a:solidFill>
                  <a:srgbClr val="0E1116"/>
                </a:solidFill>
                <a:latin typeface="Inter"/>
              </a:rPr>
              <a:t>Understanding and Applying Generative AI at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A6473"/>
                </a:solidFill>
                <a:latin typeface="Inter"/>
              </a:rPr>
              <a:t>Learning to work with AI, not just use it quickly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709160"/>
            <a:ext cx="1463040" cy="38100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9377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Prof. Hong Gil-dong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3036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A8390"/>
                </a:solidFill>
                <a:latin typeface="Inter"/>
              </a:rPr>
              <a:t>Hanyang Cyber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217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6ADB6"/>
                </a:solidFill>
                <a:latin typeface="Inter"/>
              </a:rPr>
              <a:t>50 min · 28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950976" cy="274320"/>
          </a:xfrm>
          <a:prstGeom prst="rect">
            <a:avLst/>
          </a:prstGeom>
          <a:noFill/>
          <a:ln w="1587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315CFF"/>
                </a:solidFill>
                <a:latin typeface="Inter"/>
              </a:rPr>
              <a:t>A  · 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Ask Four Questions Before You Use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Building standards for use and verification, from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02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49808" cy="274320"/>
          </a:xfrm>
          <a:prstGeom prst="rect">
            <a:avLst/>
          </a:prstGeom>
          <a:noFill/>
          <a:ln w="1587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315CFF"/>
                </a:solidFill>
                <a:latin typeface="Inter"/>
              </a:rPr>
              <a:t>D  ·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Today's Learning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Understand, design, verify, and use responsibly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03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52344"/>
            <a:ext cx="457200" cy="457200"/>
          </a:xfrm>
          <a:prstGeom prst="rect">
            <a:avLst/>
          </a:prstGeom>
          <a:solidFill>
            <a:srgbClr val="E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523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D3FB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2734056"/>
            <a:ext cx="46360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E2530"/>
                </a:solidFill>
                <a:latin typeface="Inter"/>
              </a:rPr>
              <a:t>Explain how generative AI produces results based on 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752344"/>
            <a:ext cx="457200" cy="457200"/>
          </a:xfrm>
          <a:prstGeom prst="rect">
            <a:avLst/>
          </a:prstGeom>
          <a:solidFill>
            <a:srgbClr val="E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7523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D3FBF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2734056"/>
            <a:ext cx="46360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E2530"/>
                </a:solidFill>
                <a:latin typeface="Inter"/>
              </a:rPr>
              <a:t>Design prompts that include goal, context, data, constraints, and format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03904"/>
            <a:ext cx="457200" cy="457200"/>
          </a:xfrm>
          <a:prstGeom prst="rect">
            <a:avLst/>
          </a:prstGeom>
          <a:solidFill>
            <a:srgbClr val="E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8039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D3FBF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785616"/>
            <a:ext cx="46360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E2530"/>
                </a:solidFill>
                <a:latin typeface="Inter"/>
              </a:rPr>
              <a:t>Verify AI output's errors and limits using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803904"/>
            <a:ext cx="457200" cy="457200"/>
          </a:xfrm>
          <a:prstGeom prst="rect">
            <a:avLst/>
          </a:prstGeom>
          <a:solidFill>
            <a:srgbClr val="E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8039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D3FBF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785616"/>
            <a:ext cx="46360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E2530"/>
                </a:solidFill>
                <a:latin typeface="Inter"/>
              </a:rPr>
              <a:t>Divide roles between people and AI considering privacy and copyright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9262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7A8390"/>
                </a:solidFill>
                <a:latin typeface="Inter"/>
              </a:rPr>
              <a:t>KEYWORDS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312664"/>
            <a:ext cx="1536192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12664"/>
            <a:ext cx="15361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Generative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76272" y="5312664"/>
            <a:ext cx="832104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76272" y="5312664"/>
            <a:ext cx="8321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Prompt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45536" y="5312664"/>
            <a:ext cx="1435608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45536" y="5312664"/>
            <a:ext cx="143560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Verification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18304" y="5312664"/>
            <a:ext cx="1536192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4" y="5312664"/>
            <a:ext cx="15361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Hallucination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91656" y="5312664"/>
            <a:ext cx="1636776" cy="310896"/>
          </a:xfrm>
          <a:prstGeom prst="rect">
            <a:avLst/>
          </a:prstGeom>
          <a:solidFill>
            <a:srgbClr val="F5F7FA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5312664"/>
            <a:ext cx="16367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Responsible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749808" cy="274320"/>
          </a:xfrm>
          <a:prstGeom prst="rect">
            <a:avLst/>
          </a:prstGeom>
          <a:noFill/>
          <a:ln w="1587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315CFF"/>
                </a:solidFill>
                <a:latin typeface="Inter"/>
              </a:rPr>
              <a:t>D  ·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Master the Full AI Collaboration Process in 50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A learning path from understanding principles to practice and judgment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04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346704"/>
            <a:ext cx="11155680" cy="2540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90472" y="3255264"/>
            <a:ext cx="256032" cy="256032"/>
          </a:xfrm>
          <a:prstGeom prst="ellipse">
            <a:avLst/>
          </a:prstGeom>
          <a:solidFill>
            <a:srgbClr val="315CF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666744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68496"/>
            <a:ext cx="22311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473"/>
                </a:solidFill>
                <a:latin typeface="Inter"/>
              </a:rPr>
              <a:t>Diagnose experience</a:t>
            </a:r>
          </a:p>
        </p:txBody>
      </p:sp>
      <p:sp>
        <p:nvSpPr>
          <p:cNvPr id="14" name="Oval 13"/>
          <p:cNvSpPr/>
          <p:nvPr/>
        </p:nvSpPr>
        <p:spPr>
          <a:xfrm>
            <a:off x="3721608" y="3255264"/>
            <a:ext cx="256032" cy="256032"/>
          </a:xfrm>
          <a:prstGeom prst="ellipse">
            <a:avLst/>
          </a:prstGeom>
          <a:solidFill>
            <a:srgbClr val="315CF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3666744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4056" y="3968496"/>
            <a:ext cx="22311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473"/>
                </a:solidFill>
                <a:latin typeface="Inter"/>
              </a:rPr>
              <a:t>Design goals</a:t>
            </a:r>
          </a:p>
        </p:txBody>
      </p:sp>
      <p:sp>
        <p:nvSpPr>
          <p:cNvPr id="17" name="Oval 16"/>
          <p:cNvSpPr/>
          <p:nvPr/>
        </p:nvSpPr>
        <p:spPr>
          <a:xfrm>
            <a:off x="5952744" y="3255264"/>
            <a:ext cx="256032" cy="256032"/>
          </a:xfrm>
          <a:prstGeom prst="ellipse">
            <a:avLst/>
          </a:prstGeom>
          <a:solidFill>
            <a:srgbClr val="0091B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5192" y="3666744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Develop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3968496"/>
            <a:ext cx="22311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473"/>
                </a:solidFill>
                <a:latin typeface="Inter"/>
              </a:rPr>
              <a:t>Learn principles</a:t>
            </a:r>
          </a:p>
        </p:txBody>
      </p:sp>
      <p:sp>
        <p:nvSpPr>
          <p:cNvPr id="20" name="Oval 19"/>
          <p:cNvSpPr/>
          <p:nvPr/>
        </p:nvSpPr>
        <p:spPr>
          <a:xfrm>
            <a:off x="8183880" y="3255264"/>
            <a:ext cx="256032" cy="256032"/>
          </a:xfrm>
          <a:prstGeom prst="ellipse">
            <a:avLst/>
          </a:prstGeom>
          <a:solidFill>
            <a:srgbClr val="0091B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6328" y="3666744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Implement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8" y="3968496"/>
            <a:ext cx="22311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473"/>
                </a:solidFill>
                <a:latin typeface="Inter"/>
              </a:rPr>
              <a:t>Hands-on practice</a:t>
            </a:r>
          </a:p>
        </p:txBody>
      </p:sp>
      <p:sp>
        <p:nvSpPr>
          <p:cNvPr id="23" name="Oval 22"/>
          <p:cNvSpPr/>
          <p:nvPr/>
        </p:nvSpPr>
        <p:spPr>
          <a:xfrm>
            <a:off x="10415016" y="3255264"/>
            <a:ext cx="256032" cy="256032"/>
          </a:xfrm>
          <a:prstGeom prst="ellipse">
            <a:avLst/>
          </a:prstGeom>
          <a:solidFill>
            <a:srgbClr val="22A0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7464" y="3666744"/>
            <a:ext cx="2231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Evaluate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7464" y="3968496"/>
            <a:ext cx="22311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A6473"/>
                </a:solidFill>
                <a:latin typeface="Inter"/>
              </a:rPr>
              <a:t>Assess &amp; wrap-up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50392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Dv  · 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Generative AI Predicts and Creates the Next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A system combining learned patterns with user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05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06624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3F4753"/>
                </a:solidFill>
                <a:latin typeface="Inter"/>
              </a:rPr>
              <a:t>Generative AI is trained to predict "the most probable next result" from massive data. The user's input (prompt) provides the context that starts this prediction — it isn't finding an answer, but generating a new plausible result based on learned patterns.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306824"/>
            <a:ext cx="11155680" cy="822960"/>
          </a:xfrm>
          <a:prstGeom prst="rect">
            <a:avLst/>
          </a:prstGeom>
          <a:solidFill>
            <a:srgbClr val="F5F7FA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443984"/>
            <a:ext cx="10607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Generative AI = learned patterns + user input → newly generated result. The key is "generation," not "search."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  <a:ln w="12700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15CFF"/>
                </a:solidFill>
                <a:latin typeface="Inter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897880"/>
            <a:ext cx="9326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E2530"/>
                </a:solidFill>
                <a:latin typeface="Inter"/>
              </a:rPr>
              <a:t>Using the principle you just learned, explain why an AI's answer isn't always correct.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50392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Dv  · 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AI Has Evolved from Rules to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The shifting role of AI from rule-based systems to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06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255264"/>
            <a:ext cx="2548890" cy="1920240"/>
          </a:xfrm>
          <a:prstGeom prst="rect">
            <a:avLst/>
          </a:prstGeom>
          <a:solidFill>
            <a:srgbClr val="A6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19856"/>
            <a:ext cx="21831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12664"/>
            <a:ext cx="25488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Rule-Based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60136"/>
            <a:ext cx="254889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A6473"/>
                </a:solidFill>
                <a:latin typeface="Inter"/>
              </a:rPr>
              <a:t>Judgment via fixed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1850" y="2935224"/>
            <a:ext cx="2548890" cy="2240280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4730" y="3099816"/>
            <a:ext cx="21831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1850" y="5312664"/>
            <a:ext cx="25488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Statistics /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1850" y="5660136"/>
            <a:ext cx="254889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A6473"/>
                </a:solidFill>
                <a:latin typeface="Inter"/>
              </a:rPr>
              <a:t>Learning patterns from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0780" y="2615184"/>
            <a:ext cx="2548890" cy="2560320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779776"/>
            <a:ext cx="21831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780" y="5312664"/>
            <a:ext cx="25488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Deep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0780" y="5660136"/>
            <a:ext cx="254889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A6473"/>
                </a:solidFill>
                <a:latin typeface="Inter"/>
              </a:rPr>
              <a:t>Extracting complex features automatically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09710" y="2295144"/>
            <a:ext cx="2548890" cy="288036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2590" y="2459736"/>
            <a:ext cx="218313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9710" y="5312664"/>
            <a:ext cx="25488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Generative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9710" y="5660136"/>
            <a:ext cx="254889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5A6473"/>
                </a:solidFill>
                <a:latin typeface="Inter"/>
              </a:rPr>
              <a:t>Generating new results from learned patterns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09710" y="2295144"/>
            <a:ext cx="2548890" cy="2880360"/>
          </a:xfrm>
          <a:prstGeom prst="rect">
            <a:avLst/>
          </a:prstGeom>
          <a:noFill/>
          <a:ln w="25400">
            <a:solidFill>
              <a:srgbClr val="00B5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50392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Dv  · 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A Good Prompt Has Five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Designing goal, context, data, constraints, and format at once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07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889504"/>
            <a:ext cx="204825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889504"/>
            <a:ext cx="2048256" cy="82296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9504"/>
            <a:ext cx="20482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9624"/>
            <a:ext cx="17739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473"/>
                </a:solidFill>
                <a:latin typeface="Inter"/>
              </a:rPr>
              <a:t>What do you want?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9776" y="2889504"/>
            <a:ext cx="204825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9776" y="2889504"/>
            <a:ext cx="2048256" cy="822960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9776" y="2889504"/>
            <a:ext cx="20482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6" y="3849624"/>
            <a:ext cx="17739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473"/>
                </a:solidFill>
                <a:latin typeface="Inter"/>
              </a:rPr>
              <a:t>What situation/background?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6632" y="2889504"/>
            <a:ext cx="204825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56632" y="2889504"/>
            <a:ext cx="2048256" cy="822960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6632" y="2889504"/>
            <a:ext cx="20482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3849624"/>
            <a:ext cx="17739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473"/>
                </a:solidFill>
                <a:latin typeface="Inter"/>
              </a:rPr>
              <a:t>What evidence to reference?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89504"/>
            <a:ext cx="204825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33488" y="2889504"/>
            <a:ext cx="2048256" cy="822960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2889504"/>
            <a:ext cx="20482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3849624"/>
            <a:ext cx="17739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473"/>
                </a:solidFill>
                <a:latin typeface="Inter"/>
              </a:rPr>
              <a:t>What conditions to follow?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10344" y="2889504"/>
            <a:ext cx="204825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10344" y="2889504"/>
            <a:ext cx="2048256" cy="822960"/>
          </a:xfrm>
          <a:prstGeom prst="rect">
            <a:avLst/>
          </a:prstGeom>
          <a:solidFill>
            <a:srgbClr val="1D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2889504"/>
            <a:ext cx="2048256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Output Format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849624"/>
            <a:ext cx="177393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A6473"/>
                </a:solidFill>
                <a:latin typeface="Inter"/>
              </a:rPr>
              <a:t>In what form will you receive it?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404104"/>
            <a:ext cx="11155680" cy="594360"/>
          </a:xfrm>
          <a:prstGeom prst="rect">
            <a:avLst/>
          </a:prstGeom>
          <a:solidFill>
            <a:srgbClr val="F5F7FA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404104"/>
            <a:ext cx="106070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E2530"/>
                </a:solidFill>
                <a:latin typeface="Inter"/>
              </a:rPr>
              <a:t>A prompt with all five elements leaves less for the AI to guess, bringing it closer to the result you want.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50392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Dv  · 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AI's Speed Needs Human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Let AI generate, but keep judgment and responsibility with people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08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52344"/>
            <a:ext cx="53949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52344"/>
            <a:ext cx="5394960" cy="502920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52344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What AI Does Well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575304"/>
            <a:ext cx="82296" cy="82296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83864"/>
            <a:ext cx="4617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E2530"/>
                </a:solidFill>
                <a:latin typeface="Inter"/>
              </a:rPr>
              <a:t>Fast drafts &amp; alternatives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88536"/>
            <a:ext cx="82296" cy="82296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97096"/>
            <a:ext cx="4617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E2530"/>
                </a:solidFill>
                <a:latin typeface="Inter"/>
              </a:rPr>
              <a:t>Automating repetitive tasks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001768"/>
            <a:ext cx="82296" cy="82296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910328"/>
            <a:ext cx="4617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E2530"/>
                </a:solidFill>
                <a:latin typeface="Inter"/>
              </a:rPr>
              <a:t>Summarizing large volumes of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752344"/>
            <a:ext cx="53949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752344"/>
            <a:ext cx="5394960" cy="502920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752344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What People Must Keep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3575304"/>
            <a:ext cx="82296" cy="82296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483864"/>
            <a:ext cx="4617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E2530"/>
                </a:solidFill>
                <a:latin typeface="Inter"/>
              </a:rPr>
              <a:t>Fact-checking and verification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288536"/>
            <a:ext cx="82296" cy="82296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4197096"/>
            <a:ext cx="4617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E2530"/>
                </a:solidFill>
                <a:latin typeface="Inter"/>
              </a:rPr>
              <a:t>Final judgment and approval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5001768"/>
            <a:ext cx="82296" cy="82296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910328"/>
            <a:ext cx="4617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E2530"/>
                </a:solidFill>
                <a:latin typeface="Inter"/>
              </a:rPr>
              <a:t>Privacy and copyright responsibility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50392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Dv  · 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Prompts Get Clearer with Four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Specificity, context, constraints, iterative refinement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09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52344"/>
            <a:ext cx="457200" cy="457200"/>
          </a:xfrm>
          <a:prstGeom prst="rect">
            <a:avLst/>
          </a:prstGeom>
          <a:noFill/>
          <a:ln w="1587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523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15CF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34056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E2530"/>
                </a:solidFill>
                <a:latin typeface="Inter"/>
              </a:rPr>
              <a:t>Be Specific in Your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734056"/>
            <a:ext cx="6537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473"/>
                </a:solidFill>
                <a:latin typeface="Inter"/>
              </a:rPr>
              <a:t>Make the target and desired result explicit.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55848"/>
            <a:ext cx="11155680" cy="9525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410712"/>
            <a:ext cx="457200" cy="457200"/>
          </a:xfrm>
          <a:prstGeom prst="rect">
            <a:avLst/>
          </a:prstGeom>
          <a:noFill/>
          <a:ln w="1587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107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15CFF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92424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E2530"/>
                </a:solidFill>
                <a:latin typeface="Inter"/>
              </a:rPr>
              <a:t>Provide Enough Context and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92424"/>
            <a:ext cx="6537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473"/>
                </a:solidFill>
                <a:latin typeface="Inter"/>
              </a:rPr>
              <a:t>Reduce blanks the model has to guess.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14216"/>
            <a:ext cx="11155680" cy="9525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069080"/>
            <a:ext cx="457200" cy="457200"/>
          </a:xfrm>
          <a:prstGeom prst="rect">
            <a:avLst/>
          </a:prstGeom>
          <a:noFill/>
          <a:ln w="1587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690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15CFF"/>
                </a:solidFill>
                <a:latin typeface="Inte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50792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E2530"/>
                </a:solidFill>
                <a:latin typeface="Inter"/>
              </a:rPr>
              <a:t>Specify Constraints and Format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050792"/>
            <a:ext cx="6537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473"/>
                </a:solidFill>
                <a:latin typeface="Inter"/>
              </a:rPr>
              <a:t>Set length, scope, and expression style.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72584"/>
            <a:ext cx="11155680" cy="9525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727448"/>
            <a:ext cx="457200" cy="457200"/>
          </a:xfrm>
          <a:prstGeom prst="rect">
            <a:avLst/>
          </a:prstGeom>
          <a:noFill/>
          <a:ln w="1587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7274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15CFF"/>
                </a:solidFill>
                <a:latin typeface="Inter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709160"/>
            <a:ext cx="3840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E2530"/>
                </a:solidFill>
                <a:latin typeface="Inter"/>
              </a:rPr>
              <a:t>Don't Stop at One 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709160"/>
            <a:ext cx="6537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5A6473"/>
                </a:solidFill>
                <a:latin typeface="Inter"/>
              </a:rPr>
              <a:t>Improve results through feedback and verification.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50392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Dv  · 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AI's Role Changes with the Nature of the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Set the scope of use based on structure, creativity, and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10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06624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Repetitive</a:t>
            </a:r>
          </a:p>
        </p:txBody>
      </p:sp>
      <p:sp>
        <p:nvSpPr>
          <p:cNvPr id="11" name="Oval 10"/>
          <p:cNvSpPr/>
          <p:nvPr/>
        </p:nvSpPr>
        <p:spPr>
          <a:xfrm>
            <a:off x="2423160" y="2798064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19272" y="2798064"/>
            <a:ext cx="219456" cy="219456"/>
          </a:xfrm>
          <a:prstGeom prst="ellipse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15384" y="2798064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11496" y="2798064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07608" y="2798064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03720" y="2798064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2" y="2798064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2706624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Novel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182112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Structured</a:t>
            </a:r>
          </a:p>
        </p:txBody>
      </p:sp>
      <p:sp>
        <p:nvSpPr>
          <p:cNvPr id="20" name="Oval 19"/>
          <p:cNvSpPr/>
          <p:nvPr/>
        </p:nvSpPr>
        <p:spPr>
          <a:xfrm>
            <a:off x="2423160" y="3273552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19272" y="3273552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15384" y="3273552"/>
            <a:ext cx="219456" cy="219456"/>
          </a:xfrm>
          <a:prstGeom prst="ellipse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496" y="3273552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07608" y="3273552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03720" y="3273552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99832" y="3273552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3182112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Unstructured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657600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Low Risk</a:t>
            </a:r>
          </a:p>
        </p:txBody>
      </p:sp>
      <p:sp>
        <p:nvSpPr>
          <p:cNvPr id="29" name="Oval 28"/>
          <p:cNvSpPr/>
          <p:nvPr/>
        </p:nvSpPr>
        <p:spPr>
          <a:xfrm>
            <a:off x="2423160" y="3749040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19272" y="3749040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215384" y="3749040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496" y="3749040"/>
            <a:ext cx="219456" cy="219456"/>
          </a:xfrm>
          <a:prstGeom prst="ellipse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07608" y="3749040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903720" y="3749040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99832" y="3749040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3657600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High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133088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Clear Evidence</a:t>
            </a:r>
          </a:p>
        </p:txBody>
      </p:sp>
      <p:sp>
        <p:nvSpPr>
          <p:cNvPr id="38" name="Oval 37"/>
          <p:cNvSpPr/>
          <p:nvPr/>
        </p:nvSpPr>
        <p:spPr>
          <a:xfrm>
            <a:off x="2423160" y="4224528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19272" y="4224528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15384" y="4224528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111496" y="4224528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07608" y="4224528"/>
            <a:ext cx="219456" cy="219456"/>
          </a:xfrm>
          <a:prstGeom prst="ellipse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03720" y="4224528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99832" y="4224528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4133088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Judgment-Dependent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608576"/>
            <a:ext cx="17373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Personal Draft</a:t>
            </a:r>
          </a:p>
        </p:txBody>
      </p:sp>
      <p:sp>
        <p:nvSpPr>
          <p:cNvPr id="47" name="Oval 46"/>
          <p:cNvSpPr/>
          <p:nvPr/>
        </p:nvSpPr>
        <p:spPr>
          <a:xfrm>
            <a:off x="2423160" y="4700016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319272" y="4700016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15384" y="4700016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11496" y="4700016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007608" y="4700016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03720" y="4700016"/>
            <a:ext cx="219456" cy="219456"/>
          </a:xfrm>
          <a:prstGeom prst="ellipse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799832" y="4700016"/>
            <a:ext cx="219456" cy="219456"/>
          </a:xfrm>
          <a:prstGeom prst="ellipse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5400" y="4608576"/>
            <a:ext cx="2743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Official Decision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23160" y="5221224"/>
            <a:ext cx="2090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7A8390"/>
                </a:solidFill>
                <a:latin typeface="Inter"/>
              </a:rPr>
              <a:t>AI-Led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14088" y="5221224"/>
            <a:ext cx="2090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7A8390"/>
                </a:solidFill>
                <a:latin typeface="Inter"/>
              </a:rPr>
              <a:t>Collaborative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5016" y="5221224"/>
            <a:ext cx="2090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7A8390"/>
                </a:solidFill>
                <a:latin typeface="Inter"/>
              </a:rPr>
              <a:t>Human-Led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50392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Dv  · 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Distinguish What to Delegate to AI and What to Keep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Look at reviewability and accountability before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11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694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A8390"/>
                </a:solidFill>
                <a:latin typeface="Inter"/>
              </a:rPr>
              <a:t>Role Fit · 4-Point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6" y="25694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7A8390"/>
                </a:solidFill>
                <a:latin typeface="Inter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9504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Organizing repetitive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971800"/>
            <a:ext cx="7315200" cy="2468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2971800"/>
            <a:ext cx="7315200" cy="246888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2889504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456432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Drafting alternatives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538728"/>
            <a:ext cx="7315200" cy="2468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7520" y="3538728"/>
            <a:ext cx="7315200" cy="246888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9880" y="3456432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23360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Analysis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105656"/>
            <a:ext cx="7315200" cy="2468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4105656"/>
            <a:ext cx="5486400" cy="246888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4023360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90288"/>
            <a:ext cx="2377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Final approval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4672584"/>
            <a:ext cx="7315200" cy="246888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17520" y="4672584"/>
            <a:ext cx="1828800" cy="246888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4590288"/>
            <a:ext cx="548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2530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50392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Dv  · 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Good Results Are the Sum of Input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Goal, context, constraints, and review determine result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12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6607" y="2843784"/>
            <a:ext cx="23317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6607" y="2843784"/>
            <a:ext cx="2331720" cy="73152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487" y="3026664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1116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487" y="337413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E2530"/>
                </a:solidFill>
                <a:latin typeface="Inter"/>
              </a:rPr>
              <a:t>Good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487" y="3849624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A6473"/>
                </a:solidFill>
                <a:latin typeface="Inter"/>
              </a:rPr>
              <a:t>Output used at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8327" y="3346704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7A8390"/>
                </a:solidFill>
                <a:latin typeface="Inter"/>
              </a:rPr>
              <a:t>=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35527" y="2843784"/>
            <a:ext cx="23317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5527" y="2843784"/>
            <a:ext cx="2331720" cy="73152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8407" y="3026664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91B8"/>
                </a:solidFill>
                <a:latin typeface="Inter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8407" y="337413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E2530"/>
                </a:solidFill>
                <a:latin typeface="Inter"/>
              </a:rPr>
              <a:t>Clear Goals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8407" y="3849624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A6473"/>
                </a:solidFill>
                <a:latin typeface="Inter"/>
              </a:rPr>
              <a:t>Desired result and 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7247" y="3346704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7A8390"/>
                </a:solidFill>
                <a:latin typeface="Inter"/>
              </a:rPr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4447" y="2843784"/>
            <a:ext cx="23317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24447" y="2843784"/>
            <a:ext cx="2331720" cy="73152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3026664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15CFF"/>
                </a:solidFill>
                <a:latin typeface="Inter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7327" y="337413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E2530"/>
                </a:solidFill>
                <a:latin typeface="Inter"/>
              </a:rPr>
              <a:t>Sufficient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7327" y="3849624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A6473"/>
                </a:solidFill>
                <a:latin typeface="Inter"/>
              </a:rPr>
              <a:t>Data, conditions, constraints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6167" y="3346704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7A8390"/>
                </a:solidFill>
                <a:latin typeface="Inter"/>
              </a:rPr>
              <a:t>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13367" y="2843784"/>
            <a:ext cx="23317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13367" y="2843784"/>
            <a:ext cx="2331720" cy="73152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6247" y="3026664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091B8"/>
                </a:solidFill>
                <a:latin typeface="Inter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6247" y="3374136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E2530"/>
                </a:solidFill>
                <a:latin typeface="Inter"/>
              </a:rPr>
              <a:t>Verification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6247" y="3849624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A6473"/>
                </a:solidFill>
                <a:latin typeface="Inter"/>
              </a:rPr>
              <a:t>Check facts, quality, impact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72584"/>
            <a:ext cx="82296" cy="82296"/>
          </a:xfrm>
          <a:prstGeom prst="rect">
            <a:avLst/>
          </a:prstGeom>
          <a:solidFill>
            <a:srgbClr val="7A83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59028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3"/>
                </a:solidFill>
                <a:latin typeface="Inter"/>
              </a:rPr>
              <a:t>The clearer the input, the lower the revision cost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72584"/>
            <a:ext cx="82296" cy="82296"/>
          </a:xfrm>
          <a:prstGeom prst="rect">
            <a:avLst/>
          </a:prstGeom>
          <a:solidFill>
            <a:srgbClr val="7A83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590288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A6473"/>
                </a:solidFill>
                <a:latin typeface="Inter"/>
              </a:rPr>
              <a:t>Without verification, plausible errors remain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50392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Dv  · 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Short Feedback Loops Sharpen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A short loop of draft, feedback, and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13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59736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7A8390"/>
                </a:solidFill>
                <a:latin typeface="Inter"/>
              </a:rPr>
              <a:t>Result Clarity 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358384"/>
            <a:ext cx="6126480" cy="1270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52344"/>
            <a:ext cx="12700" cy="26060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777240" y="3026664"/>
            <a:ext cx="6126480" cy="2331720"/>
          </a:xfrm>
          <a:prstGeom prst="bentConnector3">
            <a:avLst/>
          </a:prstGeom>
          <a:ln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77240" y="4157195"/>
            <a:ext cx="1531620" cy="1201189"/>
          </a:xfrm>
          <a:prstGeom prst="bentConnector3">
            <a:avLst/>
          </a:prstGeom>
          <a:ln w="28575">
            <a:solidFill>
              <a:srgbClr val="31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308860" y="3450614"/>
            <a:ext cx="1531620" cy="706581"/>
          </a:xfrm>
          <a:prstGeom prst="bentConnector3">
            <a:avLst/>
          </a:prstGeom>
          <a:ln w="28575">
            <a:solidFill>
              <a:srgbClr val="31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840480" y="3167981"/>
            <a:ext cx="1531620" cy="282633"/>
          </a:xfrm>
          <a:prstGeom prst="bentConnector3">
            <a:avLst/>
          </a:prstGeom>
          <a:ln w="28575">
            <a:solidFill>
              <a:srgbClr val="31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372100" y="3026664"/>
            <a:ext cx="1531620" cy="141317"/>
          </a:xfrm>
          <a:prstGeom prst="bentConnector3">
            <a:avLst/>
          </a:prstGeom>
          <a:ln w="28575">
            <a:solidFill>
              <a:srgbClr val="31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94944" y="5276088"/>
            <a:ext cx="164592" cy="164592"/>
          </a:xfrm>
          <a:prstGeom prst="ellipse">
            <a:avLst/>
          </a:prstGeom>
          <a:solidFill>
            <a:srgbClr val="0091B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54315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473"/>
                </a:solidFill>
                <a:latin typeface="Inter"/>
              </a:rPr>
              <a:t>Draft</a:t>
            </a:r>
          </a:p>
        </p:txBody>
      </p:sp>
      <p:sp>
        <p:nvSpPr>
          <p:cNvPr id="20" name="Oval 19"/>
          <p:cNvSpPr/>
          <p:nvPr/>
        </p:nvSpPr>
        <p:spPr>
          <a:xfrm>
            <a:off x="2226564" y="4074899"/>
            <a:ext cx="164592" cy="164592"/>
          </a:xfrm>
          <a:prstGeom prst="ellipse">
            <a:avLst/>
          </a:prstGeom>
          <a:solidFill>
            <a:srgbClr val="0091B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5940" y="54315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473"/>
                </a:solidFill>
                <a:latin typeface="Inter"/>
              </a:rPr>
              <a:t>Feedback 1</a:t>
            </a:r>
          </a:p>
        </p:txBody>
      </p:sp>
      <p:sp>
        <p:nvSpPr>
          <p:cNvPr id="22" name="Oval 21"/>
          <p:cNvSpPr/>
          <p:nvPr/>
        </p:nvSpPr>
        <p:spPr>
          <a:xfrm>
            <a:off x="3758184" y="3368318"/>
            <a:ext cx="164592" cy="164592"/>
          </a:xfrm>
          <a:prstGeom prst="ellipse">
            <a:avLst/>
          </a:prstGeom>
          <a:solidFill>
            <a:srgbClr val="315C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54315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473"/>
                </a:solidFill>
                <a:latin typeface="Inter"/>
              </a:rPr>
              <a:t>Revision 2</a:t>
            </a:r>
          </a:p>
        </p:txBody>
      </p:sp>
      <p:sp>
        <p:nvSpPr>
          <p:cNvPr id="24" name="Oval 23"/>
          <p:cNvSpPr/>
          <p:nvPr/>
        </p:nvSpPr>
        <p:spPr>
          <a:xfrm>
            <a:off x="5289804" y="3085685"/>
            <a:ext cx="164592" cy="164592"/>
          </a:xfrm>
          <a:prstGeom prst="ellipse">
            <a:avLst/>
          </a:prstGeom>
          <a:solidFill>
            <a:srgbClr val="315C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9180" y="54315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473"/>
                </a:solidFill>
                <a:latin typeface="Inter"/>
              </a:rPr>
              <a:t>Verify 3</a:t>
            </a:r>
          </a:p>
        </p:txBody>
      </p:sp>
      <p:sp>
        <p:nvSpPr>
          <p:cNvPr id="26" name="Oval 25"/>
          <p:cNvSpPr/>
          <p:nvPr/>
        </p:nvSpPr>
        <p:spPr>
          <a:xfrm>
            <a:off x="6821424" y="2944368"/>
            <a:ext cx="164592" cy="164592"/>
          </a:xfrm>
          <a:prstGeom prst="ellipse">
            <a:avLst/>
          </a:prstGeom>
          <a:solidFill>
            <a:srgbClr val="315C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4315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A6473"/>
                </a:solidFill>
                <a:latin typeface="Inter"/>
              </a:rPr>
              <a:t>Final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2752344"/>
            <a:ext cx="4144975" cy="2880360"/>
          </a:xfrm>
          <a:prstGeom prst="rect">
            <a:avLst/>
          </a:prstGeom>
          <a:solidFill>
            <a:srgbClr val="E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3008376"/>
            <a:ext cx="3596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D3FBF"/>
                </a:solidFill>
                <a:latin typeface="Inter"/>
              </a:rPr>
              <a:t>ITERATION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374136"/>
            <a:ext cx="35963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E1116"/>
                </a:solidFill>
                <a:latin typeface="Inter"/>
              </a:rPr>
              <a:t>Early Iterations Set the Direction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215384"/>
            <a:ext cx="35963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D3FBF"/>
                </a:solidFill>
                <a:latin typeface="Inter"/>
              </a:rPr>
              <a:t>Early iterations set the direction; later ones refine facts and wording.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50392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Dv  · 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AI Use Expands into Exploration, Generation, and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Set clear human review points at each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14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07127" y="2660904"/>
            <a:ext cx="2377440" cy="50292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7127" y="2660904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Inter"/>
              </a:rPr>
              <a:t>AI Use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3163824"/>
            <a:ext cx="19050" cy="3200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38247" y="3483864"/>
            <a:ext cx="7315200" cy="190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38247" y="3483864"/>
            <a:ext cx="19050" cy="22860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327" y="3712464"/>
            <a:ext cx="3291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207" y="3712464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Exploration &amp; Summary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3483864"/>
            <a:ext cx="19050" cy="22860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49927" y="3712464"/>
            <a:ext cx="3291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2807" y="3712464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Drafts &amp; Ideas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53447" y="3483864"/>
            <a:ext cx="19050" cy="22860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7527" y="3712464"/>
            <a:ext cx="32918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0407" y="3712464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Automating Repetitive 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4626864"/>
            <a:ext cx="19050" cy="914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718304"/>
            <a:ext cx="11155680" cy="8229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46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A8390"/>
                </a:solidFill>
                <a:latin typeface="Inter"/>
              </a:rPr>
              <a:t>HUMAN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Every path ends in human review and approval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50392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Dv  · 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AI and People Have Different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Iteration and drafts to AI, judgment and responsibility to people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15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06624"/>
            <a:ext cx="11155680" cy="4572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066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Work Element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640" y="27066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Where AI Is Strong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7200" y="27066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What People Handle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63824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638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530"/>
                </a:solidFill>
                <a:latin typeface="Inter"/>
              </a:rPr>
              <a:t>Information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640" y="31638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Summarizing / classifying large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00" y="31638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Judging source reliability &amp; gaps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21024"/>
            <a:ext cx="111556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9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210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530"/>
                </a:solidFill>
                <a:latin typeface="Inter"/>
              </a:rPr>
              <a:t>Content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640" y="36210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Drafts, alternatives, wording variety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7200" y="36210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Deciding purpose, context, final message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78224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782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530"/>
                </a:solidFill>
                <a:latin typeface="Inter"/>
              </a:rPr>
              <a:t>Analysis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8640" y="40782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Suggesting pattern candidates &amp;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7200" y="40782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Interpreting causes, decision-making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535424"/>
            <a:ext cx="111556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9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354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530"/>
                </a:solidFill>
                <a:latin typeface="Inter"/>
              </a:rPr>
              <a:t>Execution responsibility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58640" y="45354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Assisting repetitive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7200" y="4535424"/>
            <a:ext cx="344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Approval, ethics, outcome responsibility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051560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I  ·  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Activity: Turn One Task into AI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Design from goal-setting to final review yourself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16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98064"/>
            <a:ext cx="2834640" cy="283464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1810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B5E2"/>
                </a:solidFill>
                <a:latin typeface="Inter"/>
              </a:rPr>
              <a:t>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21024"/>
            <a:ext cx="22860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Inter"/>
              </a:rPr>
              <a:t>Turn one task into</a:t>
            </a:r>
          </a:p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Inter"/>
              </a:rPr>
              <a:t>verifiable AI collaboration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2798064"/>
            <a:ext cx="18288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798064"/>
            <a:ext cx="1828800" cy="73152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307238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91B8"/>
                </a:solidFill>
                <a:latin typeface="Inter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575304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530"/>
                </a:solidFill>
                <a:latin typeface="Inter"/>
              </a:rPr>
              <a:t>Pick a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215384"/>
            <a:ext cx="1463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Inter"/>
              </a:rPr>
              <a:t>A recurring real task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798064"/>
            <a:ext cx="18288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2798064"/>
            <a:ext cx="1828800" cy="73152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07238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15CFF"/>
                </a:solidFill>
                <a:latin typeface="Inter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75304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530"/>
                </a:solidFill>
                <a:latin typeface="Inter"/>
              </a:rPr>
              <a:t>Assign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215384"/>
            <a:ext cx="1463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Inter"/>
              </a:rPr>
              <a:t>Steps for AI vs. people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2798064"/>
            <a:ext cx="18288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35240" y="2798064"/>
            <a:ext cx="1828800" cy="73152"/>
          </a:xfrm>
          <a:prstGeom prst="rect">
            <a:avLst/>
          </a:prstGeom>
          <a:solidFill>
            <a:srgbClr val="1E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307238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530"/>
                </a:solidFill>
                <a:latin typeface="Inter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575304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530"/>
                </a:solidFill>
                <a:latin typeface="Inter"/>
              </a:rPr>
              <a:t>Design the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215384"/>
            <a:ext cx="1463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Inter"/>
              </a:rPr>
              <a:t>Goal, context, constraints, format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798064"/>
            <a:ext cx="18288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2798064"/>
            <a:ext cx="1828800" cy="73152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307238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91B8"/>
                </a:solidFill>
                <a:latin typeface="Inter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575304"/>
            <a:ext cx="1463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530"/>
                </a:solidFill>
                <a:latin typeface="Inter"/>
              </a:rPr>
              <a:t>Plan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215384"/>
            <a:ext cx="1463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473"/>
                </a:solidFill>
                <a:latin typeface="Inter"/>
              </a:rPr>
              <a:t>Evidence, quality, final approval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051560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I  ·  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Activity: Rewrite a Vague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Structure a request into goal, context, constraints, and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17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06624"/>
            <a:ext cx="11155680" cy="4572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066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7066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Vague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066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Structured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7066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Improvement Point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63824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638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530"/>
                </a:solidFill>
                <a:latin typeface="Inte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1638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Summarize the meeting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638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A table of decisions, owners, and deadlines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31638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Output purpose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21024"/>
            <a:ext cx="111556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9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210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530"/>
                </a:solidFill>
                <a:latin typeface="Inte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6210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Write an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210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For new hires, 300 chars, friendly 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6210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Audience &amp; constraints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78224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0782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530"/>
                </a:solidFill>
                <a:latin typeface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0782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Research this for 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0782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3 official sources with retrieval 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40782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Evidence standard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535424"/>
            <a:ext cx="111556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9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354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530"/>
                </a:solidFill>
                <a:latin typeface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5354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Give me ideas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5354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3 alternatives by cost, with risk comparison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535424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Comparison format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1051560" cy="274320"/>
          </a:xfrm>
          <a:prstGeom prst="rect">
            <a:avLst/>
          </a:prstGeom>
          <a:noFill/>
          <a:ln w="15875">
            <a:solidFill>
              <a:srgbClr val="0091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0091B8"/>
                </a:solidFill>
                <a:latin typeface="Inter"/>
              </a:rPr>
              <a:t>I  ·  IMPLEMENT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Discussion: Reduce AI Risk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Safeguards before input, during generation, after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18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06624"/>
            <a:ext cx="3505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06624"/>
            <a:ext cx="3505200" cy="594360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06624"/>
            <a:ext cx="640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706624"/>
            <a:ext cx="2590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Inter"/>
              </a:rPr>
              <a:t>Before 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29584"/>
            <a:ext cx="3048000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29584"/>
            <a:ext cx="2682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530"/>
                </a:solidFill>
                <a:latin typeface="Inter"/>
              </a:rPr>
              <a:t>Remove personal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42816"/>
            <a:ext cx="3048000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2682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530"/>
                </a:solidFill>
                <a:latin typeface="Inter"/>
              </a:rPr>
              <a:t>Verify data permissions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56048"/>
            <a:ext cx="3048000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56048"/>
            <a:ext cx="2682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530"/>
                </a:solidFill>
                <a:latin typeface="Inter"/>
              </a:rPr>
              <a:t>State goal &amp; off-limits scope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8160" y="2706624"/>
            <a:ext cx="3505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8160" y="2706624"/>
            <a:ext cx="3505200" cy="594360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6760" y="2706624"/>
            <a:ext cx="640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59680" y="2706624"/>
            <a:ext cx="2590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Inter"/>
              </a:rPr>
              <a:t>During 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6760" y="3529584"/>
            <a:ext cx="3048000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9640" y="3529584"/>
            <a:ext cx="2682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530"/>
                </a:solidFill>
                <a:latin typeface="Inter"/>
              </a:rPr>
              <a:t>Ask for sources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56760" y="4242816"/>
            <a:ext cx="3048000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9640" y="4242816"/>
            <a:ext cx="2682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530"/>
                </a:solidFill>
                <a:latin typeface="Inter"/>
              </a:rPr>
              <a:t>Flag assumptions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56760" y="4956048"/>
            <a:ext cx="3048000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9640" y="4956048"/>
            <a:ext cx="2682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530"/>
                </a:solidFill>
                <a:latin typeface="Inter"/>
              </a:rPr>
              <a:t>Compare multiple alternatives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53400" y="2706624"/>
            <a:ext cx="3505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53400" y="2706624"/>
            <a:ext cx="3505200" cy="594360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2000" y="2706624"/>
            <a:ext cx="640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4920" y="2706624"/>
            <a:ext cx="25908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Inter"/>
              </a:rPr>
              <a:t>After 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82000" y="3529584"/>
            <a:ext cx="3048000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64880" y="3529584"/>
            <a:ext cx="2682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530"/>
                </a:solidFill>
                <a:latin typeface="Inter"/>
              </a:rPr>
              <a:t>Cross-check the original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82000" y="4242816"/>
            <a:ext cx="3048000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64880" y="4242816"/>
            <a:ext cx="2682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530"/>
                </a:solidFill>
                <a:latin typeface="Inter"/>
              </a:rPr>
              <a:t>Check for bias &amp; omissions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82000" y="4956048"/>
            <a:ext cx="3048000" cy="59436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64880" y="4956048"/>
            <a:ext cx="2682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E2530"/>
                </a:solidFill>
                <a:latin typeface="Inter"/>
              </a:rPr>
              <a:t>Final human approval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950976" cy="274320"/>
          </a:xfrm>
          <a:prstGeom prst="rect">
            <a:avLst/>
          </a:prstGeom>
          <a:noFill/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22A06B"/>
                </a:solidFill>
                <a:latin typeface="Inter"/>
              </a:rPr>
              <a:t>E  · 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Formative Assessment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Information you should never input to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19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6090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1116"/>
                </a:solidFill>
                <a:latin typeface="Inter"/>
              </a:rPr>
              <a:t>Which of the following should never be entered into AI?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29584"/>
            <a:ext cx="11155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9584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A8390"/>
                </a:solidFill>
                <a:latin typeface="Inter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3F4753"/>
                </a:solidFill>
                <a:latin typeface="Inter"/>
              </a:rPr>
              <a:t>A draft company financial statement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33672"/>
            <a:ext cx="11155680" cy="566928"/>
          </a:xfrm>
          <a:prstGeom prst="rect">
            <a:avLst/>
          </a:prstGeom>
          <a:solidFill>
            <a:srgbClr val="E0E6FF"/>
          </a:solidFill>
          <a:ln w="952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33672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3FBF"/>
                </a:solidFill>
                <a:latin typeface="Inter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33672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Internal customer PII (e.g. national ID numbers)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4233672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5CFF"/>
                </a:solidFill>
                <a:latin typeface="Inter"/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937760"/>
            <a:ext cx="11155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A8390"/>
                </a:solidFill>
                <a:latin typeface="Inter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37760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3F4753"/>
                </a:solidFill>
                <a:latin typeface="Inter"/>
              </a:rPr>
              <a:t>A general industry-trend question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41848"/>
            <a:ext cx="11155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41848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A8390"/>
                </a:solidFill>
                <a:latin typeface="Inter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641848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3F4753"/>
                </a:solidFill>
                <a:latin typeface="Inter"/>
              </a:rPr>
              <a:t>A request to summarize public statistics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950976" cy="274320"/>
          </a:xfrm>
          <a:prstGeom prst="rect">
            <a:avLst/>
          </a:prstGeom>
          <a:noFill/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22A06B"/>
                </a:solidFill>
                <a:latin typeface="Inter"/>
              </a:rPr>
              <a:t>E  · 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Formative Assessment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Conditions of a good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20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6090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1116"/>
                </a:solidFill>
                <a:latin typeface="Inter"/>
              </a:rPr>
              <a:t>다음 중 가장 검토하기 쉬운 프롬프트는?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29584"/>
            <a:ext cx="11155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9584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A8390"/>
                </a:solidFill>
                <a:latin typeface="Inter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3F4753"/>
                </a:solidFill>
                <a:latin typeface="Inter"/>
              </a:rPr>
              <a:t>신제품 아이디어를 멋지게 써 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33672"/>
            <a:ext cx="11155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33672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A8390"/>
                </a:solidFill>
                <a:latin typeface="Inter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33672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3F4753"/>
                </a:solidFill>
                <a:latin typeface="Inter"/>
              </a:rPr>
              <a:t>마케팅 문구를 많이 만들어 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37760"/>
            <a:ext cx="11155680" cy="566928"/>
          </a:xfrm>
          <a:prstGeom prst="rect">
            <a:avLst/>
          </a:prstGeom>
          <a:solidFill>
            <a:srgbClr val="E0E6FF"/>
          </a:solidFill>
          <a:ln w="952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3FBF"/>
                </a:solidFill>
                <a:latin typeface="Inter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37760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20대 신규 고객 대상 문구 3개를 30자 이내로 만들고 근거를 덧붙여 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4937760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5CFF"/>
                </a:solidFill>
                <a:latin typeface="Inter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41848"/>
            <a:ext cx="11155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41848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A8390"/>
                </a:solidFill>
                <a:latin typeface="Inter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641848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3F4753"/>
                </a:solidFill>
                <a:latin typeface="Inter"/>
              </a:rPr>
              <a:t>우리 제품을 무조건 좋게 소개해 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950976" cy="274320"/>
          </a:xfrm>
          <a:prstGeom prst="rect">
            <a:avLst/>
          </a:prstGeom>
          <a:noFill/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22A06B"/>
                </a:solidFill>
                <a:latin typeface="Inter"/>
              </a:rPr>
              <a:t>E  · 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Formative Assessment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Responding when you spot a plausible-looking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21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60904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0E1116"/>
                </a:solidFill>
                <a:latin typeface="Inter"/>
              </a:rPr>
              <a:t>AI가 출처 없는 수치를 자신 있게 제시했습니다. 적절한 대응은? (복수 정답)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29584"/>
            <a:ext cx="11155680" cy="566928"/>
          </a:xfrm>
          <a:prstGeom prst="rect">
            <a:avLst/>
          </a:prstGeom>
          <a:solidFill>
            <a:srgbClr val="E0E6FF"/>
          </a:solidFill>
          <a:ln w="952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9584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3FBF"/>
                </a:solidFill>
                <a:latin typeface="Inter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29584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공식 원문에서 수치를 확인한다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3529584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5CFF"/>
                </a:solidFill>
                <a:latin typeface="Inter"/>
              </a:rPr>
              <a:t>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33672"/>
            <a:ext cx="11155680" cy="566928"/>
          </a:xfrm>
          <a:prstGeom prst="rect">
            <a:avLst/>
          </a:prstGeom>
          <a:solidFill>
            <a:srgbClr val="E0E6FF"/>
          </a:solidFill>
          <a:ln w="952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33672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D3FBF"/>
                </a:solidFill>
                <a:latin typeface="Inter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233672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E2530"/>
                </a:solidFill>
                <a:latin typeface="Inter"/>
              </a:rPr>
              <a:t>불확실한 부분을 표시하고 재검증한다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4233672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15CFF"/>
                </a:solidFill>
                <a:latin typeface="Inter"/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37760"/>
            <a:ext cx="11155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A8390"/>
                </a:solidFill>
                <a:latin typeface="Inter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937760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3F4753"/>
                </a:solidFill>
                <a:latin typeface="Inter"/>
              </a:rPr>
              <a:t>문장이 자연스러우므로 그대로 사용한다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641848"/>
            <a:ext cx="11155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41848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A8390"/>
                </a:solidFill>
                <a:latin typeface="Inter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641848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3F4753"/>
                </a:solidFill>
                <a:latin typeface="Inter"/>
              </a:rPr>
              <a:t>다른 AI가 동의하면 사실로 간주한다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950976" cy="274320"/>
          </a:xfrm>
          <a:prstGeom prst="rect">
            <a:avLst/>
          </a:prstGeom>
          <a:noFill/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22A06B"/>
                </a:solidFill>
                <a:latin typeface="Inter"/>
              </a:rPr>
              <a:t>E  · 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The Core of Generative AI Use Is Three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Structured requests, evidence verification, human responsibility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22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843784"/>
            <a:ext cx="3566160" cy="27432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843784"/>
            <a:ext cx="73152" cy="2743200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1810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091B8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1246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0E1116"/>
                </a:solidFill>
                <a:latin typeface="Inter"/>
              </a:rPr>
              <a:t>Structured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43984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473"/>
                </a:solidFill>
                <a:latin typeface="Inter"/>
              </a:rPr>
              <a:t>Prompts with goal, context, data, constraints, format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843784"/>
            <a:ext cx="3566160" cy="27432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843784"/>
            <a:ext cx="73152" cy="2743200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11810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315CFF"/>
                </a:solidFill>
                <a:latin typeface="Inter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71246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0E1116"/>
                </a:solidFill>
                <a:latin typeface="Inter"/>
              </a:rPr>
              <a:t>Evidence-Based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443984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473"/>
                </a:solidFill>
                <a:latin typeface="Inter"/>
              </a:rPr>
              <a:t>Reduce errors via source checks and fact-checking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2843784"/>
            <a:ext cx="3566160" cy="2743200"/>
          </a:xfrm>
          <a:prstGeom prst="rect">
            <a:avLst/>
          </a:prstGeom>
          <a:solidFill>
            <a:srgbClr val="F5F7FA"/>
          </a:solidFill>
          <a:ln w="9525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2843784"/>
            <a:ext cx="73152" cy="2743200"/>
          </a:xfrm>
          <a:prstGeom prst="rect">
            <a:avLst/>
          </a:prstGeom>
          <a:solidFill>
            <a:srgbClr val="22A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311810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2A06B"/>
                </a:solidFill>
                <a:latin typeface="Inter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712464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0E1116"/>
                </a:solidFill>
                <a:latin typeface="Inter"/>
              </a:rPr>
              <a:t>Human Responsibility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443984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A6473"/>
                </a:solidFill>
                <a:latin typeface="Inter"/>
              </a:rPr>
              <a:t>People always keep final judgment and approval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950976" cy="274320"/>
          </a:xfrm>
          <a:prstGeom prst="rect">
            <a:avLst/>
          </a:prstGeom>
          <a:noFill/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22A06B"/>
                </a:solidFill>
                <a:latin typeface="Inter"/>
              </a:rPr>
              <a:t>E  · 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Correcting Three Misconceptions About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Realistic standards on correctness, neutrality, and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23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06624"/>
            <a:ext cx="11155680" cy="4572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06624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Misconception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706624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Realistic Standard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63824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63824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530"/>
                </a:solidFill>
                <a:latin typeface="Inter"/>
              </a:rPr>
              <a:t>AI always gives the right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163824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Fluent output and factual accuracy are different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21024"/>
            <a:ext cx="1115568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9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21024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530"/>
                </a:solidFill>
                <a:latin typeface="Inter"/>
              </a:rPr>
              <a:t>AI is unbiased and neutral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621024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It's shaped by training data and how it's asked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78224"/>
            <a:ext cx="11155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78224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2530"/>
                </a:solidFill>
                <a:latin typeface="Inter"/>
              </a:rPr>
              <a:t>Automation means no human review is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078224"/>
            <a:ext cx="5303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4753"/>
                </a:solidFill>
                <a:latin typeface="Inter"/>
              </a:rPr>
              <a:t>The bigger the impact, the more approval matters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950976" cy="274320"/>
          </a:xfrm>
          <a:prstGeom prst="rect">
            <a:avLst/>
          </a:prstGeom>
          <a:noFill/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22A06B"/>
                </a:solidFill>
                <a:latin typeface="Inter"/>
              </a:rPr>
              <a:t>E  · 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Resources for Further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Readings connecting principles, risk management, and education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24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52344"/>
            <a:ext cx="73152" cy="685800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5234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530"/>
                </a:solidFill>
                <a:latin typeface="Inter"/>
              </a:rPr>
              <a:t>Attention Is All You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3"/>
                </a:solidFill>
                <a:latin typeface="Inter"/>
              </a:rPr>
              <a:t>Starting point for understanding the Transformer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21024"/>
            <a:ext cx="73152" cy="685800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210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530"/>
                </a:solidFill>
                <a:latin typeface="Inter"/>
              </a:rPr>
              <a:t>NIST AI RMF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684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3"/>
                </a:solidFill>
                <a:latin typeface="Inter"/>
              </a:rPr>
              <a:t>A practical framework for identifying, measuring, and managing AI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89704"/>
            <a:ext cx="73152" cy="685800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8970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530"/>
                </a:solidFill>
                <a:latin typeface="Inter"/>
              </a:rPr>
              <a:t>UNESCO Generative AI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371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3"/>
                </a:solidFill>
                <a:latin typeface="Inter"/>
              </a:rPr>
              <a:t>Principles of human-centered use in education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358384"/>
            <a:ext cx="73152" cy="685800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5838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530"/>
                </a:solidFill>
                <a:latin typeface="Inter"/>
              </a:rPr>
              <a:t>AI Tutor Practicum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058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3"/>
                </a:solidFill>
                <a:latin typeface="Inter"/>
              </a:rPr>
              <a:t>Improving one task through a prompt-and-verification loop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950976" cy="274320"/>
          </a:xfrm>
          <a:prstGeom prst="rect">
            <a:avLst/>
          </a:prstGeom>
          <a:noFill/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22A06B"/>
                </a:solidFill>
                <a:latin typeface="Inter"/>
              </a:rPr>
              <a:t>E  · 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Principles and responsible use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25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79806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7A8390"/>
                </a:solidFill>
                <a:latin typeface="Inter"/>
              </a:rPr>
              <a:t>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9806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530"/>
                </a:solidFill>
                <a:latin typeface="Inter"/>
              </a:rPr>
              <a:t>Vaswani, A. et al. (2017). Attention Is All You Need. NeurIPS.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5643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7A8390"/>
                </a:solidFill>
                <a:latin typeface="Inter"/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56432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530"/>
                </a:solidFill>
                <a:latin typeface="Inter"/>
              </a:rPr>
              <a:t>Bommasani, R. et al. (2021). On the Opportunities and Risks of Foundation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148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7A8390"/>
                </a:solidFill>
                <a:latin typeface="Inter"/>
              </a:rPr>
              <a:t>[3]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1480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530"/>
                </a:solidFill>
                <a:latin typeface="Inter"/>
              </a:rPr>
              <a:t>NIST. (2023). Artificial Intelligence Risk Management Framework 1.0.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7316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7A8390"/>
                </a:solidFill>
                <a:latin typeface="Inter"/>
              </a:rPr>
              <a:t>[4]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73168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530"/>
                </a:solidFill>
                <a:latin typeface="Inter"/>
              </a:rPr>
              <a:t>UNESCO. (2023). Guidance for Generative AI in Education and Research.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950976" cy="274320"/>
          </a:xfrm>
          <a:prstGeom prst="rect">
            <a:avLst/>
          </a:prstGeom>
          <a:noFill/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22A06B"/>
                </a:solidFill>
                <a:latin typeface="Inter"/>
              </a:rPr>
              <a:t>E  · 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Next Time: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AI that connects tools to perform multiple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26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798064"/>
            <a:ext cx="73152" cy="685800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9806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530"/>
                </a:solidFill>
                <a:latin typeface="Inter"/>
              </a:rPr>
              <a:t>Next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6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3"/>
                </a:solidFill>
                <a:latin typeface="Inter"/>
              </a:rPr>
              <a:t>AI agents and workflow automation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66744"/>
            <a:ext cx="73152" cy="685800"/>
          </a:xfrm>
          <a:prstGeom prst="rect">
            <a:avLst/>
          </a:prstGeom>
          <a:solidFill>
            <a:srgbClr val="31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6674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530"/>
                </a:solidFill>
                <a:latin typeface="Inter"/>
              </a:rPr>
              <a:t>The 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14216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3"/>
                </a:solidFill>
                <a:latin typeface="Inter"/>
              </a:rPr>
              <a:t>From a single prompt to a multi-step execution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535424"/>
            <a:ext cx="73152" cy="685800"/>
          </a:xfrm>
          <a:prstGeom prst="rect">
            <a:avLst/>
          </a:prstGeom>
          <a:solidFill>
            <a:srgbClr val="009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354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2530"/>
                </a:solidFill>
                <a:latin typeface="Inter"/>
              </a:rPr>
              <a:t>Preview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82896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473"/>
                </a:solidFill>
                <a:latin typeface="Inter"/>
              </a:rPr>
              <a:t>What stop conditions are needed when giving AI permission to use tools?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950976" cy="274320"/>
          </a:xfrm>
          <a:prstGeom prst="rect">
            <a:avLst/>
          </a:prstGeom>
          <a:noFill/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22A06B"/>
                </a:solidFill>
                <a:latin typeface="Inter"/>
              </a:rPr>
              <a:t>E  · 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7782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1116"/>
                </a:solidFill>
                <a:latin typeface="Inter"/>
              </a:rPr>
              <a:t>Assignment: Build Your Own AI Collaboration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A6473"/>
                </a:solidFill>
                <a:latin typeface="Inter"/>
              </a:rPr>
              <a:t>Write it based on one real task of yours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9525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56539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8390"/>
                </a:solidFill>
                <a:latin typeface="Inter"/>
              </a:rPr>
              <a:t>27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11155680" cy="12700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825496"/>
            <a:ext cx="457200" cy="457200"/>
          </a:xfrm>
          <a:prstGeom prst="rect">
            <a:avLst/>
          </a:prstGeom>
          <a:noFill/>
          <a:ln w="952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254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15CFF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52344"/>
            <a:ext cx="98755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2530"/>
                </a:solidFill>
                <a:latin typeface="Inter"/>
              </a:rPr>
              <a:t>Define one real task and its expected outcome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38728"/>
            <a:ext cx="457200" cy="457200"/>
          </a:xfrm>
          <a:prstGeom prst="rect">
            <a:avLst/>
          </a:prstGeom>
          <a:noFill/>
          <a:ln w="952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387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15CFF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65576"/>
            <a:ext cx="98755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2530"/>
                </a:solidFill>
                <a:latin typeface="Inter"/>
              </a:rPr>
              <a:t>Separate steps for AI vs. steps for 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51960"/>
            <a:ext cx="457200" cy="457200"/>
          </a:xfrm>
          <a:prstGeom prst="rect">
            <a:avLst/>
          </a:prstGeom>
          <a:noFill/>
          <a:ln w="952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15CFF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178808"/>
            <a:ext cx="98755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2530"/>
                </a:solidFill>
                <a:latin typeface="Inter"/>
              </a:rPr>
              <a:t>Attach the prompts used and evidence for verification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65192"/>
            <a:ext cx="457200" cy="457200"/>
          </a:xfrm>
          <a:prstGeom prst="rect">
            <a:avLst/>
          </a:prstGeom>
          <a:noFill/>
          <a:ln w="9525">
            <a:solidFill>
              <a:srgbClr val="31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96519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315CFF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92040"/>
            <a:ext cx="98755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E2530"/>
                </a:solidFill>
                <a:latin typeface="Inter"/>
              </a:rPr>
              <a:t>Include standards for privacy, copyright, and error handling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640080"/>
            <a:ext cx="950976" cy="274320"/>
          </a:xfrm>
          <a:prstGeom prst="rect">
            <a:avLst/>
          </a:prstGeom>
          <a:noFill/>
          <a:ln w="15875">
            <a:solidFill>
              <a:srgbClr val="22A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000" b="1" i="0">
                <a:solidFill>
                  <a:srgbClr val="22A06B"/>
                </a:solidFill>
                <a:latin typeface="Inter"/>
              </a:rPr>
              <a:t>E  ·  EVALUATE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Inter"/>
              </a:rPr>
              <a:t>AI Is a Partner That Extends Your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B8C2D0"/>
                </a:solidFill>
                <a:latin typeface="Inter"/>
              </a:rPr>
              <a:t>Generate with AI; judge and take responsibility as a person.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09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E7785"/>
                </a:solidFill>
                <a:latin typeface="Inter"/>
              </a:rPr>
              <a:t>HYCU · AI Literacy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30936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E7785"/>
                </a:solidFill>
                <a:latin typeface="Inter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