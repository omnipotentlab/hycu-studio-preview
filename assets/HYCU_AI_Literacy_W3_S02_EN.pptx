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381000"/>
            <a:ext cx="571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HYCU / AI Literacy /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00" y="381000"/>
            <a:ext cx="1968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01 /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8500" y="1308100"/>
            <a:ext cx="5016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6B86"/>
                </a:solidFill>
                <a:latin typeface="Arial"/>
              </a:rPr>
              <a:t>GENERATIVE AI · HUMAN COLLABORATION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" y="1460500"/>
            <a:ext cx="5016500" cy="190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</a:pPr>
            <a:r>
              <a:rPr sz="4000" b="1" i="0">
                <a:solidFill>
                  <a:srgbClr val="151821"/>
                </a:solidFill>
                <a:latin typeface="Pretendard"/>
              </a:rPr>
              <a:t>Understanding and Applying Generative AI at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3429000"/>
            <a:ext cx="45720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0" i="0">
                <a:solidFill>
                  <a:srgbClr val="5D6775"/>
                </a:solidFill>
                <a:latin typeface="Pretendard"/>
              </a:rPr>
              <a:t>Learning to work with AI, not just use it quickly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0" y="876300"/>
            <a:ext cx="4635500" cy="2222500"/>
          </a:xfrm>
          <a:prstGeom prst="rect">
            <a:avLst/>
          </a:prstGeom>
          <a:solidFill>
            <a:srgbClr val="EAE6DC"/>
          </a:solidFill>
          <a:ln w="12700">
            <a:solidFill>
              <a:srgbClr val="1518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67650" y="1384300"/>
            <a:ext cx="762000" cy="762000"/>
          </a:xfrm>
          <a:prstGeom prst="ellipse">
            <a:avLst/>
          </a:prstGeom>
          <a:solidFill>
            <a:srgbClr val="00A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446260" y="1924050"/>
            <a:ext cx="571500" cy="571500"/>
          </a:xfrm>
          <a:prstGeom prst="ellipse">
            <a:avLst/>
          </a:prstGeom>
          <a:solidFill>
            <a:srgbClr val="31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892540" y="1241425"/>
            <a:ext cx="381000" cy="381000"/>
          </a:xfrm>
          <a:prstGeom prst="ellipse">
            <a:avLst/>
          </a:prstGeom>
          <a:solidFill>
            <a:srgbClr val="1518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10400" y="2794000"/>
            <a:ext cx="43307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006B86"/>
                </a:solidFill>
                <a:latin typeface="Arial"/>
              </a:rPr>
              <a:t>AI GENERATED VISUAL · SOURCE DECK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8500" y="4572000"/>
            <a:ext cx="1117600" cy="711200"/>
          </a:xfrm>
          <a:prstGeom prst="roundRect">
            <a:avLst>
              <a:gd name="adj" fmla="val 12000"/>
            </a:avLst>
          </a:prstGeom>
          <a:solidFill>
            <a:srgbClr val="00AEDD"/>
          </a:solidFill>
          <a:ln w="15875">
            <a:solidFill>
              <a:srgbClr val="00A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100" y="4635500"/>
            <a:ext cx="9144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51821"/>
                </a:solidFill>
                <a:latin typeface="Pretendard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" y="4762500"/>
            <a:ext cx="9144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51821"/>
                </a:solidFill>
                <a:latin typeface="Pretendard"/>
              </a:rPr>
              <a:t>Understand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816100" y="4889500"/>
            <a:ext cx="254000" cy="0"/>
          </a:xfrm>
          <a:prstGeom prst="line">
            <a:avLst/>
          </a:prstGeom>
          <a:ln w="1587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Isosceles Triangle 16"/>
          <p:cNvSpPr/>
          <p:nvPr/>
        </p:nvSpPr>
        <p:spPr>
          <a:xfrm rot="5400000">
            <a:off x="2012950" y="4845050"/>
            <a:ext cx="88900" cy="88900"/>
          </a:xfrm>
          <a:prstGeom prst="triangle">
            <a:avLst/>
          </a:prstGeom>
          <a:solidFill>
            <a:srgbClr val="1518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070100" y="4572000"/>
            <a:ext cx="1117600" cy="711200"/>
          </a:xfrm>
          <a:prstGeom prst="roundRect">
            <a:avLst>
              <a:gd name="adj" fmla="val 12000"/>
            </a:avLst>
          </a:prstGeom>
          <a:solidFill>
            <a:srgbClr val="315CFF"/>
          </a:solidFill>
          <a:ln w="15875">
            <a:solidFill>
              <a:srgbClr val="31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71700" y="4635500"/>
            <a:ext cx="9144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FFFFFF"/>
                </a:solidFill>
                <a:latin typeface="Pretendard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71700" y="4762500"/>
            <a:ext cx="9144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Pretendard"/>
              </a:rPr>
              <a:t>Design Requests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187700" y="4889500"/>
            <a:ext cx="254000" cy="0"/>
          </a:xfrm>
          <a:prstGeom prst="line">
            <a:avLst/>
          </a:prstGeom>
          <a:ln w="1587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Isosceles Triangle 21"/>
          <p:cNvSpPr/>
          <p:nvPr/>
        </p:nvSpPr>
        <p:spPr>
          <a:xfrm rot="5400000">
            <a:off x="3384550" y="4845050"/>
            <a:ext cx="88900" cy="88900"/>
          </a:xfrm>
          <a:prstGeom prst="triangle">
            <a:avLst/>
          </a:prstGeom>
          <a:solidFill>
            <a:srgbClr val="1518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441700" y="4572000"/>
            <a:ext cx="1117600" cy="711200"/>
          </a:xfrm>
          <a:prstGeom prst="roundRect">
            <a:avLst>
              <a:gd name="adj" fmla="val 12000"/>
            </a:avLst>
          </a:prstGeom>
          <a:solidFill>
            <a:srgbClr val="151821"/>
          </a:solidFill>
          <a:ln w="15875">
            <a:solidFill>
              <a:srgbClr val="1518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43300" y="4635500"/>
            <a:ext cx="9144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FFFFFF"/>
                </a:solidFill>
                <a:latin typeface="Pretendard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43300" y="4762500"/>
            <a:ext cx="9144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Pretendard"/>
              </a:rPr>
              <a:t>Verify Results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559300" y="4889500"/>
            <a:ext cx="254000" cy="0"/>
          </a:xfrm>
          <a:prstGeom prst="line">
            <a:avLst/>
          </a:prstGeom>
          <a:ln w="1587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5400000">
            <a:off x="4756150" y="4845050"/>
            <a:ext cx="88900" cy="88900"/>
          </a:xfrm>
          <a:prstGeom prst="triangle">
            <a:avLst/>
          </a:prstGeom>
          <a:solidFill>
            <a:srgbClr val="1518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813300" y="4572000"/>
            <a:ext cx="1117600" cy="711200"/>
          </a:xfrm>
          <a:prstGeom prst="roundRect">
            <a:avLst>
              <a:gd name="adj" fmla="val 12000"/>
            </a:avLst>
          </a:prstGeom>
          <a:solidFill>
            <a:srgbClr val="74D3EA"/>
          </a:solidFill>
          <a:ln w="15875">
            <a:solidFill>
              <a:srgbClr val="74D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14900" y="4635500"/>
            <a:ext cx="9144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51821"/>
                </a:solidFill>
                <a:latin typeface="Pretendard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14900" y="4762500"/>
            <a:ext cx="9144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51821"/>
                </a:solidFill>
                <a:latin typeface="Pretendard"/>
              </a:rPr>
              <a:t>Use Responsibly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8500" y="5588000"/>
            <a:ext cx="3302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Prof. Hong Gil-dong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8500" y="5778500"/>
            <a:ext cx="33020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D6775"/>
                </a:solidFill>
                <a:latin typeface="Pretendard"/>
              </a:rPr>
              <a:t>Hanyang Cyber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381000"/>
            <a:ext cx="381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D6775"/>
                </a:solidFill>
                <a:latin typeface="Pretendard"/>
              </a:rPr>
              <a:t>HYCU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8700" y="381000"/>
            <a:ext cx="73025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AI Literacy / Ch.03 Working with Generative AI / 02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0" y="374650"/>
            <a:ext cx="1524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1000" y="355600"/>
            <a:ext cx="9525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02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838200"/>
            <a:ext cx="10795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151821"/>
                </a:solidFill>
                <a:latin typeface="Pretendard"/>
              </a:rPr>
              <a:t>Ask Four Questions Before You Use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" y="1663700"/>
            <a:ext cx="10795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D6775"/>
                </a:solidFill>
                <a:latin typeface="Pretendard"/>
              </a:rPr>
              <a:t>Building standards for use and verification, from experience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98500" y="2019300"/>
            <a:ext cx="10795000" cy="0"/>
          </a:xfrm>
          <a:prstGeom prst="line">
            <a:avLst/>
          </a:prstGeom>
          <a:ln w="13970">
            <a:solidFill>
              <a:srgbClr val="1518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98500" y="6375400"/>
            <a:ext cx="10795000" cy="0"/>
          </a:xfrm>
          <a:prstGeom prst="line">
            <a:avLst/>
          </a:prstGeom>
          <a:ln w="952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98500" y="6464300"/>
            <a:ext cx="825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AI Literacy  ·  Pre-lesson check · Connecting familiar AI experience to today's collaboration standards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0" y="6464300"/>
            <a:ext cx="1968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5D6775"/>
                </a:solidFill>
                <a:latin typeface="Pretendard"/>
              </a:rPr>
              <a:t>HYCU AI STUDIO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98500" y="2222500"/>
            <a:ext cx="0" cy="3873500"/>
          </a:xfrm>
          <a:prstGeom prst="line">
            <a:avLst/>
          </a:prstGeom>
          <a:ln w="76200">
            <a:solidFill>
              <a:srgbClr val="00AE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65200" y="2476500"/>
            <a:ext cx="3429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06B86"/>
                </a:solidFill>
                <a:latin typeface="Arial"/>
              </a:rPr>
              <a:t>START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200" y="2794000"/>
            <a:ext cx="3429000" cy="190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151821"/>
                </a:solidFill>
                <a:latin typeface="Pretendard"/>
              </a:rPr>
              <a:t>To truly collaborate with AI,</a:t>
            </a:r>
          </a:p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151821"/>
                </a:solidFill>
                <a:latin typeface="Pretendard"/>
              </a:rPr>
              <a:t>what should you delegate — and verify?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16500" y="2222500"/>
            <a:ext cx="3181350" cy="1879600"/>
          </a:xfrm>
          <a:prstGeom prst="roundRect">
            <a:avLst>
              <a:gd name="adj" fmla="val 9000"/>
            </a:avLst>
          </a:prstGeom>
          <a:solidFill>
            <a:srgbClr val="D4F1F7"/>
          </a:solidFill>
          <a:ln w="1270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30800" y="2336800"/>
            <a:ext cx="2952750" cy="114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06B86"/>
                </a:solidFill>
                <a:latin typeface="Arial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30800" y="2489200"/>
            <a:ext cx="29527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151821"/>
                </a:solidFill>
                <a:latin typeface="Pretendard"/>
              </a:rPr>
              <a:t>Experience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30800" y="2857500"/>
            <a:ext cx="2952750" cy="1181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51821"/>
                </a:solidFill>
                <a:latin typeface="Pretendard"/>
              </a:rPr>
              <a:t>What have you used it for?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12150" y="2222500"/>
            <a:ext cx="3181350" cy="1879600"/>
          </a:xfrm>
          <a:prstGeom prst="roundRect">
            <a:avLst>
              <a:gd name="adj" fmla="val 9000"/>
            </a:avLst>
          </a:prstGeom>
          <a:solidFill>
            <a:srgbClr val="E0E6FF"/>
          </a:solidFill>
          <a:ln w="1270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26450" y="2336800"/>
            <a:ext cx="2952750" cy="114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D3FBF"/>
                </a:solidFill>
                <a:latin typeface="Arial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26450" y="2489200"/>
            <a:ext cx="29527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151821"/>
                </a:solidFill>
                <a:latin typeface="Pretendard"/>
              </a:rPr>
              <a:t>How It Generates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26450" y="2857500"/>
            <a:ext cx="2952750" cy="1181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51821"/>
                </a:solidFill>
                <a:latin typeface="Pretendard"/>
              </a:rPr>
              <a:t>How does AI produce an answer?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16500" y="4216400"/>
            <a:ext cx="3181350" cy="1879600"/>
          </a:xfrm>
          <a:prstGeom prst="roundRect">
            <a:avLst>
              <a:gd name="adj" fmla="val 9000"/>
            </a:avLst>
          </a:prstGeom>
          <a:solidFill>
            <a:srgbClr val="D4F1F7"/>
          </a:solidFill>
          <a:ln w="1270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30800" y="4330700"/>
            <a:ext cx="2952750" cy="114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06B86"/>
                </a:solidFill>
                <a:latin typeface="Arial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30800" y="4483100"/>
            <a:ext cx="29527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151821"/>
                </a:solidFill>
                <a:latin typeface="Pretendard"/>
              </a:rPr>
              <a:t>Verification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30800" y="4851400"/>
            <a:ext cx="2952750" cy="1181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51821"/>
                </a:solidFill>
                <a:latin typeface="Pretendard"/>
              </a:rPr>
              <a:t>What must you check to trust it?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312150" y="4216400"/>
            <a:ext cx="3181350" cy="1879600"/>
          </a:xfrm>
          <a:prstGeom prst="roundRect">
            <a:avLst>
              <a:gd name="adj" fmla="val 9000"/>
            </a:avLst>
          </a:prstGeom>
          <a:solidFill>
            <a:srgbClr val="E0E6FF"/>
          </a:solidFill>
          <a:ln w="1270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26450" y="4330700"/>
            <a:ext cx="2952750" cy="114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D3FBF"/>
                </a:solidFill>
                <a:latin typeface="Arial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26450" y="4483100"/>
            <a:ext cx="29527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151821"/>
                </a:solidFill>
                <a:latin typeface="Pretendard"/>
              </a:rPr>
              <a:t>Your Role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26450" y="4851400"/>
            <a:ext cx="2952750" cy="1181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51821"/>
                </a:solidFill>
                <a:latin typeface="Pretendard"/>
              </a:rPr>
              <a:t>Where do you draw the line?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381000"/>
            <a:ext cx="381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D6775"/>
                </a:solidFill>
                <a:latin typeface="Pretendard"/>
              </a:rPr>
              <a:t>HYCU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8700" y="381000"/>
            <a:ext cx="73025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AI Literacy / Ch.03 Working with Generative AI / 03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0" y="374650"/>
            <a:ext cx="1524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1000" y="355600"/>
            <a:ext cx="9525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03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838200"/>
            <a:ext cx="10795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151821"/>
                </a:solidFill>
                <a:latin typeface="Pretendard"/>
              </a:rPr>
              <a:t>Today's Learning Goals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" y="1333500"/>
            <a:ext cx="10795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D6775"/>
                </a:solidFill>
                <a:latin typeface="Pretendard"/>
              </a:rPr>
              <a:t>Understand, design, verify, and use responsibly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98500" y="2019300"/>
            <a:ext cx="10795000" cy="0"/>
          </a:xfrm>
          <a:prstGeom prst="line">
            <a:avLst/>
          </a:prstGeom>
          <a:ln w="13970">
            <a:solidFill>
              <a:srgbClr val="1518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98500" y="6375400"/>
            <a:ext cx="10795000" cy="0"/>
          </a:xfrm>
          <a:prstGeom prst="line">
            <a:avLst/>
          </a:prstGeom>
          <a:ln w="952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98500" y="6464300"/>
            <a:ext cx="825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AI Literacy  ·  Learning outcomes · Understand -&gt; Design -&gt; Verify -&gt; Take responsibility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0" y="6464300"/>
            <a:ext cx="1968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5D6775"/>
                </a:solidFill>
                <a:latin typeface="Pretendard"/>
              </a:rPr>
              <a:t>HYCU AI STUDIO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8500" y="2222500"/>
            <a:ext cx="2540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06B86"/>
                </a:solidFill>
                <a:latin typeface="Pretendard"/>
              </a:rPr>
              <a:t>Outcomes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43500" y="2222500"/>
            <a:ext cx="635000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650" b="1" i="0">
                <a:solidFill>
                  <a:srgbClr val="151821"/>
                </a:solidFill>
                <a:latin typeface="Pretendard"/>
              </a:rPr>
              <a:t>Not just producing results fast —</a:t>
            </a:r>
          </a:p>
          <a:p>
            <a:pPr algn="r">
              <a:lnSpc>
                <a:spcPct val="130000"/>
              </a:lnSpc>
            </a:pPr>
            <a:r>
              <a:rPr sz="1650" b="1" i="0">
                <a:solidFill>
                  <a:srgbClr val="151821"/>
                </a:solidFill>
                <a:latin typeface="Pretendard"/>
              </a:rPr>
              <a:t>verifying evidence and taking responsibility too.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460500" y="3670300"/>
            <a:ext cx="9271000" cy="0"/>
          </a:xfrm>
          <a:prstGeom prst="line">
            <a:avLst/>
          </a:prstGeom>
          <a:ln w="38100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98500" y="3175000"/>
            <a:ext cx="2413000" cy="1905000"/>
          </a:xfrm>
          <a:prstGeom prst="roundRect">
            <a:avLst>
              <a:gd name="adj" fmla="val 12000"/>
            </a:avLst>
          </a:prstGeom>
          <a:solidFill>
            <a:srgbClr val="00AEDD"/>
          </a:solidFill>
          <a:ln w="15875">
            <a:solidFill>
              <a:srgbClr val="00A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100" y="3238500"/>
            <a:ext cx="22098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51821"/>
                </a:solidFill>
                <a:latin typeface="Pretendard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" y="3365500"/>
            <a:ext cx="2209800" cy="161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151821"/>
                </a:solidFill>
                <a:latin typeface="Pretendard"/>
              </a:rPr>
              <a:t>Understand Generation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" y="4787900"/>
            <a:ext cx="22098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Explain input to output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2500" y="3175000"/>
            <a:ext cx="2413000" cy="1905000"/>
          </a:xfrm>
          <a:prstGeom prst="roundRect">
            <a:avLst>
              <a:gd name="adj" fmla="val 12000"/>
            </a:avLst>
          </a:prstGeom>
          <a:solidFill>
            <a:srgbClr val="315CFF"/>
          </a:solidFill>
          <a:ln w="15875">
            <a:solidFill>
              <a:srgbClr val="31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94100" y="3238500"/>
            <a:ext cx="22098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FFFFFF"/>
                </a:solidFill>
                <a:latin typeface="Pretendard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94100" y="3365500"/>
            <a:ext cx="2209800" cy="161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Pretendard"/>
              </a:rPr>
              <a:t>Structure Requests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94100" y="4787900"/>
            <a:ext cx="22098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C9D3FF"/>
                </a:solidFill>
                <a:latin typeface="Pretendard"/>
              </a:rPr>
              <a:t>Design prompts with five elements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86500" y="3175000"/>
            <a:ext cx="2413000" cy="1905000"/>
          </a:xfrm>
          <a:prstGeom prst="roundRect">
            <a:avLst>
              <a:gd name="adj" fmla="val 12000"/>
            </a:avLst>
          </a:prstGeom>
          <a:solidFill>
            <a:srgbClr val="151821"/>
          </a:solidFill>
          <a:ln w="15875">
            <a:solidFill>
              <a:srgbClr val="1518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88100" y="3238500"/>
            <a:ext cx="22098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FFFFFF"/>
                </a:solidFill>
                <a:latin typeface="Pretendard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100" y="3365500"/>
            <a:ext cx="2209800" cy="161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Pretendard"/>
              </a:rPr>
              <a:t>Verify Results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88100" y="4787900"/>
            <a:ext cx="22098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A9AFB8"/>
                </a:solidFill>
                <a:latin typeface="Pretendard"/>
              </a:rPr>
              <a:t>Check evidence, errors, bias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80500" y="3175000"/>
            <a:ext cx="2413000" cy="1905000"/>
          </a:xfrm>
          <a:prstGeom prst="roundRect">
            <a:avLst>
              <a:gd name="adj" fmla="val 12000"/>
            </a:avLst>
          </a:prstGeom>
          <a:solidFill>
            <a:srgbClr val="74D3EA"/>
          </a:solidFill>
          <a:ln w="15875">
            <a:solidFill>
              <a:srgbClr val="74D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82100" y="3238500"/>
            <a:ext cx="22098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51821"/>
                </a:solidFill>
                <a:latin typeface="Pretendard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2100" y="3365500"/>
            <a:ext cx="2209800" cy="161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151821"/>
                </a:solidFill>
                <a:latin typeface="Pretendard"/>
              </a:rPr>
              <a:t>Use Responsibly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82100" y="4787900"/>
            <a:ext cx="22098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2A4A55"/>
                </a:solidFill>
                <a:latin typeface="Pretendard"/>
              </a:rPr>
              <a:t>Separate roles for people and AI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381000"/>
            <a:ext cx="381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D6775"/>
                </a:solidFill>
                <a:latin typeface="Pretendard"/>
              </a:rPr>
              <a:t>HYCU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8700" y="381000"/>
            <a:ext cx="73025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AI Literacy / Ch.03 Working with Generative AI / 04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0" y="374650"/>
            <a:ext cx="1524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1000" y="355600"/>
            <a:ext cx="9525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04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838200"/>
            <a:ext cx="10795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151821"/>
                </a:solidFill>
                <a:latin typeface="Pretendard"/>
              </a:rPr>
              <a:t>Master the Full AI Collaboration Process in 50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" y="1663700"/>
            <a:ext cx="10795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D6775"/>
                </a:solidFill>
                <a:latin typeface="Pretendard"/>
              </a:rPr>
              <a:t>A learning path from understanding principles to practice and judgment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98500" y="2019300"/>
            <a:ext cx="10795000" cy="0"/>
          </a:xfrm>
          <a:prstGeom prst="line">
            <a:avLst/>
          </a:prstGeom>
          <a:ln w="13970">
            <a:solidFill>
              <a:srgbClr val="1518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98500" y="6375400"/>
            <a:ext cx="10795000" cy="0"/>
          </a:xfrm>
          <a:prstGeom prst="line">
            <a:avLst/>
          </a:prstGeom>
          <a:ln w="952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98500" y="6464300"/>
            <a:ext cx="825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AI Literacy  ·  50-minute roadmap · Understand the principle, design it yourself, then confirm the standard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0" y="6464300"/>
            <a:ext cx="1968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5D6775"/>
                </a:solidFill>
                <a:latin typeface="Pretendard"/>
              </a:rPr>
              <a:t>HYCU AI STUDIO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8500" y="2413000"/>
            <a:ext cx="222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06B86"/>
                </a:solidFill>
                <a:latin typeface="Arial"/>
              </a:rPr>
              <a:t>50 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500" y="2667000"/>
            <a:ext cx="2222500" cy="139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151821"/>
                </a:solidFill>
                <a:latin typeface="Pretendard"/>
              </a:rPr>
              <a:t>Turning AI experience</a:t>
            </a:r>
          </a:p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151821"/>
                </a:solidFill>
                <a:latin typeface="Pretendard"/>
              </a:rPr>
              <a:t>into collaboration skill.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65500" y="3206750"/>
            <a:ext cx="1841500" cy="1905000"/>
          </a:xfrm>
          <a:prstGeom prst="roundRect">
            <a:avLst>
              <a:gd name="adj" fmla="val 12000"/>
            </a:avLst>
          </a:prstGeom>
          <a:solidFill>
            <a:srgbClr val="00AEDD"/>
          </a:solidFill>
          <a:ln w="15875">
            <a:solidFill>
              <a:srgbClr val="00A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67100" y="3270250"/>
            <a:ext cx="16383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51821"/>
                </a:solidFill>
                <a:latin typeface="Pretendard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67100" y="3397250"/>
            <a:ext cx="1638300" cy="161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151821"/>
                </a:solidFill>
                <a:latin typeface="Pretendard"/>
              </a:rPr>
              <a:t>How generative AI works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67100" y="4819650"/>
            <a:ext cx="16383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Understand · 10 min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207000.0" y="4159250.0"/>
            <a:ext cx="254000.0" cy="0.0"/>
          </a:xfrm>
          <a:prstGeom prst="line">
            <a:avLst/>
          </a:prstGeom>
          <a:ln w="1587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5400000">
            <a:off x="5403850" y="4114800"/>
            <a:ext cx="88900" cy="88900"/>
          </a:xfrm>
          <a:prstGeom prst="triangle">
            <a:avLst/>
          </a:prstGeom>
          <a:solidFill>
            <a:srgbClr val="1518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461000" y="3206750"/>
            <a:ext cx="1841500" cy="1905000"/>
          </a:xfrm>
          <a:prstGeom prst="roundRect">
            <a:avLst>
              <a:gd name="adj" fmla="val 12000"/>
            </a:avLst>
          </a:prstGeom>
          <a:solidFill>
            <a:srgbClr val="315CFF"/>
          </a:solidFill>
          <a:ln w="15875">
            <a:solidFill>
              <a:srgbClr val="31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62600" y="3270250"/>
            <a:ext cx="16383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FFFFFF"/>
                </a:solidFill>
                <a:latin typeface="Pretendard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62600" y="3397250"/>
            <a:ext cx="1638300" cy="161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Pretendard"/>
              </a:rPr>
              <a:t>Prompts &amp; role division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62600" y="4819650"/>
            <a:ext cx="16383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C9D3FF"/>
                </a:solidFill>
                <a:latin typeface="Pretendard"/>
              </a:rPr>
              <a:t>Design · 15 min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302500.0" y="4159250.0"/>
            <a:ext cx="254000.0" cy="0.0"/>
          </a:xfrm>
          <a:prstGeom prst="line">
            <a:avLst/>
          </a:prstGeom>
          <a:ln w="1587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Isosceles Triangle 25"/>
          <p:cNvSpPr/>
          <p:nvPr/>
        </p:nvSpPr>
        <p:spPr>
          <a:xfrm rot="5400000">
            <a:off x="7499350" y="4114800"/>
            <a:ext cx="88900" cy="88900"/>
          </a:xfrm>
          <a:prstGeom prst="triangle">
            <a:avLst/>
          </a:prstGeom>
          <a:solidFill>
            <a:srgbClr val="1518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556500" y="3206750"/>
            <a:ext cx="1841500" cy="1905000"/>
          </a:xfrm>
          <a:prstGeom prst="roundRect">
            <a:avLst>
              <a:gd name="adj" fmla="val 12000"/>
            </a:avLst>
          </a:prstGeom>
          <a:solidFill>
            <a:srgbClr val="151821"/>
          </a:solidFill>
          <a:ln w="15875">
            <a:solidFill>
              <a:srgbClr val="1518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58100" y="3270250"/>
            <a:ext cx="16383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FFFFFF"/>
                </a:solidFill>
                <a:latin typeface="Pretendard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58100" y="3397250"/>
            <a:ext cx="1638300" cy="161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Pretendard"/>
              </a:rPr>
              <a:t>Build a collaboration flow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58100" y="4819650"/>
            <a:ext cx="16383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A9AFB8"/>
                </a:solidFill>
                <a:latin typeface="Pretendard"/>
              </a:rPr>
              <a:t>Practice · 15 min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398000.0" y="4159250.0"/>
            <a:ext cx="254000.0" cy="0.0"/>
          </a:xfrm>
          <a:prstGeom prst="line">
            <a:avLst/>
          </a:prstGeom>
          <a:ln w="1587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/>
          <p:cNvSpPr/>
          <p:nvPr/>
        </p:nvSpPr>
        <p:spPr>
          <a:xfrm rot="5400000">
            <a:off x="9594850" y="4114800"/>
            <a:ext cx="88900" cy="88900"/>
          </a:xfrm>
          <a:prstGeom prst="triangle">
            <a:avLst/>
          </a:prstGeom>
          <a:solidFill>
            <a:srgbClr val="1518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652000" y="3206750"/>
            <a:ext cx="1841500" cy="1905000"/>
          </a:xfrm>
          <a:prstGeom prst="roundRect">
            <a:avLst>
              <a:gd name="adj" fmla="val 12000"/>
            </a:avLst>
          </a:prstGeom>
          <a:solidFill>
            <a:srgbClr val="74D3EA"/>
          </a:solidFill>
          <a:ln w="15875">
            <a:solidFill>
              <a:srgbClr val="74D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753600" y="3270250"/>
            <a:ext cx="16383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51821"/>
                </a:solidFill>
                <a:latin typeface="Pretendard"/>
              </a:rPr>
              <a:t>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53600" y="3397250"/>
            <a:ext cx="1638300" cy="161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151821"/>
                </a:solidFill>
                <a:latin typeface="Pretendard"/>
              </a:rPr>
              <a:t>Risk review &amp; assessment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53600" y="4819650"/>
            <a:ext cx="16383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2A4A55"/>
                </a:solidFill>
                <a:latin typeface="Pretendard"/>
              </a:rPr>
              <a:t>Check · 10 min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381000"/>
            <a:ext cx="381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D6775"/>
                </a:solidFill>
                <a:latin typeface="Pretendard"/>
              </a:rPr>
              <a:t>HYCU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8700" y="381000"/>
            <a:ext cx="73025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AI Literacy / Ch.03 Working with Generative AI / 05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0" y="374650"/>
            <a:ext cx="1524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DEVELOPMENT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1000" y="355600"/>
            <a:ext cx="9525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05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838200"/>
            <a:ext cx="10795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151821"/>
                </a:solidFill>
                <a:latin typeface="Pretendard"/>
              </a:rPr>
              <a:t>Generative AI Predicts and Creates the Next Result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" y="1663700"/>
            <a:ext cx="10795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D6775"/>
                </a:solidFill>
                <a:latin typeface="Pretendard"/>
              </a:rPr>
              <a:t>A system combining learned patterns with user input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98500" y="2019300"/>
            <a:ext cx="10795000" cy="0"/>
          </a:xfrm>
          <a:prstGeom prst="line">
            <a:avLst/>
          </a:prstGeom>
          <a:ln w="13970">
            <a:solidFill>
              <a:srgbClr val="1518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98500" y="6375400"/>
            <a:ext cx="10795000" cy="0"/>
          </a:xfrm>
          <a:prstGeom prst="line">
            <a:avLst/>
          </a:prstGeom>
          <a:ln w="952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98500" y="6464300"/>
            <a:ext cx="825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AI Literacy  ·  How generation works · The model builds the next result from learned patterns and the current 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0" y="6464300"/>
            <a:ext cx="1968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5D6775"/>
                </a:solidFill>
                <a:latin typeface="Pretendard"/>
              </a:rPr>
              <a:t>HYCU AI STUDIO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8500" y="2222500"/>
            <a:ext cx="2540000" cy="1651000"/>
          </a:xfrm>
          <a:prstGeom prst="roundRect">
            <a:avLst>
              <a:gd name="adj" fmla="val 12000"/>
            </a:avLst>
          </a:prstGeom>
          <a:solidFill>
            <a:srgbClr val="00AEDD"/>
          </a:solidFill>
          <a:ln w="15875">
            <a:solidFill>
              <a:srgbClr val="00A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100" y="2286000"/>
            <a:ext cx="23368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51821"/>
                </a:solidFill>
                <a:latin typeface="Pretendard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" y="2413000"/>
            <a:ext cx="2336800" cy="1358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51821"/>
                </a:solidFill>
                <a:latin typeface="Pretendard"/>
              </a:rPr>
              <a:t>Learned Patterns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" y="3581400"/>
            <a:ext cx="23368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D6775"/>
                </a:solidFill>
                <a:latin typeface="Pretendard"/>
              </a:rPr>
              <a:t>Text · images · code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302000" y="3048000.0"/>
            <a:ext cx="317500" cy="0.0"/>
          </a:xfrm>
          <a:prstGeom prst="line">
            <a:avLst/>
          </a:prstGeom>
          <a:ln w="1587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3562350" y="3003550"/>
            <a:ext cx="88900" cy="88900"/>
          </a:xfrm>
          <a:prstGeom prst="triangle">
            <a:avLst/>
          </a:prstGeom>
          <a:solidFill>
            <a:srgbClr val="1518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02000" y="2895600"/>
            <a:ext cx="3175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5D6775"/>
                </a:solidFill>
                <a:latin typeface="Pretendard"/>
              </a:rPr>
              <a:t>Combines with input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83000" y="2222500"/>
            <a:ext cx="2540000" cy="1651000"/>
          </a:xfrm>
          <a:prstGeom prst="roundRect">
            <a:avLst>
              <a:gd name="adj" fmla="val 12000"/>
            </a:avLst>
          </a:prstGeom>
          <a:solidFill>
            <a:srgbClr val="315CFF"/>
          </a:solidFill>
          <a:ln w="15875">
            <a:solidFill>
              <a:srgbClr val="31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84600" y="2286000"/>
            <a:ext cx="23368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FFFFFF"/>
                </a:solidFill>
                <a:latin typeface="Pretendard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84600" y="2413000"/>
            <a:ext cx="2336800" cy="1358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Pretendard"/>
              </a:rPr>
              <a:t>Generative Model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84600" y="3581400"/>
            <a:ext cx="23368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C9D3FF"/>
                </a:solidFill>
                <a:latin typeface="Pretendard"/>
              </a:rPr>
              <a:t>Probabilistically predicts what comes next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286500" y="3048000.0"/>
            <a:ext cx="317500" cy="0.0"/>
          </a:xfrm>
          <a:prstGeom prst="line">
            <a:avLst/>
          </a:prstGeom>
          <a:ln w="1587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5400000">
            <a:off x="6546850" y="3003550"/>
            <a:ext cx="88900" cy="88900"/>
          </a:xfrm>
          <a:prstGeom prst="triangle">
            <a:avLst/>
          </a:prstGeom>
          <a:solidFill>
            <a:srgbClr val="1518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86500" y="2895600"/>
            <a:ext cx="3175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5D6775"/>
                </a:solidFill>
                <a:latin typeface="Pretendard"/>
              </a:rPr>
              <a:t>Composes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67500" y="2222500"/>
            <a:ext cx="2540000" cy="1651000"/>
          </a:xfrm>
          <a:prstGeom prst="roundRect">
            <a:avLst>
              <a:gd name="adj" fmla="val 12000"/>
            </a:avLst>
          </a:prstGeom>
          <a:solidFill>
            <a:srgbClr val="151821"/>
          </a:solidFill>
          <a:ln w="15875">
            <a:solidFill>
              <a:srgbClr val="1518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9100" y="2286000"/>
            <a:ext cx="23368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FFFFFF"/>
                </a:solidFill>
                <a:latin typeface="Pretendard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9100" y="2413000"/>
            <a:ext cx="2336800" cy="1358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Pretendard"/>
              </a:rPr>
              <a:t>New Result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9100" y="3581400"/>
            <a:ext cx="23368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A9AFB8"/>
                </a:solidFill>
                <a:latin typeface="Pretendard"/>
              </a:rPr>
              <a:t>Drafts · summaries · ideas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98500" y="4127500"/>
            <a:ext cx="5997222" cy="19685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2800" y="4241800"/>
            <a:ext cx="5768622" cy="114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51821"/>
                </a:solidFill>
                <a:latin typeface="Arial"/>
              </a:rPr>
              <a:t>KEY IDEA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2800" y="4394200"/>
            <a:ext cx="5768622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5D6775"/>
                </a:solidFill>
                <a:latin typeface="Pretendard"/>
              </a:rPr>
              <a:t>AI's output is a generated prediction, not a retrieved answer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4762500"/>
            <a:ext cx="5768622" cy="12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5D6775"/>
                </a:solidFill>
                <a:latin typeface="Pretendard"/>
              </a:rPr>
              <a:t>Fluent sentences and factual accuracy are two different things.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822722" y="4127500"/>
            <a:ext cx="4670778" cy="1968500"/>
          </a:xfrm>
          <a:prstGeom prst="roundRect">
            <a:avLst>
              <a:gd name="adj" fmla="val 9000"/>
            </a:avLst>
          </a:prstGeom>
          <a:solidFill>
            <a:srgbClr val="D4F1F7"/>
          </a:solidFill>
          <a:ln w="1270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37022" y="4241800"/>
            <a:ext cx="4442178" cy="114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06B86"/>
                </a:solidFill>
                <a:latin typeface="Arial"/>
              </a:rPr>
              <a:t>WHY IT MATTERS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37022" y="4394200"/>
            <a:ext cx="4442178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151821"/>
                </a:solidFill>
                <a:latin typeface="Pretendard"/>
              </a:rPr>
              <a:t>Check evidence, not just plausibility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37022" y="4762500"/>
            <a:ext cx="4442178" cy="12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51821"/>
                </a:solidFill>
                <a:latin typeface="Pretendard"/>
              </a:rPr>
              <a:t>Cross-check key facts, figures, and quotes against reliable sources.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381000"/>
            <a:ext cx="381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D6775"/>
                </a:solidFill>
                <a:latin typeface="Pretendard"/>
              </a:rPr>
              <a:t>HYCU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8700" y="381000"/>
            <a:ext cx="73025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AI Literacy / Ch.03 Working with Generative AI / 06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0" y="374650"/>
            <a:ext cx="1524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DEVELOPMENT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1000" y="355600"/>
            <a:ext cx="9525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06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838200"/>
            <a:ext cx="10795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151821"/>
                </a:solidFill>
                <a:latin typeface="Pretendard"/>
              </a:rPr>
              <a:t>AI Has Evolved from Rules to Generation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" y="1663700"/>
            <a:ext cx="10795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D6775"/>
                </a:solidFill>
                <a:latin typeface="Pretendard"/>
              </a:rPr>
              <a:t>The shifting role of AI from rule-based systems to generative AI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98500" y="2019300"/>
            <a:ext cx="10795000" cy="0"/>
          </a:xfrm>
          <a:prstGeom prst="line">
            <a:avLst/>
          </a:prstGeom>
          <a:ln w="13970">
            <a:solidFill>
              <a:srgbClr val="1518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98500" y="6375400"/>
            <a:ext cx="10795000" cy="0"/>
          </a:xfrm>
          <a:prstGeom prst="line">
            <a:avLst/>
          </a:prstGeom>
          <a:ln w="952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98500" y="6464300"/>
            <a:ext cx="825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AI Literacy  ·  AI's evolution · From executing fixed rules to learning from data to generating new results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0" y="6464300"/>
            <a:ext cx="1968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5D6775"/>
                </a:solidFill>
                <a:latin typeface="Pretendard"/>
              </a:rPr>
              <a:t>HYCU AI STUDIO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8500" y="2349500"/>
            <a:ext cx="444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D6775"/>
                </a:solidFill>
                <a:latin typeface="Pretendard"/>
              </a:rPr>
              <a:t>Executes fixed rules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8500" y="2349500"/>
            <a:ext cx="444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50" b="0" i="0">
                <a:solidFill>
                  <a:srgbClr val="5D6775"/>
                </a:solidFill>
                <a:latin typeface="Pretendard"/>
              </a:rPr>
              <a:t>Generates new results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79500" y="3175000"/>
            <a:ext cx="10033000" cy="0"/>
          </a:xfrm>
          <a:prstGeom prst="line">
            <a:avLst/>
          </a:prstGeom>
          <a:ln w="38100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98500" y="2794000"/>
            <a:ext cx="2470150" cy="1905000"/>
          </a:xfrm>
          <a:prstGeom prst="roundRect">
            <a:avLst>
              <a:gd name="adj" fmla="val 12000"/>
            </a:avLst>
          </a:prstGeom>
          <a:solidFill>
            <a:srgbClr val="00AEDD"/>
          </a:solidFill>
          <a:ln w="15875">
            <a:solidFill>
              <a:srgbClr val="00A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100" y="2857500"/>
            <a:ext cx="226695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51821"/>
                </a:solidFill>
                <a:latin typeface="Pretendard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" y="2984500"/>
            <a:ext cx="2266950" cy="161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51821"/>
                </a:solidFill>
                <a:latin typeface="Pretendard"/>
              </a:rPr>
              <a:t>Rule-Based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" y="4406900"/>
            <a:ext cx="226695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D6775"/>
                </a:solidFill>
                <a:latin typeface="Pretendard"/>
              </a:rPr>
              <a:t>Fixed conditions · Executes explicit rules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73450" y="2794000"/>
            <a:ext cx="2470150" cy="1905000"/>
          </a:xfrm>
          <a:prstGeom prst="roundRect">
            <a:avLst>
              <a:gd name="adj" fmla="val 12000"/>
            </a:avLst>
          </a:prstGeom>
          <a:solidFill>
            <a:srgbClr val="315CFF"/>
          </a:solidFill>
          <a:ln w="15875">
            <a:solidFill>
              <a:srgbClr val="31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75050" y="2857500"/>
            <a:ext cx="226695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FFFFFF"/>
                </a:solidFill>
                <a:latin typeface="Pretendard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75050" y="2984500"/>
            <a:ext cx="2266950" cy="161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Pretendard"/>
              </a:rPr>
              <a:t>Machine Learning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75050" y="4406900"/>
            <a:ext cx="226695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C9D3FF"/>
                </a:solidFill>
                <a:latin typeface="Pretendard"/>
              </a:rPr>
              <a:t>Pattern learning · Classifies/predicts from data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48400" y="2794000"/>
            <a:ext cx="2470150" cy="1905000"/>
          </a:xfrm>
          <a:prstGeom prst="roundRect">
            <a:avLst>
              <a:gd name="adj" fmla="val 12000"/>
            </a:avLst>
          </a:prstGeom>
          <a:solidFill>
            <a:srgbClr val="151821"/>
          </a:solidFill>
          <a:ln w="15875">
            <a:solidFill>
              <a:srgbClr val="1518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0000" y="2857500"/>
            <a:ext cx="226695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FFFFFF"/>
                </a:solidFill>
                <a:latin typeface="Pretendard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0000" y="2984500"/>
            <a:ext cx="2266950" cy="161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Pretendard"/>
              </a:rPr>
              <a:t>Deep Learning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0000" y="4406900"/>
            <a:ext cx="226695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A9AFB8"/>
                </a:solidFill>
                <a:latin typeface="Pretendard"/>
              </a:rPr>
              <a:t>Representation learning · Auto-extracts complex features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23350" y="2794000"/>
            <a:ext cx="2470150" cy="1905000"/>
          </a:xfrm>
          <a:prstGeom prst="roundRect">
            <a:avLst>
              <a:gd name="adj" fmla="val 12000"/>
            </a:avLst>
          </a:prstGeom>
          <a:solidFill>
            <a:srgbClr val="74D3EA"/>
          </a:solidFill>
          <a:ln w="15875">
            <a:solidFill>
              <a:srgbClr val="74D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24950" y="2857500"/>
            <a:ext cx="226695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51821"/>
                </a:solidFill>
                <a:latin typeface="Pretendard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24950" y="2984500"/>
            <a:ext cx="2266950" cy="161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51821"/>
                </a:solidFill>
                <a:latin typeface="Pretendard"/>
              </a:rPr>
              <a:t>Generative AI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24950" y="4406900"/>
            <a:ext cx="226695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A4A55"/>
                </a:solidFill>
                <a:latin typeface="Pretendard"/>
              </a:rPr>
              <a:t>New result generation · Composes text/image/code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381000"/>
            <a:ext cx="381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D6775"/>
                </a:solidFill>
                <a:latin typeface="Pretendard"/>
              </a:rPr>
              <a:t>HYCU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8700" y="381000"/>
            <a:ext cx="73025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AI Literacy / Ch.03 Working with Generative AI / 07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0" y="374650"/>
            <a:ext cx="1524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DEVELOPMENT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1000" y="355600"/>
            <a:ext cx="9525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07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838200"/>
            <a:ext cx="10795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151821"/>
                </a:solidFill>
                <a:latin typeface="Pretendard"/>
              </a:rPr>
              <a:t>A Good Prompt Has Five Elements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" y="1663700"/>
            <a:ext cx="10795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D6775"/>
                </a:solidFill>
                <a:latin typeface="Pretendard"/>
              </a:rPr>
              <a:t>Designing goal, context, data, constraints, and format at once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98500" y="2019300"/>
            <a:ext cx="10795000" cy="0"/>
          </a:xfrm>
          <a:prstGeom prst="line">
            <a:avLst/>
          </a:prstGeom>
          <a:ln w="13970">
            <a:solidFill>
              <a:srgbClr val="1518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98500" y="6375400"/>
            <a:ext cx="10795000" cy="0"/>
          </a:xfrm>
          <a:prstGeom prst="line">
            <a:avLst/>
          </a:prstGeom>
          <a:ln w="952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98500" y="6464300"/>
            <a:ext cx="825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AI Literacy  ·  Prompt structure · Presenting all five elements at once sharpens both the direction of the result and how to review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0" y="6464300"/>
            <a:ext cx="1968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5D6775"/>
                </a:solidFill>
                <a:latin typeface="Pretendard"/>
              </a:rPr>
              <a:t>HYCU AI STUDIO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38500" y="2349500"/>
            <a:ext cx="5715000" cy="571500"/>
          </a:xfrm>
          <a:prstGeom prst="roundRect">
            <a:avLst>
              <a:gd name="adj" fmla="val 15000"/>
            </a:avLst>
          </a:prstGeom>
          <a:noFill/>
          <a:ln w="19050">
            <a:solidFill>
              <a:srgbClr val="1518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65500" y="2349500"/>
            <a:ext cx="5461000" cy="571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50" b="1" i="0">
                <a:solidFill>
                  <a:srgbClr val="151821"/>
                </a:solidFill>
                <a:latin typeface="Pretendard"/>
              </a:rPr>
              <a:t>“Write a 5-point AI security guide for new employees.”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270000" y="3733800"/>
            <a:ext cx="9652000" cy="0"/>
          </a:xfrm>
          <a:prstGeom prst="line">
            <a:avLst/>
          </a:prstGeom>
          <a:ln w="31750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1475740" y="3492500"/>
            <a:ext cx="482600" cy="482600"/>
          </a:xfrm>
          <a:prstGeom prst="ellipse">
            <a:avLst/>
          </a:prstGeom>
          <a:solidFill>
            <a:srgbClr val="F7F5F0"/>
          </a:solidFill>
          <a:ln w="31750">
            <a:solidFill>
              <a:srgbClr val="00A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75740" y="3492500"/>
            <a:ext cx="482600" cy="482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06B86"/>
                </a:solidFill>
                <a:latin typeface="Arial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72540" y="4051300"/>
            <a:ext cx="889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151821"/>
                </a:solidFill>
                <a:latin typeface="Pretendard"/>
              </a:rPr>
              <a:t>Goal</a:t>
            </a:r>
          </a:p>
        </p:txBody>
      </p:sp>
      <p:sp>
        <p:nvSpPr>
          <p:cNvPr id="19" name="Oval 18"/>
          <p:cNvSpPr/>
          <p:nvPr/>
        </p:nvSpPr>
        <p:spPr>
          <a:xfrm>
            <a:off x="3665220" y="3492500"/>
            <a:ext cx="482600" cy="482600"/>
          </a:xfrm>
          <a:prstGeom prst="ellipse">
            <a:avLst/>
          </a:prstGeom>
          <a:solidFill>
            <a:srgbClr val="F7F5F0"/>
          </a:solidFill>
          <a:ln w="31750">
            <a:solidFill>
              <a:srgbClr val="00A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65220" y="3492500"/>
            <a:ext cx="482600" cy="482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06B86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62020" y="4051300"/>
            <a:ext cx="889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151821"/>
                </a:solidFill>
                <a:latin typeface="Pretendard"/>
              </a:rPr>
              <a:t>Context</a:t>
            </a:r>
          </a:p>
        </p:txBody>
      </p:sp>
      <p:sp>
        <p:nvSpPr>
          <p:cNvPr id="22" name="Oval 21"/>
          <p:cNvSpPr/>
          <p:nvPr/>
        </p:nvSpPr>
        <p:spPr>
          <a:xfrm>
            <a:off x="5854700" y="3492500"/>
            <a:ext cx="482600" cy="482600"/>
          </a:xfrm>
          <a:prstGeom prst="ellipse">
            <a:avLst/>
          </a:prstGeom>
          <a:solidFill>
            <a:srgbClr val="F7F5F0"/>
          </a:solidFill>
          <a:ln w="31750">
            <a:solidFill>
              <a:srgbClr val="00A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54700" y="3492500"/>
            <a:ext cx="482600" cy="482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06B8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51500" y="4051300"/>
            <a:ext cx="889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151821"/>
                </a:solidFill>
                <a:latin typeface="Pretendard"/>
              </a:rPr>
              <a:t>Data</a:t>
            </a:r>
          </a:p>
        </p:txBody>
      </p:sp>
      <p:sp>
        <p:nvSpPr>
          <p:cNvPr id="25" name="Oval 24"/>
          <p:cNvSpPr/>
          <p:nvPr/>
        </p:nvSpPr>
        <p:spPr>
          <a:xfrm>
            <a:off x="8044180" y="3492500"/>
            <a:ext cx="482600" cy="482600"/>
          </a:xfrm>
          <a:prstGeom prst="ellipse">
            <a:avLst/>
          </a:prstGeom>
          <a:solidFill>
            <a:srgbClr val="F7F5F0"/>
          </a:solidFill>
          <a:ln w="31750">
            <a:solidFill>
              <a:srgbClr val="00A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4180" y="3492500"/>
            <a:ext cx="482600" cy="482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06B86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40980" y="4051300"/>
            <a:ext cx="889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151821"/>
                </a:solidFill>
                <a:latin typeface="Pretendard"/>
              </a:rPr>
              <a:t>Constraints</a:t>
            </a:r>
          </a:p>
        </p:txBody>
      </p:sp>
      <p:sp>
        <p:nvSpPr>
          <p:cNvPr id="28" name="Oval 27"/>
          <p:cNvSpPr/>
          <p:nvPr/>
        </p:nvSpPr>
        <p:spPr>
          <a:xfrm>
            <a:off x="10233660" y="3492500"/>
            <a:ext cx="482600" cy="482600"/>
          </a:xfrm>
          <a:prstGeom prst="ellipse">
            <a:avLst/>
          </a:prstGeom>
          <a:solidFill>
            <a:srgbClr val="315CFF"/>
          </a:solidFill>
          <a:ln w="31750">
            <a:solidFill>
              <a:srgbClr val="31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33660" y="3492500"/>
            <a:ext cx="482600" cy="482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30460" y="4051300"/>
            <a:ext cx="889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151821"/>
                </a:solidFill>
                <a:latin typeface="Pretendard"/>
              </a:rPr>
              <a:t>Format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57500" y="4445000"/>
            <a:ext cx="1778000" cy="317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D6775"/>
                </a:solidFill>
                <a:latin typeface="Pretendard"/>
              </a:rPr>
              <a:t>Clear Request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16500" y="4445000"/>
            <a:ext cx="2159000" cy="381000"/>
          </a:xfrm>
          <a:prstGeom prst="roundRect">
            <a:avLst>
              <a:gd name="adj" fmla="val 20000"/>
            </a:avLst>
          </a:prstGeom>
          <a:solidFill>
            <a:srgbClr val="1518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16500" y="4445000"/>
            <a:ext cx="2159000" cy="381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Pretendard"/>
              </a:rPr>
              <a:t>Structured Prompt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56500" y="4445000"/>
            <a:ext cx="1778000" cy="317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50" b="0" i="0">
                <a:solidFill>
                  <a:srgbClr val="5D6775"/>
                </a:solidFill>
                <a:latin typeface="Pretendard"/>
              </a:rPr>
              <a:t>Reviewable Result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381000"/>
            <a:ext cx="381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D6775"/>
                </a:solidFill>
                <a:latin typeface="Pretendard"/>
              </a:rPr>
              <a:t>HYCU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8700" y="381000"/>
            <a:ext cx="73025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AI Literacy / Ch.03 Working with Generative AI / 08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0" y="374650"/>
            <a:ext cx="1524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DEVELOPMENT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1000" y="355600"/>
            <a:ext cx="9525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08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838200"/>
            <a:ext cx="10795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151821"/>
                </a:solidFill>
                <a:latin typeface="Pretendard"/>
              </a:rPr>
              <a:t>AI's Speed Needs Human Verification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" y="1663700"/>
            <a:ext cx="10795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D6775"/>
                </a:solidFill>
                <a:latin typeface="Pretendard"/>
              </a:rPr>
              <a:t>Let AI generate, but keep judgment and responsibility with people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98500" y="2019300"/>
            <a:ext cx="10795000" cy="0"/>
          </a:xfrm>
          <a:prstGeom prst="line">
            <a:avLst/>
          </a:prstGeom>
          <a:ln w="13970">
            <a:solidFill>
              <a:srgbClr val="1518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98500" y="6375400"/>
            <a:ext cx="10795000" cy="0"/>
          </a:xfrm>
          <a:prstGeom prst="line">
            <a:avLst/>
          </a:prstGeom>
          <a:ln w="952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98500" y="6464300"/>
            <a:ext cx="825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AI Literacy  ·  Role split · Results become usable at work when AI's generation speed meets human verification responsibility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0" y="6464300"/>
            <a:ext cx="1968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5D6775"/>
                </a:solidFill>
                <a:latin typeface="Pretendard"/>
              </a:rPr>
              <a:t>HYCU AI STUDIO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8500" y="3270250"/>
            <a:ext cx="2730500" cy="1778000"/>
          </a:xfrm>
          <a:prstGeom prst="roundRect">
            <a:avLst>
              <a:gd name="adj" fmla="val 9000"/>
            </a:avLst>
          </a:prstGeom>
          <a:solidFill>
            <a:srgbClr val="D4F1F7"/>
          </a:solidFill>
          <a:ln w="1270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2800" y="3384550"/>
            <a:ext cx="2501900" cy="114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06B86"/>
                </a:solidFill>
                <a:latin typeface="Arial"/>
              </a:rPr>
              <a:t>AI STRENGTH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800" y="3536950"/>
            <a:ext cx="25019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151821"/>
                </a:solidFill>
                <a:latin typeface="Pretendard"/>
              </a:rPr>
              <a:t>Fast Generation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800" y="3905250"/>
            <a:ext cx="2501900" cy="107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51821"/>
                </a:solidFill>
                <a:latin typeface="Pretendard"/>
              </a:rPr>
              <a:t>Widens alternatives and drafts quickly</a:t>
            </a:r>
          </a:p>
        </p:txBody>
      </p:sp>
      <p:sp>
        <p:nvSpPr>
          <p:cNvPr id="17" name="Oval 16"/>
          <p:cNvSpPr/>
          <p:nvPr/>
        </p:nvSpPr>
        <p:spPr>
          <a:xfrm>
            <a:off x="3683000" y="3429000"/>
            <a:ext cx="1460500" cy="1460500"/>
          </a:xfrm>
          <a:prstGeom prst="ellipse">
            <a:avLst/>
          </a:prstGeom>
          <a:noFill/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865562" y="3611562"/>
            <a:ext cx="1095375" cy="1095375"/>
          </a:xfrm>
          <a:prstGeom prst="ellipse">
            <a:avLst/>
          </a:prstGeom>
          <a:noFill/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048125" y="3794125"/>
            <a:ext cx="730250" cy="730250"/>
          </a:xfrm>
          <a:prstGeom prst="ellipse">
            <a:avLst/>
          </a:prstGeom>
          <a:noFill/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343400" y="4089400"/>
            <a:ext cx="139700" cy="139700"/>
          </a:xfrm>
          <a:prstGeom prst="ellipse">
            <a:avLst/>
          </a:prstGeom>
          <a:solidFill>
            <a:srgbClr val="00A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34000" y="3270250"/>
            <a:ext cx="508000" cy="17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 i="0">
                <a:solidFill>
                  <a:srgbClr val="5D6775"/>
                </a:solidFill>
                <a:latin typeface="Arial"/>
              </a:rPr>
              <a:t>+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05500" y="3270250"/>
            <a:ext cx="2730500" cy="1778000"/>
          </a:xfrm>
          <a:prstGeom prst="roundRect">
            <a:avLst>
              <a:gd name="adj" fmla="val 9000"/>
            </a:avLst>
          </a:prstGeom>
          <a:solidFill>
            <a:srgbClr val="E0E6FF"/>
          </a:solidFill>
          <a:ln w="1270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19800" y="3384550"/>
            <a:ext cx="2501900" cy="114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D3FBF"/>
                </a:solidFill>
                <a:latin typeface="Arial"/>
              </a:rPr>
              <a:t>HUMAN ROLE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19800" y="3536950"/>
            <a:ext cx="25019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151821"/>
                </a:solidFill>
                <a:latin typeface="Pretendard"/>
              </a:rPr>
              <a:t>Evidence Check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19800" y="3905250"/>
            <a:ext cx="2501900" cy="107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51821"/>
                </a:solidFill>
                <a:latin typeface="Pretendard"/>
              </a:rPr>
              <a:t>Responsibly judges facts, context, impact</a:t>
            </a:r>
          </a:p>
        </p:txBody>
      </p:sp>
      <p:sp>
        <p:nvSpPr>
          <p:cNvPr id="26" name="Oval 25"/>
          <p:cNvSpPr/>
          <p:nvPr/>
        </p:nvSpPr>
        <p:spPr>
          <a:xfrm>
            <a:off x="8890000" y="3429000"/>
            <a:ext cx="1460500" cy="1460500"/>
          </a:xfrm>
          <a:prstGeom prst="ellipse">
            <a:avLst/>
          </a:prstGeom>
          <a:noFill/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072562" y="3611562"/>
            <a:ext cx="1095375" cy="1095375"/>
          </a:xfrm>
          <a:prstGeom prst="ellipse">
            <a:avLst/>
          </a:prstGeom>
          <a:noFill/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55125" y="3794125"/>
            <a:ext cx="730250" cy="730250"/>
          </a:xfrm>
          <a:prstGeom prst="ellipse">
            <a:avLst/>
          </a:prstGeom>
          <a:noFill/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448800" y="3937000"/>
            <a:ext cx="139700" cy="139700"/>
          </a:xfrm>
          <a:prstGeom prst="ellipse">
            <a:avLst/>
          </a:prstGeom>
          <a:solidFill>
            <a:srgbClr val="31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10604500" y="3270250.0"/>
            <a:ext cx="0" cy="1778000.0"/>
          </a:xfrm>
          <a:prstGeom prst="line">
            <a:avLst/>
          </a:prstGeom>
          <a:ln w="19050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0795000" y="3651250"/>
            <a:ext cx="698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06B86"/>
                </a:solidFill>
                <a:latin typeface="Pretendard"/>
              </a:rPr>
              <a:t>Good AI Collaboration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95000" y="4095750"/>
            <a:ext cx="6985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51821"/>
                </a:solidFill>
                <a:latin typeface="Pretendard"/>
              </a:rPr>
              <a:t>Fast, yet reviewable results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381000"/>
            <a:ext cx="381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D6775"/>
                </a:solidFill>
                <a:latin typeface="Pretendard"/>
              </a:rPr>
              <a:t>HYCU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8700" y="381000"/>
            <a:ext cx="73025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AI Literacy / Ch.03 Working with Generative AI / 09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0" y="374650"/>
            <a:ext cx="1524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DEVELOPMENT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1000" y="355600"/>
            <a:ext cx="9525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09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838200"/>
            <a:ext cx="10795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151821"/>
                </a:solidFill>
                <a:latin typeface="Pretendard"/>
              </a:rPr>
              <a:t>Prompts Get Clearer with Four Principles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" y="1663700"/>
            <a:ext cx="10795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D6775"/>
                </a:solidFill>
                <a:latin typeface="Pretendard"/>
              </a:rPr>
              <a:t>Specificity, context, constraints, iterative refinement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98500" y="2019300"/>
            <a:ext cx="10795000" cy="0"/>
          </a:xfrm>
          <a:prstGeom prst="line">
            <a:avLst/>
          </a:prstGeom>
          <a:ln w="13970">
            <a:solidFill>
              <a:srgbClr val="1518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98500" y="6375400"/>
            <a:ext cx="10795000" cy="0"/>
          </a:xfrm>
          <a:prstGeom prst="line">
            <a:avLst/>
          </a:prstGeom>
          <a:ln w="952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98500" y="6464300"/>
            <a:ext cx="825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AI Literacy  ·  Prompt design · Design verifiable iteration rather than one perfect question.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0" y="6464300"/>
            <a:ext cx="1968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5D6775"/>
                </a:solidFill>
                <a:latin typeface="Pretendard"/>
              </a:rPr>
              <a:t>HYCU AI STUDIO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38200" y="2400300"/>
            <a:ext cx="0" cy="3517900"/>
          </a:xfrm>
          <a:prstGeom prst="line">
            <a:avLst/>
          </a:prstGeom>
          <a:ln w="31750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692150" y="2560637"/>
            <a:ext cx="292100" cy="292100"/>
          </a:xfrm>
          <a:prstGeom prst="ellipse">
            <a:avLst/>
          </a:prstGeom>
          <a:solidFill>
            <a:srgbClr val="00A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2150" y="2560637"/>
            <a:ext cx="292100" cy="292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51821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2222500"/>
            <a:ext cx="3175000" cy="9683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151821"/>
                </a:solidFill>
                <a:latin typeface="Pretendard"/>
              </a:rPr>
              <a:t>Be Specific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5000" y="2222500"/>
            <a:ext cx="7048500" cy="9683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5D6775"/>
                </a:solidFill>
                <a:latin typeface="Pretendard"/>
              </a:rPr>
              <a:t>Make the target and desired result explicit.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143000" y="3190875.0"/>
            <a:ext cx="10350500" cy="0.0"/>
          </a:xfrm>
          <a:prstGeom prst="line">
            <a:avLst/>
          </a:prstGeom>
          <a:ln w="952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692150" y="3529012"/>
            <a:ext cx="292100" cy="292100"/>
          </a:xfrm>
          <a:prstGeom prst="ellipse">
            <a:avLst/>
          </a:prstGeom>
          <a:solidFill>
            <a:srgbClr val="00A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2150" y="3529012"/>
            <a:ext cx="292100" cy="292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51821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3190875"/>
            <a:ext cx="3175000" cy="9683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151821"/>
                </a:solidFill>
                <a:latin typeface="Pretendard"/>
              </a:rPr>
              <a:t>Give Enough Context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45000" y="3190875"/>
            <a:ext cx="7048500" cy="9683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5D6775"/>
                </a:solidFill>
                <a:latin typeface="Pretendard"/>
              </a:rPr>
              <a:t>Reduce blanks the model has to guess.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43000" y="4159250.0"/>
            <a:ext cx="10350500" cy="0.0"/>
          </a:xfrm>
          <a:prstGeom prst="line">
            <a:avLst/>
          </a:prstGeom>
          <a:ln w="952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692150" y="4497387"/>
            <a:ext cx="292100" cy="292100"/>
          </a:xfrm>
          <a:prstGeom prst="ellipse">
            <a:avLst/>
          </a:prstGeom>
          <a:solidFill>
            <a:srgbClr val="00A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2150" y="4497387"/>
            <a:ext cx="292100" cy="292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51821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4159250"/>
            <a:ext cx="3175000" cy="9683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151821"/>
                </a:solidFill>
                <a:latin typeface="Pretendard"/>
              </a:rPr>
              <a:t>State Constraints &amp; Format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45000" y="4159250"/>
            <a:ext cx="7048500" cy="9683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5D6775"/>
                </a:solidFill>
                <a:latin typeface="Pretendard"/>
              </a:rPr>
              <a:t>Set length, scope, and expression style.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143000" y="5127625.0"/>
            <a:ext cx="10350500" cy="0.0"/>
          </a:xfrm>
          <a:prstGeom prst="line">
            <a:avLst/>
          </a:prstGeom>
          <a:ln w="952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692150" y="5465762"/>
            <a:ext cx="292100" cy="292100"/>
          </a:xfrm>
          <a:prstGeom prst="ellipse">
            <a:avLst/>
          </a:prstGeom>
          <a:solidFill>
            <a:srgbClr val="00A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2150" y="5465762"/>
            <a:ext cx="292100" cy="292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51821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" y="5127625"/>
            <a:ext cx="3175000" cy="9683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151821"/>
                </a:solidFill>
                <a:latin typeface="Pretendard"/>
              </a:rPr>
              <a:t>Don't Stop at One Pass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45000" y="5127625"/>
            <a:ext cx="7048500" cy="9683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5D6775"/>
                </a:solidFill>
                <a:latin typeface="Pretendard"/>
              </a:rPr>
              <a:t>Improve results via feedback and verification.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381000"/>
            <a:ext cx="381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D6775"/>
                </a:solidFill>
                <a:latin typeface="Pretendard"/>
              </a:rPr>
              <a:t>HYCU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8700" y="381000"/>
            <a:ext cx="73025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AI Literacy / Ch.03 Working with Generative AI / 10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0" y="374650"/>
            <a:ext cx="1524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DEVELOPMENT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1000" y="355600"/>
            <a:ext cx="9525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10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838200"/>
            <a:ext cx="10795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151821"/>
                </a:solidFill>
                <a:latin typeface="Pretendard"/>
              </a:rPr>
              <a:t>AI's Role Changes with the Nature of the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" y="1663700"/>
            <a:ext cx="10795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D6775"/>
                </a:solidFill>
                <a:latin typeface="Pretendard"/>
              </a:rPr>
              <a:t>Set the scope of use based on structure, creativity, and risk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98500" y="2019300"/>
            <a:ext cx="10795000" cy="0"/>
          </a:xfrm>
          <a:prstGeom prst="line">
            <a:avLst/>
          </a:prstGeom>
          <a:ln w="13970">
            <a:solidFill>
              <a:srgbClr val="1518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98500" y="6375400"/>
            <a:ext cx="10795000" cy="0"/>
          </a:xfrm>
          <a:prstGeom prst="line">
            <a:avLst/>
          </a:prstGeom>
          <a:ln w="952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98500" y="6464300"/>
            <a:ext cx="825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AI Literacy  ·  Task diagnosis · The further right, the higher the level of human oversight and approval needed.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0" y="6464300"/>
            <a:ext cx="1968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5D6775"/>
                </a:solidFill>
                <a:latin typeface="Pretendard"/>
              </a:rPr>
              <a:t>HYCU AI STUDIO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8500" y="2222500"/>
            <a:ext cx="1524000" cy="469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Repetitive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501900" y="2457450.0"/>
            <a:ext cx="7188200" cy="0.0"/>
          </a:xfrm>
          <a:prstGeom prst="line">
            <a:avLst/>
          </a:prstGeom>
          <a:ln w="19050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2362200" y="2317750"/>
            <a:ext cx="279400" cy="279400"/>
          </a:xfrm>
          <a:prstGeom prst="ellipse">
            <a:avLst/>
          </a:prstGeom>
          <a:solidFill>
            <a:srgbClr val="F7F5F0"/>
          </a:solidFill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60233" y="2317750"/>
            <a:ext cx="279400" cy="279400"/>
          </a:xfrm>
          <a:prstGeom prst="ellipse">
            <a:avLst/>
          </a:prstGeom>
          <a:solidFill>
            <a:srgbClr val="315CFF"/>
          </a:solidFill>
          <a:ln w="19050">
            <a:solidFill>
              <a:srgbClr val="31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758266" y="2317750"/>
            <a:ext cx="279400" cy="279400"/>
          </a:xfrm>
          <a:prstGeom prst="ellipse">
            <a:avLst/>
          </a:prstGeom>
          <a:solidFill>
            <a:srgbClr val="F7F5F0"/>
          </a:solidFill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956300" y="2317750"/>
            <a:ext cx="279400" cy="279400"/>
          </a:xfrm>
          <a:prstGeom prst="ellipse">
            <a:avLst/>
          </a:prstGeom>
          <a:solidFill>
            <a:srgbClr val="F7F5F0"/>
          </a:solidFill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154333" y="2317750"/>
            <a:ext cx="279400" cy="279400"/>
          </a:xfrm>
          <a:prstGeom prst="ellipse">
            <a:avLst/>
          </a:prstGeom>
          <a:solidFill>
            <a:srgbClr val="F7F5F0"/>
          </a:solidFill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52366" y="2317750"/>
            <a:ext cx="279400" cy="279400"/>
          </a:xfrm>
          <a:prstGeom prst="ellipse">
            <a:avLst/>
          </a:prstGeom>
          <a:solidFill>
            <a:srgbClr val="F7F5F0"/>
          </a:solidFill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550400" y="2317750"/>
            <a:ext cx="279400" cy="279400"/>
          </a:xfrm>
          <a:prstGeom prst="ellipse">
            <a:avLst/>
          </a:prstGeom>
          <a:solidFill>
            <a:srgbClr val="F7F5F0"/>
          </a:solidFill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69500" y="2222500"/>
            <a:ext cx="1778000" cy="469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Novel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8500" y="2692400"/>
            <a:ext cx="1524000" cy="469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Structured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501900" y="2927350.0"/>
            <a:ext cx="7188200" cy="0.0"/>
          </a:xfrm>
          <a:prstGeom prst="line">
            <a:avLst/>
          </a:prstGeom>
          <a:ln w="19050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2362200" y="2787650"/>
            <a:ext cx="279400" cy="279400"/>
          </a:xfrm>
          <a:prstGeom prst="ellipse">
            <a:avLst/>
          </a:prstGeom>
          <a:solidFill>
            <a:srgbClr val="F7F5F0"/>
          </a:solidFill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60233" y="2787650"/>
            <a:ext cx="279400" cy="279400"/>
          </a:xfrm>
          <a:prstGeom prst="ellipse">
            <a:avLst/>
          </a:prstGeom>
          <a:solidFill>
            <a:srgbClr val="F7F5F0"/>
          </a:solidFill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758266" y="2787650"/>
            <a:ext cx="279400" cy="279400"/>
          </a:xfrm>
          <a:prstGeom prst="ellipse">
            <a:avLst/>
          </a:prstGeom>
          <a:solidFill>
            <a:srgbClr val="315CFF"/>
          </a:solidFill>
          <a:ln w="19050">
            <a:solidFill>
              <a:srgbClr val="31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956300" y="2787650"/>
            <a:ext cx="279400" cy="279400"/>
          </a:xfrm>
          <a:prstGeom prst="ellipse">
            <a:avLst/>
          </a:prstGeom>
          <a:solidFill>
            <a:srgbClr val="F7F5F0"/>
          </a:solidFill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154333" y="2787650"/>
            <a:ext cx="279400" cy="279400"/>
          </a:xfrm>
          <a:prstGeom prst="ellipse">
            <a:avLst/>
          </a:prstGeom>
          <a:solidFill>
            <a:srgbClr val="F7F5F0"/>
          </a:solidFill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352366" y="2787650"/>
            <a:ext cx="279400" cy="279400"/>
          </a:xfrm>
          <a:prstGeom prst="ellipse">
            <a:avLst/>
          </a:prstGeom>
          <a:solidFill>
            <a:srgbClr val="F7F5F0"/>
          </a:solidFill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550400" y="2787650"/>
            <a:ext cx="279400" cy="279400"/>
          </a:xfrm>
          <a:prstGeom prst="ellipse">
            <a:avLst/>
          </a:prstGeom>
          <a:solidFill>
            <a:srgbClr val="F7F5F0"/>
          </a:solidFill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69500" y="2692400"/>
            <a:ext cx="1778000" cy="469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Unstructured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8500" y="3162300"/>
            <a:ext cx="1524000" cy="469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Low Risk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01900" y="3397250.0"/>
            <a:ext cx="7188200" cy="0.0"/>
          </a:xfrm>
          <a:prstGeom prst="line">
            <a:avLst/>
          </a:prstGeom>
          <a:ln w="19050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2362200" y="3257550"/>
            <a:ext cx="279400" cy="279400"/>
          </a:xfrm>
          <a:prstGeom prst="ellipse">
            <a:avLst/>
          </a:prstGeom>
          <a:solidFill>
            <a:srgbClr val="F7F5F0"/>
          </a:solidFill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560233" y="3257550"/>
            <a:ext cx="279400" cy="279400"/>
          </a:xfrm>
          <a:prstGeom prst="ellipse">
            <a:avLst/>
          </a:prstGeom>
          <a:solidFill>
            <a:srgbClr val="F7F5F0"/>
          </a:solidFill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758266" y="3257550"/>
            <a:ext cx="279400" cy="279400"/>
          </a:xfrm>
          <a:prstGeom prst="ellipse">
            <a:avLst/>
          </a:prstGeom>
          <a:solidFill>
            <a:srgbClr val="F7F5F0"/>
          </a:solidFill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956300" y="3257550"/>
            <a:ext cx="279400" cy="279400"/>
          </a:xfrm>
          <a:prstGeom prst="ellipse">
            <a:avLst/>
          </a:prstGeom>
          <a:solidFill>
            <a:srgbClr val="315CFF"/>
          </a:solidFill>
          <a:ln w="19050">
            <a:solidFill>
              <a:srgbClr val="31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154333" y="3257550"/>
            <a:ext cx="279400" cy="279400"/>
          </a:xfrm>
          <a:prstGeom prst="ellipse">
            <a:avLst/>
          </a:prstGeom>
          <a:solidFill>
            <a:srgbClr val="F7F5F0"/>
          </a:solidFill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352366" y="3257550"/>
            <a:ext cx="279400" cy="279400"/>
          </a:xfrm>
          <a:prstGeom prst="ellipse">
            <a:avLst/>
          </a:prstGeom>
          <a:solidFill>
            <a:srgbClr val="F7F5F0"/>
          </a:solidFill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550400" y="3257550"/>
            <a:ext cx="279400" cy="279400"/>
          </a:xfrm>
          <a:prstGeom prst="ellipse">
            <a:avLst/>
          </a:prstGeom>
          <a:solidFill>
            <a:srgbClr val="F7F5F0"/>
          </a:solidFill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969500" y="3162300"/>
            <a:ext cx="1778000" cy="469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High Risk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8500" y="3632200"/>
            <a:ext cx="1524000" cy="469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Clear Evidence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2501900" y="3867150.0"/>
            <a:ext cx="7188200" cy="0.0"/>
          </a:xfrm>
          <a:prstGeom prst="line">
            <a:avLst/>
          </a:prstGeom>
          <a:ln w="19050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2362200" y="3727450"/>
            <a:ext cx="279400" cy="279400"/>
          </a:xfrm>
          <a:prstGeom prst="ellipse">
            <a:avLst/>
          </a:prstGeom>
          <a:solidFill>
            <a:srgbClr val="F7F5F0"/>
          </a:solidFill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560233" y="3727450"/>
            <a:ext cx="279400" cy="279400"/>
          </a:xfrm>
          <a:prstGeom prst="ellipse">
            <a:avLst/>
          </a:prstGeom>
          <a:solidFill>
            <a:srgbClr val="F7F5F0"/>
          </a:solidFill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4758266" y="3727450"/>
            <a:ext cx="279400" cy="279400"/>
          </a:xfrm>
          <a:prstGeom prst="ellipse">
            <a:avLst/>
          </a:prstGeom>
          <a:solidFill>
            <a:srgbClr val="F7F5F0"/>
          </a:solidFill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956300" y="3727450"/>
            <a:ext cx="279400" cy="279400"/>
          </a:xfrm>
          <a:prstGeom prst="ellipse">
            <a:avLst/>
          </a:prstGeom>
          <a:solidFill>
            <a:srgbClr val="F7F5F0"/>
          </a:solidFill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7154333" y="3727450"/>
            <a:ext cx="279400" cy="279400"/>
          </a:xfrm>
          <a:prstGeom prst="ellipse">
            <a:avLst/>
          </a:prstGeom>
          <a:solidFill>
            <a:srgbClr val="315CFF"/>
          </a:solidFill>
          <a:ln w="19050">
            <a:solidFill>
              <a:srgbClr val="31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352366" y="3727450"/>
            <a:ext cx="279400" cy="279400"/>
          </a:xfrm>
          <a:prstGeom prst="ellipse">
            <a:avLst/>
          </a:prstGeom>
          <a:solidFill>
            <a:srgbClr val="F7F5F0"/>
          </a:solidFill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550400" y="3727450"/>
            <a:ext cx="279400" cy="279400"/>
          </a:xfrm>
          <a:prstGeom prst="ellipse">
            <a:avLst/>
          </a:prstGeom>
          <a:solidFill>
            <a:srgbClr val="F7F5F0"/>
          </a:solidFill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969500" y="3632200"/>
            <a:ext cx="1778000" cy="469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Judgment-Dependent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8500" y="4102100"/>
            <a:ext cx="1524000" cy="469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Personal Draft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2501900" y="4337050.0"/>
            <a:ext cx="7188200" cy="0.0"/>
          </a:xfrm>
          <a:prstGeom prst="line">
            <a:avLst/>
          </a:prstGeom>
          <a:ln w="19050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/>
          <p:cNvSpPr/>
          <p:nvPr/>
        </p:nvSpPr>
        <p:spPr>
          <a:xfrm>
            <a:off x="2362200" y="4197350"/>
            <a:ext cx="279400" cy="279400"/>
          </a:xfrm>
          <a:prstGeom prst="ellipse">
            <a:avLst/>
          </a:prstGeom>
          <a:solidFill>
            <a:srgbClr val="F7F5F0"/>
          </a:solidFill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560233" y="4197350"/>
            <a:ext cx="279400" cy="279400"/>
          </a:xfrm>
          <a:prstGeom prst="ellipse">
            <a:avLst/>
          </a:prstGeom>
          <a:solidFill>
            <a:srgbClr val="F7F5F0"/>
          </a:solidFill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758266" y="4197350"/>
            <a:ext cx="279400" cy="279400"/>
          </a:xfrm>
          <a:prstGeom prst="ellipse">
            <a:avLst/>
          </a:prstGeom>
          <a:solidFill>
            <a:srgbClr val="F7F5F0"/>
          </a:solidFill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5956300" y="4197350"/>
            <a:ext cx="279400" cy="279400"/>
          </a:xfrm>
          <a:prstGeom prst="ellipse">
            <a:avLst/>
          </a:prstGeom>
          <a:solidFill>
            <a:srgbClr val="F7F5F0"/>
          </a:solidFill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154333" y="4197350"/>
            <a:ext cx="279400" cy="279400"/>
          </a:xfrm>
          <a:prstGeom prst="ellipse">
            <a:avLst/>
          </a:prstGeom>
          <a:solidFill>
            <a:srgbClr val="F7F5F0"/>
          </a:solidFill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8352366" y="4197350"/>
            <a:ext cx="279400" cy="279400"/>
          </a:xfrm>
          <a:prstGeom prst="ellipse">
            <a:avLst/>
          </a:prstGeom>
          <a:solidFill>
            <a:srgbClr val="315CFF"/>
          </a:solidFill>
          <a:ln w="19050">
            <a:solidFill>
              <a:srgbClr val="31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9550400" y="4197350"/>
            <a:ext cx="279400" cy="279400"/>
          </a:xfrm>
          <a:prstGeom prst="ellipse">
            <a:avLst/>
          </a:prstGeom>
          <a:solidFill>
            <a:srgbClr val="F7F5F0"/>
          </a:solidFill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969500" y="4102100"/>
            <a:ext cx="1778000" cy="469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Official Decision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349500" y="4635500"/>
            <a:ext cx="2497666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AI-Led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47166" y="4635500"/>
            <a:ext cx="2497666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Collaborative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344833" y="4635500"/>
            <a:ext cx="2497666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Human-Led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381000"/>
            <a:ext cx="381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D6775"/>
                </a:solidFill>
                <a:latin typeface="Pretendard"/>
              </a:rPr>
              <a:t>HYCU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8700" y="381000"/>
            <a:ext cx="73025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AI Literacy / Ch.03 Working with Generative AI / 11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0" y="374650"/>
            <a:ext cx="1524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DEVELOPMENT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1000" y="355600"/>
            <a:ext cx="9525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11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838200"/>
            <a:ext cx="10795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151821"/>
                </a:solidFill>
                <a:latin typeface="Pretendard"/>
              </a:rPr>
              <a:t>Distinguish What to Delegate to AI and What to Keep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" y="1663700"/>
            <a:ext cx="10795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D6775"/>
                </a:solidFill>
                <a:latin typeface="Pretendard"/>
              </a:rPr>
              <a:t>Look at reviewability and accountability before speed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98500" y="2019300"/>
            <a:ext cx="10795000" cy="0"/>
          </a:xfrm>
          <a:prstGeom prst="line">
            <a:avLst/>
          </a:prstGeom>
          <a:ln w="13970">
            <a:solidFill>
              <a:srgbClr val="1518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98500" y="6375400"/>
            <a:ext cx="10795000" cy="0"/>
          </a:xfrm>
          <a:prstGeom prst="line">
            <a:avLst/>
          </a:prstGeom>
          <a:ln w="952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98500" y="6464300"/>
            <a:ext cx="825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AI Literacy  ·  Role division · The bigger the impact, the more directly people approve the evidence and result.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0" y="6464300"/>
            <a:ext cx="1968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5D6775"/>
                </a:solidFill>
                <a:latin typeface="Pretendard"/>
              </a:rPr>
              <a:t>HYCU AI STUDIO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94000" y="2222500"/>
            <a:ext cx="444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D6775"/>
                </a:solidFill>
                <a:latin typeface="Pretendard"/>
              </a:rPr>
              <a:t>Role Fit · 4-Point Scale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53500" y="2222500"/>
            <a:ext cx="2540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D6775"/>
                </a:solidFill>
                <a:latin typeface="Pretendard"/>
              </a:rPr>
              <a:t>High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8500" y="2540000"/>
            <a:ext cx="1968500" cy="9048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50" b="1" i="0">
                <a:solidFill>
                  <a:srgbClr val="151821"/>
                </a:solidFill>
                <a:latin typeface="Pretendard"/>
              </a:rPr>
              <a:t>Organizing repetitive tasks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94000" y="2859087"/>
            <a:ext cx="6667500" cy="2667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94000" y="2859087"/>
            <a:ext cx="6667500" cy="266700"/>
          </a:xfrm>
          <a:prstGeom prst="rect">
            <a:avLst/>
          </a:prstGeom>
          <a:solidFill>
            <a:srgbClr val="00A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88500" y="2540000"/>
            <a:ext cx="444500" cy="9048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8500" y="3444875"/>
            <a:ext cx="1968500" cy="9048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50" b="1" i="0">
                <a:solidFill>
                  <a:srgbClr val="151821"/>
                </a:solidFill>
                <a:latin typeface="Pretendard"/>
              </a:rPr>
              <a:t>Drafting alternatives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94000" y="3763962"/>
            <a:ext cx="6667500" cy="2667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94000" y="3763962"/>
            <a:ext cx="6667500" cy="266700"/>
          </a:xfrm>
          <a:prstGeom prst="rect">
            <a:avLst/>
          </a:prstGeom>
          <a:solidFill>
            <a:srgbClr val="31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88500" y="3444875"/>
            <a:ext cx="444500" cy="9048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8500" y="4349750"/>
            <a:ext cx="1968500" cy="9048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50" b="1" i="0">
                <a:solidFill>
                  <a:srgbClr val="151821"/>
                </a:solidFill>
                <a:latin typeface="Pretendard"/>
              </a:rPr>
              <a:t>Analysis support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94000" y="4668837"/>
            <a:ext cx="6667500" cy="2667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94000" y="4668837"/>
            <a:ext cx="5000625" cy="266700"/>
          </a:xfrm>
          <a:prstGeom prst="rect">
            <a:avLst/>
          </a:prstGeom>
          <a:solidFill>
            <a:srgbClr val="00A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88500" y="4349750"/>
            <a:ext cx="444500" cy="9048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8500" y="5254625"/>
            <a:ext cx="1968500" cy="9048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50" b="1" i="0">
                <a:solidFill>
                  <a:srgbClr val="151821"/>
                </a:solidFill>
                <a:latin typeface="Pretendard"/>
              </a:rPr>
              <a:t>Final approval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94000" y="5573712"/>
            <a:ext cx="6667500" cy="2667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94000" y="5573712"/>
            <a:ext cx="1666875" cy="266700"/>
          </a:xfrm>
          <a:prstGeom prst="rect">
            <a:avLst/>
          </a:prstGeom>
          <a:solidFill>
            <a:srgbClr val="31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88500" y="5254625"/>
            <a:ext cx="444500" cy="9048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381000"/>
            <a:ext cx="381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D6775"/>
                </a:solidFill>
                <a:latin typeface="Pretendard"/>
              </a:rPr>
              <a:t>HYCU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8700" y="381000"/>
            <a:ext cx="73025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AI Literacy / Ch.03 Working with Generative AI / 12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0" y="374650"/>
            <a:ext cx="1524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DEVELOPMENT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1000" y="355600"/>
            <a:ext cx="9525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12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838200"/>
            <a:ext cx="10795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151821"/>
                </a:solidFill>
                <a:latin typeface="Pretendard"/>
              </a:rPr>
              <a:t>Good Results Are the Sum of Input and Verification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" y="1663700"/>
            <a:ext cx="10795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D6775"/>
                </a:solidFill>
                <a:latin typeface="Pretendard"/>
              </a:rPr>
              <a:t>Goal, context, constraints, and review determine result quality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98500" y="2019300"/>
            <a:ext cx="10795000" cy="0"/>
          </a:xfrm>
          <a:prstGeom prst="line">
            <a:avLst/>
          </a:prstGeom>
          <a:ln w="13970">
            <a:solidFill>
              <a:srgbClr val="1518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98500" y="6375400"/>
            <a:ext cx="10795000" cy="0"/>
          </a:xfrm>
          <a:prstGeom prst="line">
            <a:avLst/>
          </a:prstGeom>
          <a:ln w="952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98500" y="6464300"/>
            <a:ext cx="825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AI Literacy  ·  Result quality · Prompting and verification are two axes that cannot substitute for each other.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0" y="6464300"/>
            <a:ext cx="1968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5D6775"/>
                </a:solidFill>
                <a:latin typeface="Pretendard"/>
              </a:rPr>
              <a:t>HYCU AI STUDIO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0750" y="2413000"/>
            <a:ext cx="2159000" cy="1778000"/>
          </a:xfrm>
          <a:prstGeom prst="roundRect">
            <a:avLst>
              <a:gd name="adj" fmla="val 12000"/>
            </a:avLst>
          </a:prstGeom>
          <a:solidFill>
            <a:srgbClr val="151821"/>
          </a:solidFill>
          <a:ln w="15875">
            <a:solidFill>
              <a:srgbClr val="1518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2350" y="2476500"/>
            <a:ext cx="19558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FFFFFF"/>
                </a:solidFill>
                <a:latin typeface="Pretendard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2350" y="2603500"/>
            <a:ext cx="1955800" cy="1485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FFFFFF"/>
                </a:solidFill>
                <a:latin typeface="Pretendard"/>
              </a:rPr>
              <a:t>Good Results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2350" y="3898900"/>
            <a:ext cx="19558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A9AFB8"/>
                </a:solidFill>
                <a:latin typeface="Pretendard"/>
              </a:rPr>
              <a:t>Output used at 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79750" y="3111500"/>
            <a:ext cx="571500" cy="381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006B86"/>
                </a:solidFill>
                <a:latin typeface="Arial"/>
              </a:rPr>
              <a:t>=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1250" y="2413000"/>
            <a:ext cx="2159000" cy="1778000"/>
          </a:xfrm>
          <a:prstGeom prst="roundRect">
            <a:avLst>
              <a:gd name="adj" fmla="val 12000"/>
            </a:avLst>
          </a:prstGeom>
          <a:solidFill>
            <a:srgbClr val="00AEDD"/>
          </a:solidFill>
          <a:ln w="15875">
            <a:solidFill>
              <a:srgbClr val="00A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52850" y="2476500"/>
            <a:ext cx="19558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51821"/>
                </a:solidFill>
                <a:latin typeface="Pretendard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52850" y="2603500"/>
            <a:ext cx="1955800" cy="1485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151821"/>
                </a:solidFill>
                <a:latin typeface="Pretendard"/>
              </a:rPr>
              <a:t>Clear Goals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52850" y="3898900"/>
            <a:ext cx="19558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D6775"/>
                </a:solidFill>
                <a:latin typeface="Pretendard"/>
              </a:rPr>
              <a:t>Desired result and audience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10250" y="3111500"/>
            <a:ext cx="571500" cy="381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006B86"/>
                </a:solidFill>
                <a:latin typeface="Arial"/>
              </a:rPr>
              <a:t>+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81750" y="2413000"/>
            <a:ext cx="2159000" cy="1778000"/>
          </a:xfrm>
          <a:prstGeom prst="roundRect">
            <a:avLst>
              <a:gd name="adj" fmla="val 12000"/>
            </a:avLst>
          </a:prstGeom>
          <a:solidFill>
            <a:srgbClr val="315CFF"/>
          </a:solidFill>
          <a:ln w="15875">
            <a:solidFill>
              <a:srgbClr val="31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3350" y="2476500"/>
            <a:ext cx="19558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FFFFFF"/>
                </a:solidFill>
                <a:latin typeface="Pretendard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83350" y="2603500"/>
            <a:ext cx="1955800" cy="1485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FFFFFF"/>
                </a:solidFill>
                <a:latin typeface="Pretendard"/>
              </a:rPr>
              <a:t>Sufficient Context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83350" y="3898900"/>
            <a:ext cx="19558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C9D3FF"/>
                </a:solidFill>
                <a:latin typeface="Pretendard"/>
              </a:rPr>
              <a:t>Data, conditions, constraints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0750" y="3111500"/>
            <a:ext cx="571500" cy="381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006B86"/>
                </a:solidFill>
                <a:latin typeface="Arial"/>
              </a:rPr>
              <a:t>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12250" y="2413000"/>
            <a:ext cx="2159000" cy="1778000"/>
          </a:xfrm>
          <a:prstGeom prst="roundRect">
            <a:avLst>
              <a:gd name="adj" fmla="val 12000"/>
            </a:avLst>
          </a:prstGeom>
          <a:solidFill>
            <a:srgbClr val="74D3EA"/>
          </a:solidFill>
          <a:ln w="15875">
            <a:solidFill>
              <a:srgbClr val="74D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13850" y="2476500"/>
            <a:ext cx="19558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51821"/>
                </a:solidFill>
                <a:latin typeface="Pretendard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13850" y="2603500"/>
            <a:ext cx="1955800" cy="1485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151821"/>
                </a:solidFill>
                <a:latin typeface="Pretendard"/>
              </a:rPr>
              <a:t>Verification Loop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3850" y="3898900"/>
            <a:ext cx="19558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A4A55"/>
                </a:solidFill>
                <a:latin typeface="Pretendard"/>
              </a:rPr>
              <a:t>Check facts, quality, impact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794500" y="4508500"/>
            <a:ext cx="2286000" cy="0"/>
          </a:xfrm>
          <a:prstGeom prst="line">
            <a:avLst/>
          </a:prstGeom>
          <a:ln w="38100">
            <a:solidFill>
              <a:srgbClr val="315C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794500" y="4572000"/>
            <a:ext cx="2286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The clearer the input, the lower the revision cost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207500" y="4508500"/>
            <a:ext cx="2286000" cy="0"/>
          </a:xfrm>
          <a:prstGeom prst="line">
            <a:avLst/>
          </a:prstGeom>
          <a:ln w="38100">
            <a:solidFill>
              <a:srgbClr val="74D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9207500" y="4572000"/>
            <a:ext cx="2286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Without verification, plausible errors remain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381000"/>
            <a:ext cx="381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D6775"/>
                </a:solidFill>
                <a:latin typeface="Pretendard"/>
              </a:rPr>
              <a:t>HYCU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8700" y="381000"/>
            <a:ext cx="73025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AI Literacy / Ch.03 Working with Generative AI / 13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0" y="374650"/>
            <a:ext cx="1524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DEVELOPMENT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1000" y="355600"/>
            <a:ext cx="9525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13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838200"/>
            <a:ext cx="10795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151821"/>
                </a:solidFill>
                <a:latin typeface="Pretendard"/>
              </a:rPr>
              <a:t>Short Feedback Loops Sharpen 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" y="1663700"/>
            <a:ext cx="10795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D6775"/>
                </a:solidFill>
                <a:latin typeface="Pretendard"/>
              </a:rPr>
              <a:t>A short loop of draft, feedback, and revision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98500" y="2019300"/>
            <a:ext cx="10795000" cy="0"/>
          </a:xfrm>
          <a:prstGeom prst="line">
            <a:avLst/>
          </a:prstGeom>
          <a:ln w="13970">
            <a:solidFill>
              <a:srgbClr val="1518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98500" y="6375400"/>
            <a:ext cx="10795000" cy="0"/>
          </a:xfrm>
          <a:prstGeom prst="line">
            <a:avLst/>
          </a:prstGeom>
          <a:ln w="952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98500" y="6464300"/>
            <a:ext cx="825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AI Literacy  ·  Iteration curve · Actual gains vary by task, model, and input material.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0" y="6464300"/>
            <a:ext cx="1968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5D6775"/>
                </a:solidFill>
                <a:latin typeface="Pretendard"/>
              </a:rPr>
              <a:t>HYCU AI STUDIO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8500" y="2209800"/>
            <a:ext cx="74930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D6775"/>
                </a:solidFill>
                <a:latin typeface="Pretendard"/>
              </a:rPr>
              <a:t>Result Clarity →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5500" y="5143500"/>
            <a:ext cx="7239000" cy="0"/>
          </a:xfrm>
          <a:prstGeom prst="line">
            <a:avLst/>
          </a:prstGeom>
          <a:ln w="19050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25500" y="2400300"/>
            <a:ext cx="0" cy="2743200"/>
          </a:xfrm>
          <a:prstGeom prst="line">
            <a:avLst/>
          </a:prstGeom>
          <a:ln w="19050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825500" y="3835016"/>
            <a:ext cx="1809750" cy="1308484"/>
          </a:xfrm>
          <a:prstGeom prst="line">
            <a:avLst/>
          </a:prstGeom>
          <a:ln w="57150">
            <a:solidFill>
              <a:srgbClr val="1518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2635250" y="3065319"/>
            <a:ext cx="1809750" cy="769697"/>
          </a:xfrm>
          <a:prstGeom prst="line">
            <a:avLst/>
          </a:prstGeom>
          <a:ln w="57150">
            <a:solidFill>
              <a:srgbClr val="1518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4445000" y="2757440"/>
            <a:ext cx="1809750" cy="307879"/>
          </a:xfrm>
          <a:prstGeom prst="line">
            <a:avLst/>
          </a:prstGeom>
          <a:ln w="57150">
            <a:solidFill>
              <a:srgbClr val="1518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6254750" y="2603500"/>
            <a:ext cx="1809750" cy="153940"/>
          </a:xfrm>
          <a:prstGeom prst="line">
            <a:avLst/>
          </a:prstGeom>
          <a:ln w="57150">
            <a:solidFill>
              <a:srgbClr val="1518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755650" y="5073650"/>
            <a:ext cx="139700" cy="139700"/>
          </a:xfrm>
          <a:prstGeom prst="ellipse">
            <a:avLst/>
          </a:prstGeom>
          <a:solidFill>
            <a:srgbClr val="00AEDD"/>
          </a:solidFill>
          <a:ln w="31750">
            <a:solidFill>
              <a:srgbClr val="F7F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1000" y="5207000"/>
            <a:ext cx="889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Draft</a:t>
            </a:r>
          </a:p>
        </p:txBody>
      </p:sp>
      <p:sp>
        <p:nvSpPr>
          <p:cNvPr id="22" name="Oval 21"/>
          <p:cNvSpPr/>
          <p:nvPr/>
        </p:nvSpPr>
        <p:spPr>
          <a:xfrm>
            <a:off x="2565400" y="3765166"/>
            <a:ext cx="139700" cy="139700"/>
          </a:xfrm>
          <a:prstGeom prst="ellipse">
            <a:avLst/>
          </a:prstGeom>
          <a:solidFill>
            <a:srgbClr val="00AEDD"/>
          </a:solidFill>
          <a:ln w="31750">
            <a:solidFill>
              <a:srgbClr val="F7F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90750" y="5207000"/>
            <a:ext cx="889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Feedback 1</a:t>
            </a:r>
          </a:p>
        </p:txBody>
      </p:sp>
      <p:sp>
        <p:nvSpPr>
          <p:cNvPr id="24" name="Oval 23"/>
          <p:cNvSpPr/>
          <p:nvPr/>
        </p:nvSpPr>
        <p:spPr>
          <a:xfrm>
            <a:off x="4375150" y="2995469"/>
            <a:ext cx="139700" cy="139700"/>
          </a:xfrm>
          <a:prstGeom prst="ellipse">
            <a:avLst/>
          </a:prstGeom>
          <a:solidFill>
            <a:srgbClr val="315CFF"/>
          </a:solidFill>
          <a:ln w="31750">
            <a:solidFill>
              <a:srgbClr val="F7F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00500" y="5207000"/>
            <a:ext cx="889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Revision 2</a:t>
            </a:r>
          </a:p>
        </p:txBody>
      </p:sp>
      <p:sp>
        <p:nvSpPr>
          <p:cNvPr id="26" name="Oval 25"/>
          <p:cNvSpPr/>
          <p:nvPr/>
        </p:nvSpPr>
        <p:spPr>
          <a:xfrm>
            <a:off x="6184900" y="2687590"/>
            <a:ext cx="139700" cy="139700"/>
          </a:xfrm>
          <a:prstGeom prst="ellipse">
            <a:avLst/>
          </a:prstGeom>
          <a:solidFill>
            <a:srgbClr val="315CFF"/>
          </a:solidFill>
          <a:ln w="31750">
            <a:solidFill>
              <a:srgbClr val="F7F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10250" y="5207000"/>
            <a:ext cx="889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Verify 3</a:t>
            </a:r>
          </a:p>
        </p:txBody>
      </p:sp>
      <p:sp>
        <p:nvSpPr>
          <p:cNvPr id="28" name="Oval 27"/>
          <p:cNvSpPr/>
          <p:nvPr/>
        </p:nvSpPr>
        <p:spPr>
          <a:xfrm>
            <a:off x="7994650" y="2533650"/>
            <a:ext cx="139700" cy="139700"/>
          </a:xfrm>
          <a:prstGeom prst="ellipse">
            <a:avLst/>
          </a:prstGeom>
          <a:solidFill>
            <a:srgbClr val="315CFF"/>
          </a:solidFill>
          <a:ln w="31750">
            <a:solidFill>
              <a:srgbClr val="F7F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20000" y="5207000"/>
            <a:ext cx="889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Final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509000" y="2222500"/>
            <a:ext cx="2984500" cy="3048000"/>
          </a:xfrm>
          <a:prstGeom prst="roundRect">
            <a:avLst>
              <a:gd name="adj" fmla="val 9000"/>
            </a:avLst>
          </a:prstGeom>
          <a:solidFill>
            <a:srgbClr val="E0E6FF"/>
          </a:solidFill>
          <a:ln w="1270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23300" y="2336800"/>
            <a:ext cx="2755900" cy="114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D3FBF"/>
                </a:solidFill>
                <a:latin typeface="Arial"/>
              </a:rPr>
              <a:t>ITERATION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23300" y="2489200"/>
            <a:ext cx="27559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151821"/>
                </a:solidFill>
                <a:latin typeface="Pretendard"/>
              </a:rPr>
              <a:t>Early Iterations Set the Direction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23300" y="2857500"/>
            <a:ext cx="2755900" cy="23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51821"/>
                </a:solidFill>
                <a:latin typeface="Pretendard"/>
              </a:rPr>
              <a:t>Early iterations set the direction; later ones refine facts and wording.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381000"/>
            <a:ext cx="381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D6775"/>
                </a:solidFill>
                <a:latin typeface="Pretendard"/>
              </a:rPr>
              <a:t>HYCU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8700" y="381000"/>
            <a:ext cx="73025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AI Literacy / Ch.03 Working with Generative AI / 14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0" y="374650"/>
            <a:ext cx="1524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DEVELOPMENT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1000" y="355600"/>
            <a:ext cx="9525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14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838200"/>
            <a:ext cx="10795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151821"/>
                </a:solidFill>
                <a:latin typeface="Pretendard"/>
              </a:rPr>
              <a:t>AI Use Expands into Exploration, Generation, and Automation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" y="1663700"/>
            <a:ext cx="10795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D6775"/>
                </a:solidFill>
                <a:latin typeface="Pretendard"/>
              </a:rPr>
              <a:t>Set clear human review points at each stage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98500" y="2019300"/>
            <a:ext cx="10795000" cy="0"/>
          </a:xfrm>
          <a:prstGeom prst="line">
            <a:avLst/>
          </a:prstGeom>
          <a:ln w="13970">
            <a:solidFill>
              <a:srgbClr val="1518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98500" y="6375400"/>
            <a:ext cx="10795000" cy="0"/>
          </a:xfrm>
          <a:prstGeom prst="line">
            <a:avLst/>
          </a:prstGeom>
          <a:ln w="952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98500" y="6464300"/>
            <a:ext cx="825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AI Literacy  ·  Expanding use · The higher the automation level, the clearer authority, logging, and stop conditions must be.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0" y="6464300"/>
            <a:ext cx="1968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5D6775"/>
                </a:solidFill>
                <a:latin typeface="Pretendard"/>
              </a:rPr>
              <a:t>HYCU AI STUDIO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2222500"/>
            <a:ext cx="3048000" cy="571500"/>
          </a:xfrm>
          <a:prstGeom prst="roundRect">
            <a:avLst>
              <a:gd name="adj" fmla="val 15000"/>
            </a:avLst>
          </a:prstGeom>
          <a:solidFill>
            <a:srgbClr val="1518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222500"/>
            <a:ext cx="3048000" cy="571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Pretendard"/>
              </a:rPr>
              <a:t>AI Use Cases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96000.0" y="2794000"/>
            <a:ext cx="0.0" cy="228600"/>
          </a:xfrm>
          <a:prstGeom prst="line">
            <a:avLst/>
          </a:prstGeom>
          <a:ln w="25400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730500.0" y="3022600"/>
            <a:ext cx="6731000.0" cy="0"/>
          </a:xfrm>
          <a:prstGeom prst="line">
            <a:avLst/>
          </a:prstGeom>
          <a:ln w="25400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730500.0" y="3022600"/>
            <a:ext cx="0.0" cy="177800"/>
          </a:xfrm>
          <a:prstGeom prst="line">
            <a:avLst/>
          </a:prstGeom>
          <a:ln w="25400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1143000" y="3200400"/>
            <a:ext cx="3175000" cy="635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2225">
            <a:solidFill>
              <a:srgbClr val="00A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4600" y="3200400"/>
            <a:ext cx="2971800" cy="63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51821"/>
                </a:solidFill>
                <a:latin typeface="Pretendard"/>
              </a:rPr>
              <a:t>Exploration &amp; Summary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96000.0" y="3022600"/>
            <a:ext cx="0.0" cy="177800"/>
          </a:xfrm>
          <a:prstGeom prst="line">
            <a:avLst/>
          </a:prstGeom>
          <a:ln w="25400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508500" y="3200400"/>
            <a:ext cx="3175000" cy="635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2225">
            <a:solidFill>
              <a:srgbClr val="31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10100" y="3200400"/>
            <a:ext cx="2971800" cy="63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51821"/>
                </a:solidFill>
                <a:latin typeface="Pretendard"/>
              </a:rPr>
              <a:t>Drafts &amp; Ideas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461500.0" y="3022600"/>
            <a:ext cx="0.0" cy="177800"/>
          </a:xfrm>
          <a:prstGeom prst="line">
            <a:avLst/>
          </a:prstGeom>
          <a:ln w="25400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7874000" y="3200400"/>
            <a:ext cx="3175000" cy="635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2225">
            <a:solidFill>
              <a:srgbClr val="00A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75600" y="3200400"/>
            <a:ext cx="2971800" cy="63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51821"/>
                </a:solidFill>
                <a:latin typeface="Pretendard"/>
              </a:rPr>
              <a:t>Automating Repetitive Work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095500" y="4089400"/>
            <a:ext cx="8001000" cy="20066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209800" y="4203700"/>
            <a:ext cx="7772400" cy="114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51821"/>
                </a:solidFill>
                <a:latin typeface="Arial"/>
              </a:rPr>
              <a:t>HUMAN CHECKPOINT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09800" y="4356100"/>
            <a:ext cx="77724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5D6775"/>
                </a:solidFill>
                <a:latin typeface="Pretendard"/>
              </a:rPr>
              <a:t>Every path ends in human review and approval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381000"/>
            <a:ext cx="381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D6775"/>
                </a:solidFill>
                <a:latin typeface="Pretendard"/>
              </a:rPr>
              <a:t>HYCU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8700" y="381000"/>
            <a:ext cx="73025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AI Literacy / Ch.03 Working with Generative AI / 15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0" y="374650"/>
            <a:ext cx="1524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DEVELOPMENT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1000" y="355600"/>
            <a:ext cx="9525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15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838200"/>
            <a:ext cx="10795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151821"/>
                </a:solidFill>
                <a:latin typeface="Pretendard"/>
              </a:rPr>
              <a:t>AI and People Have Different Strengths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" y="1663700"/>
            <a:ext cx="10795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D6775"/>
                </a:solidFill>
                <a:latin typeface="Pretendard"/>
              </a:rPr>
              <a:t>Iteration and drafts to AI, judgment and responsibility to people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98500" y="2019300"/>
            <a:ext cx="10795000" cy="0"/>
          </a:xfrm>
          <a:prstGeom prst="line">
            <a:avLst/>
          </a:prstGeom>
          <a:ln w="13970">
            <a:solidFill>
              <a:srgbClr val="1518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98500" y="6375400"/>
            <a:ext cx="10795000" cy="0"/>
          </a:xfrm>
          <a:prstGeom prst="line">
            <a:avLst/>
          </a:prstGeom>
          <a:ln w="952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98500" y="6464300"/>
            <a:ext cx="825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AI Literacy  ·  Role split · AI output is judgment material, not the final decision itself.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0" y="6464300"/>
            <a:ext cx="1968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5D6775"/>
                </a:solidFill>
                <a:latin typeface="Pretendard"/>
              </a:rPr>
              <a:t>HYCU AI STUDIO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8500" y="2222500"/>
            <a:ext cx="3598333" cy="444500"/>
          </a:xfrm>
          <a:prstGeom prst="rect">
            <a:avLst/>
          </a:prstGeom>
          <a:solidFill>
            <a:srgbClr val="1518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500" y="2222500"/>
            <a:ext cx="3344333" cy="44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Pretendard"/>
              </a:rPr>
              <a:t>Work Element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6833" y="2222500"/>
            <a:ext cx="3598333" cy="444500"/>
          </a:xfrm>
          <a:prstGeom prst="rect">
            <a:avLst/>
          </a:prstGeom>
          <a:solidFill>
            <a:srgbClr val="00A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23833" y="2222500"/>
            <a:ext cx="3344333" cy="44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Where AI Is Strong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95166" y="2222500"/>
            <a:ext cx="3598333" cy="444500"/>
          </a:xfrm>
          <a:prstGeom prst="rect">
            <a:avLst/>
          </a:prstGeom>
          <a:solidFill>
            <a:srgbClr val="31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22166" y="2222500"/>
            <a:ext cx="3344333" cy="44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Pretendard"/>
              </a:rPr>
              <a:t>What People Handle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8500" y="2667000"/>
            <a:ext cx="1079500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5500" y="2667000"/>
            <a:ext cx="3344333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51821"/>
                </a:solidFill>
                <a:latin typeface="Pretendard"/>
              </a:rPr>
              <a:t>Information processing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23833" y="2667000"/>
            <a:ext cx="3344333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6775"/>
                </a:solidFill>
                <a:latin typeface="Pretendard"/>
              </a:rPr>
              <a:t>Summarizing/classifying large material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22166" y="2667000"/>
            <a:ext cx="3344333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6775"/>
                </a:solidFill>
                <a:latin typeface="Pretendard"/>
              </a:rPr>
              <a:t>Judging source reliability &amp; gaps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8500" y="3162300"/>
            <a:ext cx="1079500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5500" y="3162300"/>
            <a:ext cx="3344333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51821"/>
                </a:solidFill>
                <a:latin typeface="Pretendard"/>
              </a:rPr>
              <a:t>Content generation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23833" y="3162300"/>
            <a:ext cx="3344333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6775"/>
                </a:solidFill>
                <a:latin typeface="Pretendard"/>
              </a:rPr>
              <a:t>Drafts, alternatives, wording variety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2166" y="3162300"/>
            <a:ext cx="3344333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6775"/>
                </a:solidFill>
                <a:latin typeface="Pretendard"/>
              </a:rPr>
              <a:t>Deciding purpose, context, final message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500" y="3657600"/>
            <a:ext cx="1079500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5500" y="3657600"/>
            <a:ext cx="3344333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51821"/>
                </a:solidFill>
                <a:latin typeface="Pretendard"/>
              </a:rPr>
              <a:t>Analysis support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23833" y="3657600"/>
            <a:ext cx="3344333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6775"/>
                </a:solidFill>
                <a:latin typeface="Pretendard"/>
              </a:rPr>
              <a:t>Suggesting pattern candidates &amp; questions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22166" y="3657600"/>
            <a:ext cx="3344333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6775"/>
                </a:solidFill>
                <a:latin typeface="Pretendard"/>
              </a:rPr>
              <a:t>Interpreting causes, decision-making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98500" y="4152900"/>
            <a:ext cx="1079500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5500" y="4152900"/>
            <a:ext cx="3344333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51821"/>
                </a:solidFill>
                <a:latin typeface="Pretendard"/>
              </a:rPr>
              <a:t>Execution responsibility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23833" y="4152900"/>
            <a:ext cx="3344333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6775"/>
                </a:solidFill>
                <a:latin typeface="Pretendard"/>
              </a:rPr>
              <a:t>Assisting repetitive steps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22166" y="4152900"/>
            <a:ext cx="3344333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6775"/>
                </a:solidFill>
                <a:latin typeface="Pretendard"/>
              </a:rPr>
              <a:t>Approval, ethics, outcome responsibility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381000"/>
            <a:ext cx="381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D6775"/>
                </a:solidFill>
                <a:latin typeface="Pretendard"/>
              </a:rPr>
              <a:t>HYCU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8700" y="381000"/>
            <a:ext cx="73025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AI Literacy / Ch.03 Working with Generative AI / 16 IMPLEMENTATION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0" y="374650"/>
            <a:ext cx="1524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IMPLEMENTATION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1000" y="355600"/>
            <a:ext cx="9525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16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838200"/>
            <a:ext cx="10795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151821"/>
                </a:solidFill>
                <a:latin typeface="Pretendard"/>
              </a:rPr>
              <a:t>Activity: Turn One Task into AI Collaboration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" y="1663700"/>
            <a:ext cx="10795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D6775"/>
                </a:solidFill>
                <a:latin typeface="Pretendard"/>
              </a:rPr>
              <a:t>Design from goal-setting to final review yourself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98500" y="2019300"/>
            <a:ext cx="10795000" cy="0"/>
          </a:xfrm>
          <a:prstGeom prst="line">
            <a:avLst/>
          </a:prstGeom>
          <a:ln w="13970">
            <a:solidFill>
              <a:srgbClr val="1518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98500" y="6375400"/>
            <a:ext cx="10795000" cy="0"/>
          </a:xfrm>
          <a:prstGeom prst="line">
            <a:avLst/>
          </a:prstGeom>
          <a:ln w="952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98500" y="6464300"/>
            <a:ext cx="825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AI Literacy  ·  Workshop · Turn one task into verifiable AI collaboration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0" y="6464300"/>
            <a:ext cx="1968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5D6775"/>
                </a:solidFill>
                <a:latin typeface="Pretendard"/>
              </a:rPr>
              <a:t>HYCU AI STUDIO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8500" y="2349500"/>
            <a:ext cx="2032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06B86"/>
                </a:solidFill>
                <a:latin typeface="Arial"/>
              </a:rPr>
              <a:t>WORKSHOP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500" y="2603500"/>
            <a:ext cx="2032000" cy="139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200" b="1" i="0">
                <a:solidFill>
                  <a:srgbClr val="151821"/>
                </a:solidFill>
                <a:latin typeface="Pretendard"/>
              </a:rPr>
              <a:t>Turn one task into</a:t>
            </a:r>
          </a:p>
          <a:p>
            <a:pPr algn="l">
              <a:lnSpc>
                <a:spcPct val="128000"/>
              </a:lnSpc>
            </a:pPr>
            <a:r>
              <a:rPr sz="2200" b="1" i="0">
                <a:solidFill>
                  <a:srgbClr val="151821"/>
                </a:solidFill>
                <a:latin typeface="Pretendard"/>
              </a:rPr>
              <a:t>verifiable AI collaboration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48000" y="3206750"/>
            <a:ext cx="1968500" cy="1905000"/>
          </a:xfrm>
          <a:prstGeom prst="roundRect">
            <a:avLst>
              <a:gd name="adj" fmla="val 12000"/>
            </a:avLst>
          </a:prstGeom>
          <a:solidFill>
            <a:srgbClr val="00AEDD"/>
          </a:solidFill>
          <a:ln w="15875">
            <a:solidFill>
              <a:srgbClr val="00A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49600" y="3270250"/>
            <a:ext cx="17653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51821"/>
                </a:solidFill>
                <a:latin typeface="Pretendard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49600" y="3397250"/>
            <a:ext cx="1765300" cy="161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151821"/>
                </a:solidFill>
                <a:latin typeface="Pretendard"/>
              </a:rPr>
              <a:t>Pick a Task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49600" y="4819650"/>
            <a:ext cx="17653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A recurring real task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07000" y="3206750"/>
            <a:ext cx="1968500" cy="1905000"/>
          </a:xfrm>
          <a:prstGeom prst="roundRect">
            <a:avLst>
              <a:gd name="adj" fmla="val 12000"/>
            </a:avLst>
          </a:prstGeom>
          <a:solidFill>
            <a:srgbClr val="315CFF"/>
          </a:solidFill>
          <a:ln w="15875">
            <a:solidFill>
              <a:srgbClr val="31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8600" y="3270250"/>
            <a:ext cx="17653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FFFFFF"/>
                </a:solidFill>
                <a:latin typeface="Pretendard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8600" y="3397250"/>
            <a:ext cx="1765300" cy="161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Pretendard"/>
              </a:rPr>
              <a:t>Assign Roles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8600" y="4819650"/>
            <a:ext cx="17653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C9D3FF"/>
                </a:solidFill>
                <a:latin typeface="Pretendard"/>
              </a:rPr>
              <a:t>Steps for AI vs. people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66000" y="3206750"/>
            <a:ext cx="1968500" cy="1905000"/>
          </a:xfrm>
          <a:prstGeom prst="roundRect">
            <a:avLst>
              <a:gd name="adj" fmla="val 12000"/>
            </a:avLst>
          </a:prstGeom>
          <a:solidFill>
            <a:srgbClr val="151821"/>
          </a:solidFill>
          <a:ln w="15875">
            <a:solidFill>
              <a:srgbClr val="1518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67600" y="3270250"/>
            <a:ext cx="17653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FFFFFF"/>
                </a:solidFill>
                <a:latin typeface="Pretendard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67600" y="3397250"/>
            <a:ext cx="1765300" cy="161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Pretendard"/>
              </a:rPr>
              <a:t>Design the Request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67600" y="4819650"/>
            <a:ext cx="17653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A9AFB8"/>
                </a:solidFill>
                <a:latin typeface="Pretendard"/>
              </a:rPr>
              <a:t>Goal, context, constraints, format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525000" y="3206750"/>
            <a:ext cx="1968500" cy="1905000"/>
          </a:xfrm>
          <a:prstGeom prst="roundRect">
            <a:avLst>
              <a:gd name="adj" fmla="val 12000"/>
            </a:avLst>
          </a:prstGeom>
          <a:solidFill>
            <a:srgbClr val="74D3EA"/>
          </a:solidFill>
          <a:ln w="15875">
            <a:solidFill>
              <a:srgbClr val="74D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26600" y="3270250"/>
            <a:ext cx="17653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51821"/>
                </a:solidFill>
                <a:latin typeface="Pretendard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26600" y="3397250"/>
            <a:ext cx="1765300" cy="161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151821"/>
                </a:solidFill>
                <a:latin typeface="Pretendard"/>
              </a:rPr>
              <a:t>Plan Verification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26600" y="4819650"/>
            <a:ext cx="17653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2A4A55"/>
                </a:solidFill>
                <a:latin typeface="Pretendard"/>
              </a:rPr>
              <a:t>Evidence, quality, final approval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381000"/>
            <a:ext cx="381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D6775"/>
                </a:solidFill>
                <a:latin typeface="Pretendard"/>
              </a:rPr>
              <a:t>HYCU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8700" y="381000"/>
            <a:ext cx="73025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AI Literacy / Ch.03 Working with Generative AI / 17 IMPLEMENTATION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0" y="374650"/>
            <a:ext cx="1524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IMPLEMENTATION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1000" y="355600"/>
            <a:ext cx="9525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17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838200"/>
            <a:ext cx="10795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151821"/>
                </a:solidFill>
                <a:latin typeface="Pretendard"/>
              </a:rPr>
              <a:t>Activity: Rewrite a Vague Prompt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" y="1663700"/>
            <a:ext cx="10795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D6775"/>
                </a:solidFill>
                <a:latin typeface="Pretendard"/>
              </a:rPr>
              <a:t>Structure a request into goal, context, constraints, and format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98500" y="2019300"/>
            <a:ext cx="10795000" cy="0"/>
          </a:xfrm>
          <a:prstGeom prst="line">
            <a:avLst/>
          </a:prstGeom>
          <a:ln w="13970">
            <a:solidFill>
              <a:srgbClr val="1518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98500" y="6375400"/>
            <a:ext cx="10795000" cy="0"/>
          </a:xfrm>
          <a:prstGeom prst="line">
            <a:avLst/>
          </a:prstGeom>
          <a:ln w="952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98500" y="6464300"/>
            <a:ext cx="825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AI Literacy  ·  Prompt refactoring · A good request includes even the criteria for judging the result.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0" y="6464300"/>
            <a:ext cx="1968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5D6775"/>
                </a:solidFill>
                <a:latin typeface="Pretendard"/>
              </a:rPr>
              <a:t>HYCU AI STUDIO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8500" y="2222500"/>
            <a:ext cx="2698750" cy="444500"/>
          </a:xfrm>
          <a:prstGeom prst="rect">
            <a:avLst/>
          </a:prstGeom>
          <a:solidFill>
            <a:srgbClr val="1518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500" y="2222500"/>
            <a:ext cx="2444750" cy="44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Pretendard"/>
              </a:rPr>
              <a:t>Step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97250" y="2222500"/>
            <a:ext cx="2698750" cy="444500"/>
          </a:xfrm>
          <a:prstGeom prst="rect">
            <a:avLst/>
          </a:prstGeom>
          <a:solidFill>
            <a:srgbClr val="1518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4250" y="2222500"/>
            <a:ext cx="2444750" cy="44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Pretendard"/>
              </a:rPr>
              <a:t>Vague Request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0" y="2222500"/>
            <a:ext cx="2698750" cy="444500"/>
          </a:xfrm>
          <a:prstGeom prst="rect">
            <a:avLst/>
          </a:prstGeom>
          <a:solidFill>
            <a:srgbClr val="00A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23000" y="2222500"/>
            <a:ext cx="2444750" cy="44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Structured Request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794750" y="2222500"/>
            <a:ext cx="2698750" cy="444500"/>
          </a:xfrm>
          <a:prstGeom prst="rect">
            <a:avLst/>
          </a:prstGeom>
          <a:solidFill>
            <a:srgbClr val="31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21750" y="2222500"/>
            <a:ext cx="2444750" cy="44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Pretendard"/>
              </a:rPr>
              <a:t>Improvement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500" y="2667000"/>
            <a:ext cx="1079500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5500" y="2667000"/>
            <a:ext cx="244475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51821"/>
                </a:solidFill>
                <a:latin typeface="Pretendard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4250" y="2667000"/>
            <a:ext cx="244475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6775"/>
                </a:solidFill>
                <a:latin typeface="Pretendard"/>
              </a:rPr>
              <a:t>Summarize the meeting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23000" y="2667000"/>
            <a:ext cx="244475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6775"/>
                </a:solidFill>
                <a:latin typeface="Pretendard"/>
              </a:rPr>
              <a:t>A table of decisions, owners, deadlines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21750" y="2667000"/>
            <a:ext cx="244475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6775"/>
                </a:solidFill>
                <a:latin typeface="Pretendard"/>
              </a:rPr>
              <a:t>Output purpose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8500" y="3162300"/>
            <a:ext cx="1079500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5500" y="3162300"/>
            <a:ext cx="244475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51821"/>
                </a:solidFill>
                <a:latin typeface="Pretendard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24250" y="3162300"/>
            <a:ext cx="244475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6775"/>
                </a:solidFill>
                <a:latin typeface="Pretendard"/>
              </a:rPr>
              <a:t>Write an email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23000" y="3162300"/>
            <a:ext cx="244475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6775"/>
                </a:solidFill>
                <a:latin typeface="Pretendard"/>
              </a:rPr>
              <a:t>For new hires, 300 chars, friendly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21750" y="3162300"/>
            <a:ext cx="244475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6775"/>
                </a:solidFill>
                <a:latin typeface="Pretendard"/>
              </a:rPr>
              <a:t>Audience &amp; constraints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98500" y="3657600"/>
            <a:ext cx="1079500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5500" y="3657600"/>
            <a:ext cx="244475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51821"/>
                </a:solidFill>
                <a:latin typeface="Pretendard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4250" y="3657600"/>
            <a:ext cx="244475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6775"/>
                </a:solidFill>
                <a:latin typeface="Pretendard"/>
              </a:rPr>
              <a:t>Research this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23000" y="3657600"/>
            <a:ext cx="244475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6775"/>
                </a:solidFill>
                <a:latin typeface="Pretendard"/>
              </a:rPr>
              <a:t>3 official sources with dates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21750" y="3657600"/>
            <a:ext cx="244475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6775"/>
                </a:solidFill>
                <a:latin typeface="Pretendard"/>
              </a:rPr>
              <a:t>Evidence standard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98500" y="4152900"/>
            <a:ext cx="1079500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5500" y="4152900"/>
            <a:ext cx="244475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51821"/>
                </a:solidFill>
                <a:latin typeface="Pretendard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4250" y="4152900"/>
            <a:ext cx="244475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6775"/>
                </a:solidFill>
                <a:latin typeface="Pretendard"/>
              </a:rPr>
              <a:t>Give me ideas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23000" y="4152900"/>
            <a:ext cx="244475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6775"/>
                </a:solidFill>
                <a:latin typeface="Pretendard"/>
              </a:rPr>
              <a:t>3 alternatives by cost, with risk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21750" y="4152900"/>
            <a:ext cx="244475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6775"/>
                </a:solidFill>
                <a:latin typeface="Pretendard"/>
              </a:rPr>
              <a:t>Comparison format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381000"/>
            <a:ext cx="381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D6775"/>
                </a:solidFill>
                <a:latin typeface="Pretendard"/>
              </a:rPr>
              <a:t>HYCU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8700" y="381000"/>
            <a:ext cx="73025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AI Literacy / Ch.03 Working with Generative AI / 18 IMPLEMENTATION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0" y="374650"/>
            <a:ext cx="1524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IMPLEMENTATION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1000" y="355600"/>
            <a:ext cx="9525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18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838200"/>
            <a:ext cx="10795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151821"/>
                </a:solidFill>
                <a:latin typeface="Pretendard"/>
              </a:rPr>
              <a:t>Discussion: Reduce AI Risk Step by Step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" y="1663700"/>
            <a:ext cx="10795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D6775"/>
                </a:solidFill>
                <a:latin typeface="Pretendard"/>
              </a:rPr>
              <a:t>Safeguards before input, during generation, after output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98500" y="2019300"/>
            <a:ext cx="10795000" cy="0"/>
          </a:xfrm>
          <a:prstGeom prst="line">
            <a:avLst/>
          </a:prstGeom>
          <a:ln w="13970">
            <a:solidFill>
              <a:srgbClr val="1518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98500" y="6375400"/>
            <a:ext cx="10795000" cy="0"/>
          </a:xfrm>
          <a:prstGeom prst="line">
            <a:avLst/>
          </a:prstGeom>
          <a:ln w="952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98500" y="6464300"/>
            <a:ext cx="825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AI Literacy  ·  Risk management · Safety belongs across the whole flow, not just a final check.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0" y="6464300"/>
            <a:ext cx="1968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5D6775"/>
                </a:solidFill>
                <a:latin typeface="Pretendard"/>
              </a:rPr>
              <a:t>HYCU AI STUDIO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8500" y="2222500"/>
            <a:ext cx="3471333" cy="50800"/>
          </a:xfrm>
          <a:prstGeom prst="rect">
            <a:avLst/>
          </a:prstGeom>
          <a:solidFill>
            <a:srgbClr val="00A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698500.0" y="6096000"/>
            <a:ext cx="3471333.3333333335" cy="0"/>
          </a:xfrm>
          <a:prstGeom prst="line">
            <a:avLst/>
          </a:prstGeom>
          <a:ln w="12700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98500" y="2374900"/>
            <a:ext cx="3471333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Arial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500" y="2540000"/>
            <a:ext cx="3471333" cy="317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i="0">
                <a:solidFill>
                  <a:srgbClr val="151821"/>
                </a:solidFill>
                <a:latin typeface="Pretendard"/>
              </a:rPr>
              <a:t>Before Input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8500" y="2952750"/>
            <a:ext cx="3471333" cy="508000"/>
          </a:xfrm>
          <a:prstGeom prst="rect">
            <a:avLst/>
          </a:prstGeom>
          <a:solidFill>
            <a:srgbClr val="F7F5F0"/>
          </a:solidFill>
          <a:ln w="9525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" y="2952750"/>
            <a:ext cx="3268133" cy="50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51821"/>
                </a:solidFill>
                <a:latin typeface="Pretendard"/>
              </a:rPr>
              <a:t>Remove personal data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8500" y="3549650"/>
            <a:ext cx="3471333" cy="508000"/>
          </a:xfrm>
          <a:prstGeom prst="rect">
            <a:avLst/>
          </a:prstGeom>
          <a:solidFill>
            <a:srgbClr val="F7F5F0"/>
          </a:solidFill>
          <a:ln w="9525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0100" y="3549650"/>
            <a:ext cx="3268133" cy="50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51821"/>
                </a:solidFill>
                <a:latin typeface="Pretendard"/>
              </a:rPr>
              <a:t>Verify data permissions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500" y="4146550"/>
            <a:ext cx="3471333" cy="508000"/>
          </a:xfrm>
          <a:prstGeom prst="rect">
            <a:avLst/>
          </a:prstGeom>
          <a:solidFill>
            <a:srgbClr val="F7F5F0"/>
          </a:solidFill>
          <a:ln w="9525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100" y="4146550"/>
            <a:ext cx="3268133" cy="50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51821"/>
                </a:solidFill>
                <a:latin typeface="Pretendard"/>
              </a:rPr>
              <a:t>State goal &amp; off-limits scope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60333" y="2222500"/>
            <a:ext cx="3471333" cy="50800"/>
          </a:xfrm>
          <a:prstGeom prst="rect">
            <a:avLst/>
          </a:prstGeom>
          <a:solidFill>
            <a:srgbClr val="31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4360333.333333334" y="6096000"/>
            <a:ext cx="3471333.333333334" cy="0"/>
          </a:xfrm>
          <a:prstGeom prst="line">
            <a:avLst/>
          </a:prstGeom>
          <a:ln w="12700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360333" y="2374900"/>
            <a:ext cx="3471333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Arial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60333" y="2540000"/>
            <a:ext cx="3471333" cy="317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i="0">
                <a:solidFill>
                  <a:srgbClr val="151821"/>
                </a:solidFill>
                <a:latin typeface="Pretendard"/>
              </a:rPr>
              <a:t>During Generation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60333" y="2952750"/>
            <a:ext cx="3471333" cy="508000"/>
          </a:xfrm>
          <a:prstGeom prst="rect">
            <a:avLst/>
          </a:prstGeom>
          <a:solidFill>
            <a:srgbClr val="F7F5F0"/>
          </a:solidFill>
          <a:ln w="9525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61933" y="2952750"/>
            <a:ext cx="3268133" cy="50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51821"/>
                </a:solidFill>
                <a:latin typeface="Pretendard"/>
              </a:rPr>
              <a:t>Ask for sources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60333" y="3549650"/>
            <a:ext cx="3471333" cy="508000"/>
          </a:xfrm>
          <a:prstGeom prst="rect">
            <a:avLst/>
          </a:prstGeom>
          <a:solidFill>
            <a:srgbClr val="F7F5F0"/>
          </a:solidFill>
          <a:ln w="9525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61933" y="3549650"/>
            <a:ext cx="3268133" cy="50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51821"/>
                </a:solidFill>
                <a:latin typeface="Pretendard"/>
              </a:rPr>
              <a:t>Flag assumptions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60333" y="4146550"/>
            <a:ext cx="3471333" cy="508000"/>
          </a:xfrm>
          <a:prstGeom prst="rect">
            <a:avLst/>
          </a:prstGeom>
          <a:solidFill>
            <a:srgbClr val="F7F5F0"/>
          </a:solidFill>
          <a:ln w="9525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61933" y="4146550"/>
            <a:ext cx="3268133" cy="50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51821"/>
                </a:solidFill>
                <a:latin typeface="Pretendard"/>
              </a:rPr>
              <a:t>Compare multiple alternatives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22166" y="2222500"/>
            <a:ext cx="3471333" cy="50800"/>
          </a:xfrm>
          <a:prstGeom prst="rect">
            <a:avLst/>
          </a:prstGeom>
          <a:solidFill>
            <a:srgbClr val="00A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8022166.666666667" y="6096000"/>
            <a:ext cx="3471333.333333333" cy="0"/>
          </a:xfrm>
          <a:prstGeom prst="line">
            <a:avLst/>
          </a:prstGeom>
          <a:ln w="12700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022166" y="2374900"/>
            <a:ext cx="3471333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Arial"/>
              </a:rPr>
              <a:t>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22166" y="2540000"/>
            <a:ext cx="3471333" cy="317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i="0">
                <a:solidFill>
                  <a:srgbClr val="151821"/>
                </a:solidFill>
                <a:latin typeface="Pretendard"/>
              </a:rPr>
              <a:t>After Output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22166" y="2952750"/>
            <a:ext cx="3471333" cy="508000"/>
          </a:xfrm>
          <a:prstGeom prst="rect">
            <a:avLst/>
          </a:prstGeom>
          <a:solidFill>
            <a:srgbClr val="F7F5F0"/>
          </a:solidFill>
          <a:ln w="9525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23766" y="2952750"/>
            <a:ext cx="3268133" cy="50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51821"/>
                </a:solidFill>
                <a:latin typeface="Pretendard"/>
              </a:rPr>
              <a:t>Cross-check the original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22166" y="3549650"/>
            <a:ext cx="3471333" cy="508000"/>
          </a:xfrm>
          <a:prstGeom prst="rect">
            <a:avLst/>
          </a:prstGeom>
          <a:solidFill>
            <a:srgbClr val="F7F5F0"/>
          </a:solidFill>
          <a:ln w="9525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123766" y="3549650"/>
            <a:ext cx="3268133" cy="50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51821"/>
                </a:solidFill>
                <a:latin typeface="Pretendard"/>
              </a:rPr>
              <a:t>Check bias &amp; omissions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22166" y="4146550"/>
            <a:ext cx="3471333" cy="508000"/>
          </a:xfrm>
          <a:prstGeom prst="rect">
            <a:avLst/>
          </a:prstGeom>
          <a:solidFill>
            <a:srgbClr val="F7F5F0"/>
          </a:solidFill>
          <a:ln w="9525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23766" y="4146550"/>
            <a:ext cx="3268133" cy="50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51821"/>
                </a:solidFill>
                <a:latin typeface="Pretendard"/>
              </a:rPr>
              <a:t>Final human approval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381000"/>
            <a:ext cx="381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D6775"/>
                </a:solidFill>
                <a:latin typeface="Pretendard"/>
              </a:rPr>
              <a:t>HYCU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8700" y="381000"/>
            <a:ext cx="73025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AI Literacy / Ch.03 Working with Generative AI / 19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0" y="374650"/>
            <a:ext cx="1524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1000" y="355600"/>
            <a:ext cx="9525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19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838200"/>
            <a:ext cx="10795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151821"/>
                </a:solidFill>
                <a:latin typeface="Pretendard"/>
              </a:rPr>
              <a:t>Formative Assessment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" y="1333500"/>
            <a:ext cx="10795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D6775"/>
                </a:solidFill>
                <a:latin typeface="Pretendard"/>
              </a:rPr>
              <a:t>Information you should never input to AI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98500" y="2019300"/>
            <a:ext cx="10795000" cy="0"/>
          </a:xfrm>
          <a:prstGeom prst="line">
            <a:avLst/>
          </a:prstGeom>
          <a:ln w="13970">
            <a:solidFill>
              <a:srgbClr val="1518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98500" y="6375400"/>
            <a:ext cx="10795000" cy="0"/>
          </a:xfrm>
          <a:prstGeom prst="line">
            <a:avLst/>
          </a:prstGeom>
          <a:ln w="952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98500" y="6464300"/>
            <a:ext cx="825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AI Literacy  ·  Formative Assessment 1 · Confirms privacy protection principles.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0" y="6464300"/>
            <a:ext cx="1968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5D6775"/>
                </a:solidFill>
                <a:latin typeface="Pretendard"/>
              </a:rPr>
              <a:t>HYCU AI STUDIO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8500" y="2222500"/>
            <a:ext cx="4318000" cy="3873500"/>
          </a:xfrm>
          <a:prstGeom prst="rect">
            <a:avLst/>
          </a:prstGeom>
          <a:solidFill>
            <a:srgbClr val="1518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5200" y="2489200"/>
            <a:ext cx="37846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74D3EA"/>
                </a:solidFill>
                <a:latin typeface="Arial"/>
              </a:rPr>
              <a:t>QUESTION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200" y="2794000"/>
            <a:ext cx="3784600" cy="298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1" i="0">
                <a:solidFill>
                  <a:srgbClr val="FFFFFF"/>
                </a:solidFill>
                <a:latin typeface="Pretendard"/>
              </a:rPr>
              <a:t>Which of the following should never be</a:t>
            </a:r>
          </a:p>
          <a:p>
            <a:pPr algn="l">
              <a:lnSpc>
                <a:spcPct val="140000"/>
              </a:lnSpc>
            </a:pPr>
            <a:r>
              <a:rPr sz="1900" b="1" i="0">
                <a:solidFill>
                  <a:srgbClr val="FFFFFF"/>
                </a:solidFill>
                <a:latin typeface="Pretendard"/>
              </a:rPr>
              <a:t>entered directly into an external generative AI?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97500" y="2222500"/>
            <a:ext cx="6096000" cy="444500"/>
          </a:xfrm>
          <a:prstGeom prst="rect">
            <a:avLst/>
          </a:prstGeom>
          <a:solidFill>
            <a:srgbClr val="FFFFFF"/>
          </a:solidFill>
          <a:ln w="15875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511800" y="2305050"/>
            <a:ext cx="279400" cy="279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11800" y="2305050"/>
            <a:ext cx="279400" cy="279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Arial"/>
              </a:rPr>
              <a:t>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73750" y="2222500"/>
            <a:ext cx="5461000" cy="44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151821"/>
                </a:solidFill>
                <a:latin typeface="Pretendard"/>
              </a:rPr>
              <a:t>A public press release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97500" y="2755900"/>
            <a:ext cx="6096000" cy="444500"/>
          </a:xfrm>
          <a:prstGeom prst="rect">
            <a:avLst/>
          </a:prstGeom>
          <a:solidFill>
            <a:srgbClr val="D4F1F7"/>
          </a:solidFill>
          <a:ln w="15875">
            <a:solidFill>
              <a:srgbClr val="00A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511800" y="2838450"/>
            <a:ext cx="279400" cy="279400"/>
          </a:xfrm>
          <a:prstGeom prst="ellipse">
            <a:avLst/>
          </a:prstGeom>
          <a:solidFill>
            <a:srgbClr val="00AEDD"/>
          </a:solidFill>
          <a:ln w="19050">
            <a:solidFill>
              <a:srgbClr val="00A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11800" y="2838450"/>
            <a:ext cx="279400" cy="279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Arial"/>
              </a:rPr>
              <a:t>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73750" y="2755900"/>
            <a:ext cx="5461000" cy="44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151821"/>
                </a:solidFill>
                <a:latin typeface="Pretendard"/>
              </a:rPr>
              <a:t>A customer list containing personal data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97500" y="3289300"/>
            <a:ext cx="6096000" cy="444500"/>
          </a:xfrm>
          <a:prstGeom prst="rect">
            <a:avLst/>
          </a:prstGeom>
          <a:solidFill>
            <a:srgbClr val="FFFFFF"/>
          </a:solidFill>
          <a:ln w="15875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511800" y="3371850"/>
            <a:ext cx="279400" cy="279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11800" y="3371850"/>
            <a:ext cx="279400" cy="279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Arial"/>
              </a:rPr>
              <a:t>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73750" y="3289300"/>
            <a:ext cx="5461000" cy="44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151821"/>
                </a:solidFill>
                <a:latin typeface="Pretendard"/>
              </a:rPr>
              <a:t>A plain sentence you wrote yourself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97500" y="3822700"/>
            <a:ext cx="6096000" cy="444500"/>
          </a:xfrm>
          <a:prstGeom prst="rect">
            <a:avLst/>
          </a:prstGeom>
          <a:solidFill>
            <a:srgbClr val="FFFFFF"/>
          </a:solidFill>
          <a:ln w="15875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511800" y="3905250"/>
            <a:ext cx="279400" cy="279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11800" y="3905250"/>
            <a:ext cx="279400" cy="279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Arial"/>
              </a:rPr>
              <a:t>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73750" y="3822700"/>
            <a:ext cx="5461000" cy="44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151821"/>
                </a:solidFill>
                <a:latin typeface="Pretendard"/>
              </a:rPr>
              <a:t>Publicly licensed material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397500" y="5842000"/>
            <a:ext cx="6096000" cy="0"/>
          </a:xfrm>
          <a:prstGeom prst="line">
            <a:avLst/>
          </a:prstGeom>
          <a:ln w="19050">
            <a:solidFill>
              <a:srgbClr val="1518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397500" y="5892800"/>
            <a:ext cx="53340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Check the answer together with its rationale.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31500" y="5892800"/>
            <a:ext cx="7620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 i="0">
                <a:solidFill>
                  <a:srgbClr val="006B86"/>
                </a:solidFill>
                <a:latin typeface="Arial"/>
              </a:rPr>
              <a:t>B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381000"/>
            <a:ext cx="381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D6775"/>
                </a:solidFill>
                <a:latin typeface="Pretendard"/>
              </a:rPr>
              <a:t>HYCU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8700" y="381000"/>
            <a:ext cx="73025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AI Literacy / Ch.03 Working with Generative AI / 20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0" y="374650"/>
            <a:ext cx="1524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1000" y="355600"/>
            <a:ext cx="9525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20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838200"/>
            <a:ext cx="10795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151821"/>
                </a:solidFill>
                <a:latin typeface="Pretendard"/>
              </a:rPr>
              <a:t>Formative Assessment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" y="1333500"/>
            <a:ext cx="10795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D6775"/>
                </a:solidFill>
                <a:latin typeface="Pretendard"/>
              </a:rPr>
              <a:t>Conditions of a good prompt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98500" y="2019300"/>
            <a:ext cx="10795000" cy="0"/>
          </a:xfrm>
          <a:prstGeom prst="line">
            <a:avLst/>
          </a:prstGeom>
          <a:ln w="13970">
            <a:solidFill>
              <a:srgbClr val="1518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98500" y="6375400"/>
            <a:ext cx="10795000" cy="0"/>
          </a:xfrm>
          <a:prstGeom prst="line">
            <a:avLst/>
          </a:prstGeom>
          <a:ln w="952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98500" y="6464300"/>
            <a:ext cx="825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AI Literacy  ·  Formative Assessment 2 · Find the request with goal, audience, count, length, and evidence criteria.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0" y="6464300"/>
            <a:ext cx="1968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5D6775"/>
                </a:solidFill>
                <a:latin typeface="Pretendard"/>
              </a:rPr>
              <a:t>HYCU AI STUDIO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8500" y="2222500"/>
            <a:ext cx="4318000" cy="3873500"/>
          </a:xfrm>
          <a:prstGeom prst="rect">
            <a:avLst/>
          </a:prstGeom>
          <a:solidFill>
            <a:srgbClr val="1518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5200" y="2489200"/>
            <a:ext cx="37846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74D3EA"/>
                </a:solidFill>
                <a:latin typeface="Arial"/>
              </a:rPr>
              <a:t>QUESTION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200" y="2794000"/>
            <a:ext cx="3784600" cy="298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1" i="0">
                <a:solidFill>
                  <a:srgbClr val="FFFFFF"/>
                </a:solidFill>
                <a:latin typeface="Pretendard"/>
              </a:rPr>
              <a:t>Which of these prompts is easiest to review?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97500" y="2222500"/>
            <a:ext cx="6096000" cy="444500"/>
          </a:xfrm>
          <a:prstGeom prst="rect">
            <a:avLst/>
          </a:prstGeom>
          <a:solidFill>
            <a:srgbClr val="FFFFFF"/>
          </a:solidFill>
          <a:ln w="15875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511800" y="2305050"/>
            <a:ext cx="279400" cy="279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11800" y="2305050"/>
            <a:ext cx="279400" cy="279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Arial"/>
              </a:rPr>
              <a:t>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73750" y="2222500"/>
            <a:ext cx="5461000" cy="44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151821"/>
                </a:solidFill>
                <a:latin typeface="Pretendard"/>
              </a:rPr>
              <a:t>Make new product ideas sound amazing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97500" y="2755900"/>
            <a:ext cx="6096000" cy="444500"/>
          </a:xfrm>
          <a:prstGeom prst="rect">
            <a:avLst/>
          </a:prstGeom>
          <a:solidFill>
            <a:srgbClr val="FFFFFF"/>
          </a:solidFill>
          <a:ln w="15875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511800" y="2838450"/>
            <a:ext cx="279400" cy="279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11800" y="2838450"/>
            <a:ext cx="279400" cy="279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Arial"/>
              </a:rPr>
              <a:t>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73750" y="2755900"/>
            <a:ext cx="5461000" cy="44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151821"/>
                </a:solidFill>
                <a:latin typeface="Pretendard"/>
              </a:rPr>
              <a:t>Generate lots of marketing copy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97500" y="3289300"/>
            <a:ext cx="6096000" cy="444500"/>
          </a:xfrm>
          <a:prstGeom prst="rect">
            <a:avLst/>
          </a:prstGeom>
          <a:solidFill>
            <a:srgbClr val="D4F1F7"/>
          </a:solidFill>
          <a:ln w="15875">
            <a:solidFill>
              <a:srgbClr val="00A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511800" y="3371850"/>
            <a:ext cx="279400" cy="279400"/>
          </a:xfrm>
          <a:prstGeom prst="ellipse">
            <a:avLst/>
          </a:prstGeom>
          <a:solidFill>
            <a:srgbClr val="00AEDD"/>
          </a:solidFill>
          <a:ln w="19050">
            <a:solidFill>
              <a:srgbClr val="00A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11800" y="3371850"/>
            <a:ext cx="279400" cy="279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Arial"/>
              </a:rPr>
              <a:t>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73750" y="3289300"/>
            <a:ext cx="5461000" cy="44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151821"/>
                </a:solidFill>
                <a:latin typeface="Pretendard"/>
              </a:rPr>
              <a:t>Write 3 slogans (&lt;=30 chars) for customers in their 20s with rationale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97500" y="3822700"/>
            <a:ext cx="6096000" cy="444500"/>
          </a:xfrm>
          <a:prstGeom prst="rect">
            <a:avLst/>
          </a:prstGeom>
          <a:solidFill>
            <a:srgbClr val="FFFFFF"/>
          </a:solidFill>
          <a:ln w="15875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511800" y="3905250"/>
            <a:ext cx="279400" cy="279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11800" y="3905250"/>
            <a:ext cx="279400" cy="279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Arial"/>
              </a:rPr>
              <a:t>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73750" y="3822700"/>
            <a:ext cx="5461000" cy="44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151821"/>
                </a:solidFill>
                <a:latin typeface="Pretendard"/>
              </a:rPr>
              <a:t>Always describe our product positively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397500" y="5842000"/>
            <a:ext cx="6096000" cy="0"/>
          </a:xfrm>
          <a:prstGeom prst="line">
            <a:avLst/>
          </a:prstGeom>
          <a:ln w="19050">
            <a:solidFill>
              <a:srgbClr val="1518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397500" y="5892800"/>
            <a:ext cx="53340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Check the answer together with its rationale.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31500" y="5892800"/>
            <a:ext cx="7620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 i="0">
                <a:solidFill>
                  <a:srgbClr val="006B86"/>
                </a:solidFill>
                <a:latin typeface="Arial"/>
              </a:rPr>
              <a:t>C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381000"/>
            <a:ext cx="381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D6775"/>
                </a:solidFill>
                <a:latin typeface="Pretendard"/>
              </a:rPr>
              <a:t>HYCU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8700" y="381000"/>
            <a:ext cx="73025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AI Literacy / Ch.03 Working with Generative AI / 21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0" y="374650"/>
            <a:ext cx="1524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1000" y="355600"/>
            <a:ext cx="9525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21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838200"/>
            <a:ext cx="10795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151821"/>
                </a:solidFill>
                <a:latin typeface="Pretendard"/>
              </a:rPr>
              <a:t>Formative Assessment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" y="1333500"/>
            <a:ext cx="10795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D6775"/>
                </a:solidFill>
                <a:latin typeface="Pretendard"/>
              </a:rPr>
              <a:t>Responding when you spot a plausible-looking error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98500" y="2019300"/>
            <a:ext cx="10795000" cy="0"/>
          </a:xfrm>
          <a:prstGeom prst="line">
            <a:avLst/>
          </a:prstGeom>
          <a:ln w="13970">
            <a:solidFill>
              <a:srgbClr val="1518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98500" y="6375400"/>
            <a:ext cx="10795000" cy="0"/>
          </a:xfrm>
          <a:prstGeom prst="line">
            <a:avLst/>
          </a:prstGeom>
          <a:ln w="952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98500" y="6464300"/>
            <a:ext cx="825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AI Literacy  ·  Formative Assessment 3 · Verify with trustworthy sources, not model agreement.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0" y="6464300"/>
            <a:ext cx="1968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5D6775"/>
                </a:solidFill>
                <a:latin typeface="Pretendard"/>
              </a:rPr>
              <a:t>HYCU AI STUDIO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8500" y="2222500"/>
            <a:ext cx="4318000" cy="3873500"/>
          </a:xfrm>
          <a:prstGeom prst="rect">
            <a:avLst/>
          </a:prstGeom>
          <a:solidFill>
            <a:srgbClr val="1518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5200" y="2489200"/>
            <a:ext cx="37846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74D3EA"/>
                </a:solidFill>
                <a:latin typeface="Arial"/>
              </a:rPr>
              <a:t>QUESTION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200" y="2794000"/>
            <a:ext cx="3784600" cy="298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1" i="0">
                <a:solidFill>
                  <a:srgbClr val="FFFFFF"/>
                </a:solidFill>
                <a:latin typeface="Pretendard"/>
              </a:rPr>
              <a:t>AI confidently stated a figure with no source. What's the right response? (multiple answers)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97500" y="2222500"/>
            <a:ext cx="6096000" cy="444500"/>
          </a:xfrm>
          <a:prstGeom prst="rect">
            <a:avLst/>
          </a:prstGeom>
          <a:solidFill>
            <a:srgbClr val="D4F1F7"/>
          </a:solidFill>
          <a:ln w="15875">
            <a:solidFill>
              <a:srgbClr val="00A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511800" y="2305050"/>
            <a:ext cx="279400" cy="279400"/>
          </a:xfrm>
          <a:prstGeom prst="ellipse">
            <a:avLst/>
          </a:prstGeom>
          <a:solidFill>
            <a:srgbClr val="00AEDD"/>
          </a:solidFill>
          <a:ln w="19050">
            <a:solidFill>
              <a:srgbClr val="00A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11800" y="2305050"/>
            <a:ext cx="279400" cy="279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Arial"/>
              </a:rPr>
              <a:t>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73750" y="2222500"/>
            <a:ext cx="5461000" cy="44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151821"/>
                </a:solidFill>
                <a:latin typeface="Pretendard"/>
              </a:rPr>
              <a:t>Verify the figure against the official original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97500" y="2755900"/>
            <a:ext cx="6096000" cy="444500"/>
          </a:xfrm>
          <a:prstGeom prst="rect">
            <a:avLst/>
          </a:prstGeom>
          <a:solidFill>
            <a:srgbClr val="D4F1F7"/>
          </a:solidFill>
          <a:ln w="15875">
            <a:solidFill>
              <a:srgbClr val="00A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511800" y="2838450"/>
            <a:ext cx="279400" cy="279400"/>
          </a:xfrm>
          <a:prstGeom prst="ellipse">
            <a:avLst/>
          </a:prstGeom>
          <a:solidFill>
            <a:srgbClr val="00AEDD"/>
          </a:solidFill>
          <a:ln w="19050">
            <a:solidFill>
              <a:srgbClr val="00A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11800" y="2838450"/>
            <a:ext cx="279400" cy="279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Arial"/>
              </a:rPr>
              <a:t>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73750" y="2755900"/>
            <a:ext cx="5461000" cy="44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151821"/>
                </a:solidFill>
                <a:latin typeface="Pretendard"/>
              </a:rPr>
              <a:t>Flag the uncertain part and re-verify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97500" y="3289300"/>
            <a:ext cx="6096000" cy="444500"/>
          </a:xfrm>
          <a:prstGeom prst="rect">
            <a:avLst/>
          </a:prstGeom>
          <a:solidFill>
            <a:srgbClr val="FFFFFF"/>
          </a:solidFill>
          <a:ln w="15875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511800" y="3371850"/>
            <a:ext cx="279400" cy="279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11800" y="3371850"/>
            <a:ext cx="279400" cy="279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Arial"/>
              </a:rPr>
              <a:t>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73750" y="3289300"/>
            <a:ext cx="5461000" cy="44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151821"/>
                </a:solidFill>
                <a:latin typeface="Pretendard"/>
              </a:rPr>
              <a:t>Use it as-is since the sentence sounds natural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97500" y="3822700"/>
            <a:ext cx="6096000" cy="444500"/>
          </a:xfrm>
          <a:prstGeom prst="rect">
            <a:avLst/>
          </a:prstGeom>
          <a:solidFill>
            <a:srgbClr val="FFFFFF"/>
          </a:solidFill>
          <a:ln w="15875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511800" y="3905250"/>
            <a:ext cx="279400" cy="279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11800" y="3905250"/>
            <a:ext cx="279400" cy="279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Arial"/>
              </a:rPr>
              <a:t>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73750" y="3822700"/>
            <a:ext cx="5461000" cy="44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151821"/>
                </a:solidFill>
                <a:latin typeface="Pretendard"/>
              </a:rPr>
              <a:t>Treat it as fact if another AI agrees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397500" y="5842000"/>
            <a:ext cx="6096000" cy="0"/>
          </a:xfrm>
          <a:prstGeom prst="line">
            <a:avLst/>
          </a:prstGeom>
          <a:ln w="19050">
            <a:solidFill>
              <a:srgbClr val="1518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397500" y="5892800"/>
            <a:ext cx="53340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Check the answer together with its rationale.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31500" y="5892800"/>
            <a:ext cx="7620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 i="0">
                <a:solidFill>
                  <a:srgbClr val="006B86"/>
                </a:solidFill>
                <a:latin typeface="Arial"/>
              </a:rPr>
              <a:t>A · B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381000"/>
            <a:ext cx="381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D6775"/>
                </a:solidFill>
                <a:latin typeface="Pretendard"/>
              </a:rPr>
              <a:t>HYCU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8700" y="381000"/>
            <a:ext cx="73025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AI Literacy / Ch.03 Working with Generative AI / 22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0" y="374650"/>
            <a:ext cx="1524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1000" y="355600"/>
            <a:ext cx="9525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22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838200"/>
            <a:ext cx="10795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151821"/>
                </a:solidFill>
                <a:latin typeface="Pretendard"/>
              </a:rPr>
              <a:t>The Core of Generative AI Use Is Three Things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" y="1663700"/>
            <a:ext cx="10795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D6775"/>
                </a:solidFill>
                <a:latin typeface="Pretendard"/>
              </a:rPr>
              <a:t>Structured requests, evidence verification, human responsibility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98500" y="2019300"/>
            <a:ext cx="10795000" cy="0"/>
          </a:xfrm>
          <a:prstGeom prst="line">
            <a:avLst/>
          </a:prstGeom>
          <a:ln w="13970">
            <a:solidFill>
              <a:srgbClr val="1518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98500" y="6375400"/>
            <a:ext cx="10795000" cy="0"/>
          </a:xfrm>
          <a:prstGeom prst="line">
            <a:avLst/>
          </a:prstGeom>
          <a:ln w="952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98500" y="6464300"/>
            <a:ext cx="825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AI Literacy  ·  Three keys to good generative-AI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0" y="6464300"/>
            <a:ext cx="1968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5D6775"/>
                </a:solidFill>
                <a:latin typeface="Pretendard"/>
              </a:rPr>
              <a:t>HYCU AI STUDIO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8500" y="2222500"/>
            <a:ext cx="2667000" cy="3873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 i="0">
                <a:solidFill>
                  <a:srgbClr val="D7D9DE"/>
                </a:solidFill>
                <a:latin typeface="Arial"/>
              </a:rPr>
              <a:t>COLLABORATE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73500" y="2222500"/>
            <a:ext cx="7620000" cy="1214966"/>
          </a:xfrm>
          <a:prstGeom prst="roundRect">
            <a:avLst>
              <a:gd name="adj" fmla="val 9000"/>
            </a:avLst>
          </a:prstGeom>
          <a:solidFill>
            <a:srgbClr val="D4F1F7"/>
          </a:solidFill>
          <a:ln w="1270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87800" y="2336800"/>
            <a:ext cx="7391400" cy="114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06B86"/>
                </a:solidFill>
                <a:latin typeface="Arial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87800" y="2489200"/>
            <a:ext cx="73914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151821"/>
                </a:solidFill>
                <a:latin typeface="Pretendard"/>
              </a:rPr>
              <a:t>Structured Requests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87800" y="2857500"/>
            <a:ext cx="7391400" cy="5164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51821"/>
                </a:solidFill>
                <a:latin typeface="Pretendard"/>
              </a:rPr>
              <a:t>Design goal, context, data, constraints, and format together.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73500" y="3551766"/>
            <a:ext cx="7620000" cy="1214966"/>
          </a:xfrm>
          <a:prstGeom prst="roundRect">
            <a:avLst>
              <a:gd name="adj" fmla="val 9000"/>
            </a:avLst>
          </a:prstGeom>
          <a:solidFill>
            <a:srgbClr val="E0E6FF"/>
          </a:solidFill>
          <a:ln w="1270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87800" y="3666066"/>
            <a:ext cx="7391400" cy="114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D3FBF"/>
                </a:solidFill>
                <a:latin typeface="Arial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87800" y="3818466"/>
            <a:ext cx="73914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151821"/>
                </a:solidFill>
                <a:latin typeface="Pretendard"/>
              </a:rPr>
              <a:t>Evidence-Centered Verification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87800" y="4186766"/>
            <a:ext cx="7391400" cy="5164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51821"/>
                </a:solidFill>
                <a:latin typeface="Pretendard"/>
              </a:rPr>
              <a:t>Cross-check facts, figures, and quotes against reliable sources.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73500" y="4881033"/>
            <a:ext cx="7620000" cy="121496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87800" y="4995333"/>
            <a:ext cx="7391400" cy="114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51821"/>
                </a:solidFill>
                <a:latin typeface="Arial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87800" y="5147733"/>
            <a:ext cx="73914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5D6775"/>
                </a:solidFill>
                <a:latin typeface="Pretendard"/>
              </a:rPr>
              <a:t>Human Responsibility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87800" y="5516033"/>
            <a:ext cx="7391400" cy="5164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5D6775"/>
                </a:solidFill>
                <a:latin typeface="Pretendard"/>
              </a:rPr>
              <a:t>AI helps draft; people keep judgment and final approval.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381000"/>
            <a:ext cx="381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D6775"/>
                </a:solidFill>
                <a:latin typeface="Pretendard"/>
              </a:rPr>
              <a:t>HYCU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8700" y="381000"/>
            <a:ext cx="73025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AI Literacy / Ch.03 Working with Generative AI / 23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0" y="374650"/>
            <a:ext cx="1524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1000" y="355600"/>
            <a:ext cx="9525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23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838200"/>
            <a:ext cx="10795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151821"/>
                </a:solidFill>
                <a:latin typeface="Pretendard"/>
              </a:rPr>
              <a:t>Correcting Three Misconceptions About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" y="1663700"/>
            <a:ext cx="10795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D6775"/>
                </a:solidFill>
                <a:latin typeface="Pretendard"/>
              </a:rPr>
              <a:t>Realistic standards on correctness, neutrality, and automation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98500" y="2019300"/>
            <a:ext cx="10795000" cy="0"/>
          </a:xfrm>
          <a:prstGeom prst="line">
            <a:avLst/>
          </a:prstGeom>
          <a:ln w="13970">
            <a:solidFill>
              <a:srgbClr val="1518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98500" y="6375400"/>
            <a:ext cx="10795000" cy="0"/>
          </a:xfrm>
          <a:prstGeom prst="line">
            <a:avLst/>
          </a:prstGeom>
          <a:ln w="952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98500" y="6464300"/>
            <a:ext cx="825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AI Literacy  ·  Misconception check · Understand both AI's capability and its scope of responsibility.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0" y="6464300"/>
            <a:ext cx="1968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5D6775"/>
                </a:solidFill>
                <a:latin typeface="Pretendard"/>
              </a:rPr>
              <a:t>HYCU AI STUDIO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8500" y="2222500"/>
            <a:ext cx="5397500" cy="444500"/>
          </a:xfrm>
          <a:prstGeom prst="rect">
            <a:avLst/>
          </a:prstGeom>
          <a:solidFill>
            <a:srgbClr val="1518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500" y="2222500"/>
            <a:ext cx="5143500" cy="44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Pretendard"/>
              </a:rPr>
              <a:t>Misconception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0" y="2222500"/>
            <a:ext cx="5397500" cy="444500"/>
          </a:xfrm>
          <a:prstGeom prst="rect">
            <a:avLst/>
          </a:prstGeom>
          <a:solidFill>
            <a:srgbClr val="5D67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23000" y="2222500"/>
            <a:ext cx="5143500" cy="44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Pretendard"/>
              </a:rPr>
              <a:t>Realistic Standard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8500" y="2667000"/>
            <a:ext cx="1079500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500" y="2667000"/>
            <a:ext cx="514350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51821"/>
                </a:solidFill>
                <a:latin typeface="Pretendard"/>
              </a:rPr>
              <a:t>AI always gives the right answer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23000" y="2667000"/>
            <a:ext cx="514350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6775"/>
                </a:solidFill>
                <a:latin typeface="Pretendard"/>
              </a:rPr>
              <a:t>Fluent output and factual accuracy are different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8500" y="3162300"/>
            <a:ext cx="1079500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5500" y="3162300"/>
            <a:ext cx="514350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51821"/>
                </a:solidFill>
                <a:latin typeface="Pretendard"/>
              </a:rPr>
              <a:t>AI is unbiased and neutral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23000" y="3162300"/>
            <a:ext cx="514350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6775"/>
                </a:solidFill>
                <a:latin typeface="Pretendard"/>
              </a:rPr>
              <a:t>It's shaped by training data and how it's asked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8500" y="3657600"/>
            <a:ext cx="1079500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5500" y="3657600"/>
            <a:ext cx="514350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51821"/>
                </a:solidFill>
                <a:latin typeface="Pretendard"/>
              </a:rPr>
              <a:t>Automation means no review needed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23000" y="3657600"/>
            <a:ext cx="514350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6775"/>
                </a:solidFill>
                <a:latin typeface="Pretendard"/>
              </a:rPr>
              <a:t>The bigger the impact, the more approval matters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381000"/>
            <a:ext cx="381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D6775"/>
                </a:solidFill>
                <a:latin typeface="Pretendard"/>
              </a:rPr>
              <a:t>HYCU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8700" y="381000"/>
            <a:ext cx="73025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AI Literacy / Ch.03 Working with Generative AI / 24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0" y="374650"/>
            <a:ext cx="1524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1000" y="355600"/>
            <a:ext cx="9525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24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838200"/>
            <a:ext cx="10795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151821"/>
                </a:solidFill>
                <a:latin typeface="Pretendard"/>
              </a:rPr>
              <a:t>Resources for Further Study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" y="1663700"/>
            <a:ext cx="10795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D6775"/>
                </a:solidFill>
                <a:latin typeface="Pretendard"/>
              </a:rPr>
              <a:t>Readings connecting principles, risk management, and education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98500" y="2019300"/>
            <a:ext cx="10795000" cy="0"/>
          </a:xfrm>
          <a:prstGeom prst="line">
            <a:avLst/>
          </a:prstGeom>
          <a:ln w="13970">
            <a:solidFill>
              <a:srgbClr val="1518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98500" y="6375400"/>
            <a:ext cx="10795000" cy="0"/>
          </a:xfrm>
          <a:prstGeom prst="line">
            <a:avLst/>
          </a:prstGeom>
          <a:ln w="952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98500" y="6464300"/>
            <a:ext cx="825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AI Literacy  ·  Deep dive · Balancing principles, application, and risk management.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0" y="6464300"/>
            <a:ext cx="1968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5D6775"/>
                </a:solidFill>
                <a:latin typeface="Pretendard"/>
              </a:rPr>
              <a:t>HYCU AI STUDIO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8500" y="2286000"/>
            <a:ext cx="2984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06B86"/>
                </a:solidFill>
                <a:latin typeface="Arial"/>
              </a:rPr>
              <a:t>DEEP DIVE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500" y="2540000"/>
            <a:ext cx="2984500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 i="0">
                <a:solidFill>
                  <a:srgbClr val="151821"/>
                </a:solidFill>
                <a:latin typeface="Pretendard"/>
              </a:rPr>
              <a:t>Expanding principles</a:t>
            </a:r>
          </a:p>
          <a:p>
            <a:pPr algn="l">
              <a:lnSpc>
                <a:spcPct val="125000"/>
              </a:lnSpc>
            </a:pPr>
            <a:r>
              <a:rPr sz="2100" b="1" i="0">
                <a:solidFill>
                  <a:srgbClr val="151821"/>
                </a:solidFill>
                <a:latin typeface="Pretendard"/>
              </a:rPr>
              <a:t>and responsibility together.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8500" y="3746500"/>
            <a:ext cx="2984500" cy="12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 i="0">
                <a:solidFill>
                  <a:srgbClr val="5D6775"/>
                </a:solidFill>
                <a:latin typeface="Pretendard"/>
              </a:rPr>
              <a:t>Understand the model's structure and the risk-management standards real work needs.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27500" y="2222500"/>
            <a:ext cx="3625850" cy="1879600"/>
          </a:xfrm>
          <a:prstGeom prst="roundRect">
            <a:avLst>
              <a:gd name="adj" fmla="val 9000"/>
            </a:avLst>
          </a:prstGeom>
          <a:solidFill>
            <a:srgbClr val="D4F1F7"/>
          </a:solidFill>
          <a:ln w="1270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41800" y="2336800"/>
            <a:ext cx="3397250" cy="114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06B86"/>
                </a:solidFill>
                <a:latin typeface="Arial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41800" y="2489200"/>
            <a:ext cx="33972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151821"/>
                </a:solidFill>
                <a:latin typeface="Pretendard"/>
              </a:rPr>
              <a:t>Attention Is All You Need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41800" y="2857500"/>
            <a:ext cx="3397250" cy="1181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51821"/>
                </a:solidFill>
                <a:latin typeface="Pretendard"/>
              </a:rPr>
              <a:t>Starting point for understanding the Transformer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7650" y="2222500"/>
            <a:ext cx="3625850" cy="1879600"/>
          </a:xfrm>
          <a:prstGeom prst="roundRect">
            <a:avLst>
              <a:gd name="adj" fmla="val 9000"/>
            </a:avLst>
          </a:prstGeom>
          <a:solidFill>
            <a:srgbClr val="E0E6FF"/>
          </a:solidFill>
          <a:ln w="1270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81950" y="2336800"/>
            <a:ext cx="3397250" cy="114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D3FBF"/>
                </a:solidFill>
                <a:latin typeface="Arial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81950" y="2489200"/>
            <a:ext cx="33972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151821"/>
                </a:solidFill>
                <a:latin typeface="Pretendard"/>
              </a:rPr>
              <a:t>NIST AI RMF 1.0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81950" y="2857500"/>
            <a:ext cx="3397250" cy="1181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51821"/>
                </a:solidFill>
                <a:latin typeface="Pretendard"/>
              </a:rPr>
              <a:t>A practical framework to identify, measure, manage AI risk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27500" y="4216400"/>
            <a:ext cx="3625850" cy="18796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41800" y="4330700"/>
            <a:ext cx="3397250" cy="114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51821"/>
                </a:solidFill>
                <a:latin typeface="Arial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41800" y="4483100"/>
            <a:ext cx="33972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5D6775"/>
                </a:solidFill>
                <a:latin typeface="Pretendard"/>
              </a:rPr>
              <a:t>UNESCO Generative AI Guidance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41800" y="4851400"/>
            <a:ext cx="3397250" cy="1181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5D6775"/>
                </a:solidFill>
                <a:latin typeface="Pretendard"/>
              </a:rPr>
              <a:t>Principles of human-centered use in education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7650" y="4216400"/>
            <a:ext cx="3625850" cy="1879600"/>
          </a:xfrm>
          <a:prstGeom prst="roundRect">
            <a:avLst>
              <a:gd name="adj" fmla="val 9000"/>
            </a:avLst>
          </a:prstGeom>
          <a:solidFill>
            <a:srgbClr val="D4F1F7"/>
          </a:solidFill>
          <a:ln w="1270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81950" y="4330700"/>
            <a:ext cx="3397250" cy="114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06B86"/>
                </a:solidFill>
                <a:latin typeface="Arial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1950" y="4483100"/>
            <a:ext cx="33972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151821"/>
                </a:solidFill>
                <a:latin typeface="Pretendard"/>
              </a:rPr>
              <a:t>AI Tutor Practicum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81950" y="4851400"/>
            <a:ext cx="3397250" cy="1181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51821"/>
                </a:solidFill>
                <a:latin typeface="Pretendard"/>
              </a:rPr>
              <a:t>Improving a task via a prompt-and-verification loop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381000"/>
            <a:ext cx="381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D6775"/>
                </a:solidFill>
                <a:latin typeface="Pretendard"/>
              </a:rPr>
              <a:t>HYCU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8700" y="381000"/>
            <a:ext cx="73025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AI Literacy / Ch.03 Working with Generative AI / 25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0" y="374650"/>
            <a:ext cx="1524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1000" y="355600"/>
            <a:ext cx="9525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25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838200"/>
            <a:ext cx="10795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151821"/>
                </a:solidFill>
                <a:latin typeface="Pretendard"/>
              </a:rPr>
              <a:t>References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" y="1333500"/>
            <a:ext cx="10795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D6775"/>
                </a:solidFill>
                <a:latin typeface="Pretendard"/>
              </a:rPr>
              <a:t>Principles and responsible use of generative AI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98500" y="2019300"/>
            <a:ext cx="10795000" cy="0"/>
          </a:xfrm>
          <a:prstGeom prst="line">
            <a:avLst/>
          </a:prstGeom>
          <a:ln w="13970">
            <a:solidFill>
              <a:srgbClr val="1518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98500" y="6375400"/>
            <a:ext cx="10795000" cy="0"/>
          </a:xfrm>
          <a:prstGeom prst="line">
            <a:avLst/>
          </a:prstGeom>
          <a:ln w="952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98500" y="6464300"/>
            <a:ext cx="825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AI Literacy  ·  References · Key sources on the principles and responsible use of generative AI.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0" y="6464300"/>
            <a:ext cx="1968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5D6775"/>
                </a:solidFill>
                <a:latin typeface="Pretendard"/>
              </a:rPr>
              <a:t>HYCU AI STUDIO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8500" y="2311400"/>
            <a:ext cx="381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6B86"/>
                </a:solidFill>
                <a:latin typeface="Arial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311400"/>
            <a:ext cx="10350500" cy="7778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51821"/>
                </a:solidFill>
                <a:latin typeface="Arial"/>
              </a:rPr>
              <a:t>Vaswani, A. et al. (2017). Attention Is All You Need. NeurIPS.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98500" y="3165475.0"/>
            <a:ext cx="10795000" cy="0.0"/>
          </a:xfrm>
          <a:prstGeom prst="line">
            <a:avLst/>
          </a:prstGeom>
          <a:ln w="952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98500" y="3279775"/>
            <a:ext cx="381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6B86"/>
                </a:solidFill>
                <a:latin typeface="Arial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279775"/>
            <a:ext cx="10350500" cy="7778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51821"/>
                </a:solidFill>
                <a:latin typeface="Arial"/>
              </a:rPr>
              <a:t>Bommasani, R. et al. (2021). On the Opportunities and Risks of Foundation Models.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98500" y="4133850.0"/>
            <a:ext cx="10795000" cy="0.0"/>
          </a:xfrm>
          <a:prstGeom prst="line">
            <a:avLst/>
          </a:prstGeom>
          <a:ln w="952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98500" y="4248150"/>
            <a:ext cx="381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6B86"/>
                </a:solidFill>
                <a:latin typeface="Arial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248150"/>
            <a:ext cx="10350500" cy="7778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51821"/>
                </a:solidFill>
                <a:latin typeface="Arial"/>
              </a:rPr>
              <a:t>NIST. (2023). Artificial Intelligence Risk Management Framework 1.0.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98500" y="5102225.0"/>
            <a:ext cx="10795000" cy="0.0"/>
          </a:xfrm>
          <a:prstGeom prst="line">
            <a:avLst/>
          </a:prstGeom>
          <a:ln w="952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98500" y="5216525"/>
            <a:ext cx="381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6B86"/>
                </a:solidFill>
                <a:latin typeface="Arial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5216525"/>
            <a:ext cx="10350500" cy="7778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51821"/>
                </a:solidFill>
                <a:latin typeface="Arial"/>
              </a:rPr>
              <a:t>UNESCO. (2023). Guidance for Generative AI in Education and Research.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381000"/>
            <a:ext cx="381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D6775"/>
                </a:solidFill>
                <a:latin typeface="Pretendard"/>
              </a:rPr>
              <a:t>HYCU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8700" y="381000"/>
            <a:ext cx="73025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AI Literacy / Ch.03 Working with Generative AI / 26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0" y="374650"/>
            <a:ext cx="1524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1000" y="355600"/>
            <a:ext cx="9525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26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838200"/>
            <a:ext cx="10795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151821"/>
                </a:solidFill>
                <a:latin typeface="Pretendard"/>
              </a:rPr>
              <a:t>Next Time: AI Agents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" y="1333500"/>
            <a:ext cx="10795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D6775"/>
                </a:solidFill>
                <a:latin typeface="Pretendard"/>
              </a:rPr>
              <a:t>AI that connects tools to perform multiple steps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98500" y="2019300"/>
            <a:ext cx="10795000" cy="0"/>
          </a:xfrm>
          <a:prstGeom prst="line">
            <a:avLst/>
          </a:prstGeom>
          <a:ln w="13970">
            <a:solidFill>
              <a:srgbClr val="1518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98500" y="6375400"/>
            <a:ext cx="10795000" cy="0"/>
          </a:xfrm>
          <a:prstGeom prst="line">
            <a:avLst/>
          </a:prstGeom>
          <a:ln w="952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98500" y="6464300"/>
            <a:ext cx="825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AI Literacy  ·  Next session · Widening scope from generative output to agentic action.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0" y="6464300"/>
            <a:ext cx="1968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5D6775"/>
                </a:solidFill>
                <a:latin typeface="Pretendard"/>
              </a:rPr>
              <a:t>HYCU AI STUDIO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8500" y="2286000"/>
            <a:ext cx="2984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06B86"/>
                </a:solidFill>
                <a:latin typeface="Arial"/>
              </a:rPr>
              <a:t>NEXT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500" y="2540000"/>
            <a:ext cx="2984500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 i="0">
                <a:solidFill>
                  <a:srgbClr val="151821"/>
                </a:solidFill>
                <a:latin typeface="Pretendard"/>
              </a:rPr>
              <a:t>From one generation</a:t>
            </a:r>
          </a:p>
          <a:p>
            <a:pPr algn="l">
              <a:lnSpc>
                <a:spcPct val="125000"/>
              </a:lnSpc>
            </a:pPr>
            <a:r>
              <a:rPr sz="2100" b="1" i="0">
                <a:solidFill>
                  <a:srgbClr val="151821"/>
                </a:solidFill>
                <a:latin typeface="Pretendard"/>
              </a:rPr>
              <a:t>to multi-step execution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8500" y="3746500"/>
            <a:ext cx="2984500" cy="12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 i="0">
                <a:solidFill>
                  <a:srgbClr val="5D6775"/>
                </a:solidFill>
                <a:latin typeface="Pretendard"/>
              </a:rPr>
              <a:t>Next session covers AI agents that use tools and carry work forward.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27500" y="2222500"/>
            <a:ext cx="7366000" cy="1214966"/>
          </a:xfrm>
          <a:prstGeom prst="roundRect">
            <a:avLst>
              <a:gd name="adj" fmla="val 9000"/>
            </a:avLst>
          </a:prstGeom>
          <a:solidFill>
            <a:srgbClr val="D4F1F7"/>
          </a:solidFill>
          <a:ln w="1270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41800" y="2336800"/>
            <a:ext cx="7137400" cy="114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06B86"/>
                </a:solidFill>
                <a:latin typeface="Arial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41800" y="2489200"/>
            <a:ext cx="71374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151821"/>
                </a:solidFill>
                <a:latin typeface="Pretendard"/>
              </a:rPr>
              <a:t>Next Topic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41800" y="2857500"/>
            <a:ext cx="7137400" cy="5164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51821"/>
                </a:solidFill>
                <a:latin typeface="Pretendard"/>
              </a:rPr>
              <a:t>AI agents and workflow automation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27500" y="3551766"/>
            <a:ext cx="7366000" cy="1214966"/>
          </a:xfrm>
          <a:prstGeom prst="roundRect">
            <a:avLst>
              <a:gd name="adj" fmla="val 9000"/>
            </a:avLst>
          </a:prstGeom>
          <a:solidFill>
            <a:srgbClr val="E0E6FF"/>
          </a:solidFill>
          <a:ln w="1270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41800" y="3666066"/>
            <a:ext cx="7137400" cy="114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D3FBF"/>
                </a:solidFill>
                <a:latin typeface="Arial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41800" y="3818466"/>
            <a:ext cx="71374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151821"/>
                </a:solidFill>
                <a:latin typeface="Pretendard"/>
              </a:rPr>
              <a:t>The Connection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41800" y="4186766"/>
            <a:ext cx="7137400" cy="5164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51821"/>
                </a:solidFill>
                <a:latin typeface="Pretendard"/>
              </a:rPr>
              <a:t>From a single prompt to a multi-step execution flow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27500" y="4881033"/>
            <a:ext cx="7366000" cy="121496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41800" y="4995333"/>
            <a:ext cx="7137400" cy="114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51821"/>
                </a:solidFill>
                <a:latin typeface="Arial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41800" y="5147733"/>
            <a:ext cx="71374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5D6775"/>
                </a:solidFill>
                <a:latin typeface="Pretendard"/>
              </a:rPr>
              <a:t>Preview Question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41800" y="5516033"/>
            <a:ext cx="7137400" cy="5164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5D6775"/>
                </a:solidFill>
                <a:latin typeface="Pretendard"/>
              </a:rPr>
              <a:t>What stop conditions are needed when giving AI tool-use permission?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381000"/>
            <a:ext cx="381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D6775"/>
                </a:solidFill>
                <a:latin typeface="Pretendard"/>
              </a:rPr>
              <a:t>HYCU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8700" y="381000"/>
            <a:ext cx="73025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AI Literacy / Ch.03 Working with Generative AI / 27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0" y="374650"/>
            <a:ext cx="1524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1000" y="355600"/>
            <a:ext cx="9525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27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838200"/>
            <a:ext cx="10795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151821"/>
                </a:solidFill>
                <a:latin typeface="Pretendard"/>
              </a:rPr>
              <a:t>Assignment: Build Your Own AI Collaboration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" y="1663700"/>
            <a:ext cx="10795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D6775"/>
                </a:solidFill>
                <a:latin typeface="Pretendard"/>
              </a:rPr>
              <a:t>Write it based on one real task of yours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98500" y="2019300"/>
            <a:ext cx="10795000" cy="0"/>
          </a:xfrm>
          <a:prstGeom prst="line">
            <a:avLst/>
          </a:prstGeom>
          <a:ln w="13970">
            <a:solidFill>
              <a:srgbClr val="1518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98500" y="6375400"/>
            <a:ext cx="10795000" cy="0"/>
          </a:xfrm>
          <a:prstGeom prst="line">
            <a:avLst/>
          </a:prstGeom>
          <a:ln w="952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98500" y="6464300"/>
            <a:ext cx="825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AI Literacy  ·  Assignment guide · Evaluated on the collaboration process and verification evidence, not just the deliverable.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0" y="6464300"/>
            <a:ext cx="1968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5D6775"/>
                </a:solidFill>
                <a:latin typeface="Pretendard"/>
              </a:rPr>
              <a:t>HYCU AI STUDIO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8500" y="2286000"/>
            <a:ext cx="2984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06B86"/>
                </a:solidFill>
                <a:latin typeface="Arial"/>
              </a:rPr>
              <a:t>SUBMIT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500" y="2540000"/>
            <a:ext cx="2984500" cy="12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151821"/>
                </a:solidFill>
                <a:latin typeface="Pretendard"/>
              </a:rPr>
              <a:t>Before you submit,</a:t>
            </a:r>
          </a:p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151821"/>
                </a:solidFill>
                <a:latin typeface="Pretendard"/>
              </a:rPr>
              <a:t>check these four things.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27500" y="2222500"/>
            <a:ext cx="7366000" cy="8921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2600" y="2222500"/>
            <a:ext cx="444500" cy="8921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6B86"/>
                </a:solidFill>
                <a:latin typeface="Arial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2500" y="2222500"/>
            <a:ext cx="6540500" cy="8921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151821"/>
                </a:solidFill>
                <a:latin typeface="Pretendard"/>
              </a:rPr>
              <a:t>Define one real task and its expected outcome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27500" y="3216275"/>
            <a:ext cx="7366000" cy="8921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2600" y="3216275"/>
            <a:ext cx="444500" cy="8921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6B86"/>
                </a:solidFill>
                <a:latin typeface="Arial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62500" y="3216275"/>
            <a:ext cx="6540500" cy="8921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151821"/>
                </a:solidFill>
                <a:latin typeface="Pretendard"/>
              </a:rPr>
              <a:t>Separate steps for AI vs. steps for people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27500" y="4210050"/>
            <a:ext cx="7366000" cy="8921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2600" y="4210050"/>
            <a:ext cx="444500" cy="8921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6B86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62500" y="4210050"/>
            <a:ext cx="6540500" cy="8921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151821"/>
                </a:solidFill>
                <a:latin typeface="Pretendard"/>
              </a:rPr>
              <a:t>Attach the prompts used and evidence for verification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27500" y="5203825"/>
            <a:ext cx="7366000" cy="8921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92600" y="5203825"/>
            <a:ext cx="444500" cy="8921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6B86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62500" y="5203825"/>
            <a:ext cx="6540500" cy="8921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151821"/>
                </a:solidFill>
                <a:latin typeface="Pretendard"/>
              </a:rPr>
              <a:t>Include standards for privacy, copyright, and error handling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381000"/>
            <a:ext cx="571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HYCU / AI Literacy / COMPLETE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00" y="330200"/>
            <a:ext cx="1968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i="0">
                <a:solidFill>
                  <a:srgbClr val="006B86"/>
                </a:solidFill>
                <a:latin typeface="Arial"/>
              </a:rPr>
              <a:t>28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87400"/>
            <a:ext cx="5207000" cy="3556000"/>
          </a:xfrm>
          <a:prstGeom prst="rect">
            <a:avLst/>
          </a:prstGeom>
          <a:solidFill>
            <a:srgbClr val="EAE6DC"/>
          </a:solidFill>
          <a:ln w="12700">
            <a:solidFill>
              <a:srgbClr val="1518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43660" y="1460500"/>
            <a:ext cx="1143000" cy="1143000"/>
          </a:xfrm>
          <a:prstGeom prst="ellipse">
            <a:avLst/>
          </a:prstGeom>
          <a:solidFill>
            <a:srgbClr val="1518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657600" y="2476500"/>
            <a:ext cx="889000" cy="889000"/>
          </a:xfrm>
          <a:prstGeom prst="ellipse">
            <a:avLst/>
          </a:prstGeom>
          <a:solidFill>
            <a:srgbClr val="00A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4038600"/>
            <a:ext cx="49022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006B86"/>
                </a:solidFill>
                <a:latin typeface="Arial"/>
              </a:rPr>
              <a:t>AI GENERATED VISUAL · SOURCE DECK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0" y="1714500"/>
            <a:ext cx="4572000" cy="139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 i="0">
                <a:solidFill>
                  <a:srgbClr val="151821"/>
                </a:solidFill>
                <a:latin typeface="Pretendard"/>
              </a:rPr>
              <a:t>AI Is a Partner That Extends Your Thinking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0" y="3048000"/>
            <a:ext cx="4572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b="0" i="0">
                <a:solidFill>
                  <a:srgbClr val="5D6775"/>
                </a:solidFill>
                <a:latin typeface="Pretendard"/>
              </a:rPr>
              <a:t>Generate with AI; judge and take responsibility as a person.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0000" y="3556000"/>
            <a:ext cx="571500" cy="57150"/>
          </a:xfrm>
          <a:prstGeom prst="rect">
            <a:avLst/>
          </a:prstGeom>
          <a:solidFill>
            <a:srgbClr val="00A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21500" y="3556000"/>
            <a:ext cx="571500" cy="57150"/>
          </a:xfrm>
          <a:prstGeom prst="rect">
            <a:avLst/>
          </a:prstGeom>
          <a:solidFill>
            <a:srgbClr val="31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0000" y="6223000"/>
            <a:ext cx="1158875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D6775"/>
                </a:solidFill>
                <a:latin typeface="Pretendard"/>
              </a:rPr>
              <a:t>Understand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875" y="6223000"/>
            <a:ext cx="1158875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D6775"/>
                </a:solidFill>
                <a:latin typeface="Pretendard"/>
              </a:rPr>
              <a:t>Design Requests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21750" y="6223000"/>
            <a:ext cx="1158875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D6775"/>
                </a:solidFill>
                <a:latin typeface="Pretendard"/>
              </a:rPr>
              <a:t>Verify Results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07625" y="6223000"/>
            <a:ext cx="1158875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06B86"/>
                </a:solidFill>
                <a:latin typeface="Pretendard"/>
              </a:rPr>
              <a:t>Use Responsibly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